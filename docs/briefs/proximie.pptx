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questions to test this:</a:t>
            </a:r>
          </a:p>
          <a:p>
            <a:r>
              <a:t>- For the 104-theatre evaluation, who owns the ground truth, and is it one shared annotated set across vendors or does each model bring its own?</a:t>
            </a:r>
          </a:p>
          <a:p>
            <a:r>
              <a:t>- How do you currently choose which hours of the 100+ TB get annotated, and who does the annotating: clinicians, an internal team, or an outsourced workforce?</a:t>
            </a:r>
          </a:p>
          <a:p>
            <a:r>
              <a:t>- What does the phase and instrument ontology look like today, and does it change between procedure types and trusts?</a:t>
            </a:r>
          </a:p>
          <a:p>
            <a:r>
              <a:t>- Where does de-identification happen, edge or cloud, and would a tool that reads from your S3 without copying frames shorten the information governance conversation?</a:t>
            </a:r>
          </a:p>
          <a:p>
            <a:r>
              <a:t>- When a model underperforms at a particular trust, how do you work out today whether it is the data, the labels, or the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Confidence: medium</a:t>
            </a:r>
          </a:p>
          <a:p>
            <a:r>
              <a:t>Risks:</a:t>
            </a:r>
          </a:p>
          <a:p>
            <a:r>
              <a:t>- No ML or CV job ads found and $11m ARR suggests a small AI team, so they may be relying on Deloitte or AWS services (SageMaker Ground Truth, A2I) for the labelling and evaluation layer, with tooling bundled into the programme.</a:t>
            </a:r>
          </a:p>
          <a:p>
            <a:r>
              <a:t>- NHS information governance and clinical safety review can add months even with SOC2 Type II and HIPAA, especially where any vendor touches identifiable theatre video.</a:t>
            </a:r>
          </a:p>
          <a:p>
            <a:r>
              <a:t>- They market their own computer vision capability, so there is a build-not-buy instinct and possibly an existing internal annotation tool tied to their video player.</a:t>
            </a:r>
          </a:p>
          <a:p>
            <a:r>
              <a:t>- No named contact and no identified AI lead; the decision may sit inside the AWS/Deloitte programme governance rather than with Proximie engineering.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206240" y="0"/>
            <a:ext cx="109728" cy="68580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3200400" cy="365760"/>
          </a:xfrm>
          <a:prstGeom prst="rect">
            <a:avLst/>
          </a:prstGeom>
          <a:noFill/>
        </p:spPr>
        <p:txBody>
          <a:bodyPr wrap="square" anchor="t" lIns="0" rIns="0" tIns="0" bIns="0">
            <a:spAutoFit/>
          </a:bodyPr>
          <a:lstStyle/>
          <a:p>
            <a:pPr algn="l">
              <a:spcAft>
                <a:spcPts val="400"/>
              </a:spcAft>
            </a:pPr>
            <a:r>
              <a:rPr sz="1200" b="1">
                <a:solidFill>
                  <a:srgbClr val="FFFFFF"/>
                </a:solidFill>
                <a:latin typeface="Calibri"/>
              </a:rPr>
              <a:t>ENCORD</a:t>
            </a:r>
          </a:p>
        </p:txBody>
      </p:sp>
      <p:sp>
        <p:nvSpPr>
          <p:cNvPr id="5" name="TextBox 4"/>
          <p:cNvSpPr txBox="1"/>
          <p:nvPr/>
        </p:nvSpPr>
        <p:spPr>
          <a:xfrm>
            <a:off x="548640" y="5577840"/>
            <a:ext cx="3200400" cy="914400"/>
          </a:xfrm>
          <a:prstGeom prst="rect">
            <a:avLst/>
          </a:prstGeom>
          <a:noFill/>
        </p:spPr>
        <p:txBody>
          <a:bodyPr wrap="square" anchor="t" lIns="0" rIns="0" tIns="0" bIns="0">
            <a:spAutoFit/>
          </a:bodyPr>
          <a:lstStyle/>
          <a:p>
            <a:pPr algn="l">
              <a:spcAft>
                <a:spcPts val="400"/>
              </a:spcAft>
            </a:pPr>
            <a:r>
              <a:rPr sz="1000" b="0">
                <a:solidFill>
                  <a:srgbClr val="B9BCDC"/>
                </a:solidFill>
                <a:latin typeface="Calibri"/>
              </a:rPr>
              <a:t>Prepared 2026-09-22</a:t>
            </a:r>
          </a:p>
          <a:p>
            <a:pPr algn="l">
              <a:spcAft>
                <a:spcPts val="400"/>
              </a:spcAft>
            </a:pPr>
            <a:r>
              <a:rPr sz="1000" b="0">
                <a:solidFill>
                  <a:srgbClr val="B9BCDC"/>
                </a:solidFill>
                <a:latin typeface="Calibri"/>
              </a:rPr>
              <a:t>Qais Al-Azkawi</a:t>
            </a:r>
          </a:p>
          <a:p>
            <a:pPr algn="l">
              <a:spcAft>
                <a:spcPts val="400"/>
              </a:spcAft>
            </a:pPr>
            <a:r>
              <a:rPr sz="1000" b="0">
                <a:solidFill>
                  <a:srgbClr val="B9BCDC"/>
                </a:solidFill>
                <a:latin typeface="Calibri"/>
              </a:rPr>
              <a:t>DRAFT for review</a:t>
            </a:r>
          </a:p>
        </p:txBody>
      </p:sp>
      <p:sp>
        <p:nvSpPr>
          <p:cNvPr id="6" name="TextBox 5"/>
          <p:cNvSpPr txBox="1"/>
          <p:nvPr/>
        </p:nvSpPr>
        <p:spPr>
          <a:xfrm>
            <a:off x="4846320" y="1828800"/>
            <a:ext cx="6766560" cy="1280160"/>
          </a:xfrm>
          <a:prstGeom prst="rect">
            <a:avLst/>
          </a:prstGeom>
          <a:noFill/>
        </p:spPr>
        <p:txBody>
          <a:bodyPr wrap="square" anchor="t" lIns="0" rIns="0" tIns="0" bIns="0">
            <a:spAutoFit/>
          </a:bodyPr>
          <a:lstStyle/>
          <a:p>
            <a:pPr algn="l">
              <a:spcAft>
                <a:spcPts val="400"/>
              </a:spcAft>
            </a:pPr>
            <a:r>
              <a:rPr sz="4000" b="1">
                <a:solidFill>
                  <a:srgbClr val="171A33"/>
                </a:solidFill>
                <a:latin typeface="Calibri"/>
              </a:rPr>
              <a:t>Encord x Proximie</a:t>
            </a:r>
          </a:p>
        </p:txBody>
      </p:sp>
      <p:sp>
        <p:nvSpPr>
          <p:cNvPr id="7" name="TextBox 6"/>
          <p:cNvSpPr txBox="1"/>
          <p:nvPr/>
        </p:nvSpPr>
        <p:spPr>
          <a:xfrm>
            <a:off x="4846320" y="3108960"/>
            <a:ext cx="6766560" cy="2011680"/>
          </a:xfrm>
          <a:prstGeom prst="rect">
            <a:avLst/>
          </a:prstGeom>
          <a:noFill/>
        </p:spPr>
        <p:txBody>
          <a:bodyPr wrap="square" anchor="t" lIns="0" rIns="0" tIns="0" bIns="0">
            <a:spAutoFit/>
          </a:bodyPr>
          <a:lstStyle/>
          <a:p>
            <a:pPr algn="l">
              <a:spcAft>
                <a:spcPts val="400"/>
              </a:spcAft>
            </a:pPr>
            <a:r>
              <a:rPr sz="1800" b="0">
                <a:solidFill>
                  <a:srgbClr val="5D6180"/>
                </a:solidFill>
                <a:latin typeface="Calibri"/>
              </a:rPr>
              <a:t>Proximie has just committed to the largest NHS surgical AI evaluation across 104 theatres, and an evaluation programme lives or dies on curated clips, trustworthy ground truth and a defensible way to score models, which is exactly the gap Encord fills without moving a single frame of patient video.</a:t>
            </a:r>
          </a:p>
        </p:txBody>
      </p:sp>
      <p:sp>
        <p:nvSpPr>
          <p:cNvPr id="8" name="TextBox 7"/>
          <p:cNvSpPr txBox="1"/>
          <p:nvPr/>
        </p:nvSpPr>
        <p:spPr>
          <a:xfrm>
            <a:off x="4846320" y="5760720"/>
            <a:ext cx="6766560" cy="45720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A first-meeting point of view. Everything here is our reading of public information; the questions are where we want to be corrected.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WHAT WE UNDERSTAND</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Proximie builds, and how we think the data flows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2</a:t>
            </a:r>
          </a:p>
        </p:txBody>
      </p:sp>
      <p:sp>
        <p:nvSpPr>
          <p:cNvPr id="7" name="TextBox 6"/>
          <p:cNvSpPr txBox="1"/>
          <p:nvPr/>
        </p:nvSpPr>
        <p:spPr>
          <a:xfrm>
            <a:off x="640080" y="1737360"/>
            <a:ext cx="5120640" cy="4114800"/>
          </a:xfrm>
          <a:prstGeom prst="rect">
            <a:avLst/>
          </a:prstGeom>
          <a:noFill/>
        </p:spPr>
        <p:txBody>
          <a:bodyPr wrap="square" anchor="t" lIns="0" rIns="0" tIns="0" bIns="0">
            <a:spAutoFit/>
          </a:bodyPr>
          <a:lstStyle/>
          <a:p>
            <a:pPr algn="l">
              <a:spcAft>
                <a:spcPts val="800"/>
              </a:spcAft>
            </a:pPr>
            <a:r>
              <a:rPr sz="1400" b="0">
                <a:solidFill>
                  <a:srgbClr val="171A33"/>
                </a:solidFill>
                <a:latin typeface="Calibri"/>
              </a:rPr>
              <a:t>Proximie is a cloud platform for connected operating rooms: hardware in theatre streams and records procedures, the Surgical Suite builds a video library for training and quality, and the Intelligence Suite applies computer vision to theatre workflow, throughput and utilisation. Buyers are NHS trusts and hospital groups plus 40+ medical device companies who want adoption, training and OR efficiency data. Roughly $11m ARR reported for 2025.</a:t>
            </a:r>
          </a:p>
        </p:txBody>
      </p:sp>
      <p:sp>
        <p:nvSpPr>
          <p:cNvPr id="8" name="TextBox 7"/>
          <p:cNvSpPr txBox="1"/>
          <p:nvPr/>
        </p:nvSpPr>
        <p:spPr>
          <a:xfrm>
            <a:off x="6217920" y="1737360"/>
            <a:ext cx="530352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INFERRED PIPELINE (guesses marked)</a:t>
            </a:r>
          </a:p>
        </p:txBody>
      </p:sp>
      <p:sp>
        <p:nvSpPr>
          <p:cNvPr id="9" name="Oval 8"/>
          <p:cNvSpPr/>
          <p:nvPr/>
        </p:nvSpPr>
        <p:spPr>
          <a:xfrm>
            <a:off x="6217920" y="2103120"/>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2103120"/>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1" name="TextBox 10"/>
          <p:cNvSpPr txBox="1"/>
          <p:nvPr/>
        </p:nvSpPr>
        <p:spPr>
          <a:xfrm>
            <a:off x="6766560" y="208483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Theatre hardware captures laparoscopic, endoscopic and room-camera feeds, with on-device computer vision doing privacy protection (their words: built-in computer vision to protect privacy) before upload. Guess: faces and out-of-body frames are blurred or dropped at the edge.</a:t>
            </a:r>
          </a:p>
        </p:txBody>
      </p:sp>
      <p:sp>
        <p:nvSpPr>
          <p:cNvPr id="12" name="Oval 11"/>
          <p:cNvSpPr/>
          <p:nvPr/>
        </p:nvSpPr>
        <p:spPr>
          <a:xfrm>
            <a:off x="6217920" y="2761487"/>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2761487"/>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766560" y="2743199"/>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Video lands in cloud object storage, almost certainly AWS S3 given the AWS partnership, alongside procedure metadata from the Proximie platform. 100+ TB stated on site.</a:t>
            </a:r>
          </a:p>
        </p:txBody>
      </p:sp>
      <p:sp>
        <p:nvSpPr>
          <p:cNvPr id="15" name="Oval 14"/>
          <p:cNvSpPr/>
          <p:nvPr/>
        </p:nvSpPr>
        <p:spPr>
          <a:xfrm>
            <a:off x="6217920" y="3419855"/>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3419855"/>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7" name="TextBox 16"/>
          <p:cNvSpPr txBox="1"/>
          <p:nvPr/>
        </p:nvSpPr>
        <p:spPr>
          <a:xfrm>
            <a:off x="6766560" y="3401567"/>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Clip selection for AI work is likely manual or rule-based today (by procedure type, site, surgeon). Guess: no embedding-level search or duplicate/quality filtering across the corpus.</a:t>
            </a:r>
          </a:p>
        </p:txBody>
      </p:sp>
      <p:sp>
        <p:nvSpPr>
          <p:cNvPr id="18" name="Oval 17"/>
          <p:cNvSpPr/>
          <p:nvPr/>
        </p:nvSpPr>
        <p:spPr>
          <a:xfrm>
            <a:off x="6217920" y="4078223"/>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4078223"/>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0" name="TextBox 19"/>
          <p:cNvSpPr txBox="1"/>
          <p:nvPr/>
        </p:nvSpPr>
        <p:spPr>
          <a:xfrm>
            <a:off x="6766560" y="4059935"/>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Ground truth for surgical phase, instrument presence and workflow events is produced by clinical reviewers or an outsourced team, probably in a bespoke internal tool or a general video annotation tool. Flagged as a guess, no ML job ads found.</a:t>
            </a:r>
          </a:p>
        </p:txBody>
      </p:sp>
      <p:sp>
        <p:nvSpPr>
          <p:cNvPr id="21" name="Oval 20"/>
          <p:cNvSpPr/>
          <p:nvPr/>
        </p:nvSpPr>
        <p:spPr>
          <a:xfrm>
            <a:off x="6217920" y="4736591"/>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0" y="4736591"/>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3" name="TextBox 22"/>
          <p:cNvSpPr txBox="1"/>
          <p:nvPr/>
        </p:nvSpPr>
        <p:spPr>
          <a:xfrm>
            <a:off x="6766560" y="4718303"/>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Models (in-house plus third-party vendors in the NHS evaluation) are trained or fine-tuned, then scored with scripts and notebooks against held-out clips.</a:t>
            </a:r>
          </a:p>
        </p:txBody>
      </p:sp>
      <p:sp>
        <p:nvSpPr>
          <p:cNvPr id="24" name="Oval 23"/>
          <p:cNvSpPr/>
          <p:nvPr/>
        </p:nvSpPr>
        <p:spPr>
          <a:xfrm>
            <a:off x="6217920" y="5394959"/>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5394959"/>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26" name="TextBox 25"/>
          <p:cNvSpPr txBox="1"/>
          <p:nvPr/>
        </p:nvSpPr>
        <p:spPr>
          <a:xfrm>
            <a:off x="6766560" y="537667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Results feed the Intelligence Suite dashboards on utilisation, turnover and throughput reported back to trusts.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WE THINK IT HURTS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Three hypotheses, ranked by how sure we are</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3</a:t>
            </a:r>
          </a:p>
        </p:txBody>
      </p:sp>
      <p:sp>
        <p:nvSpPr>
          <p:cNvPr id="7" name="Rectangle 6"/>
          <p:cNvSpPr/>
          <p:nvPr/>
        </p:nvSpPr>
        <p:spPr>
          <a:xfrm>
            <a:off x="64008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1</a:t>
            </a:r>
          </a:p>
        </p:txBody>
      </p:sp>
      <p:sp>
        <p:nvSpPr>
          <p:cNvPr id="10" name="TextBox 9"/>
          <p:cNvSpPr txBox="1"/>
          <p:nvPr/>
        </p:nvSpPr>
        <p:spPr>
          <a:xfrm>
            <a:off x="86868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The NHS evaluation needs a consistent, auditable ground truth and a single scoring harness across multiple AI vendors and 104 theatres, otherwise results are not comparable or defensible to trusts.</a:t>
            </a:r>
          </a:p>
        </p:txBody>
      </p:sp>
      <p:sp>
        <p:nvSpPr>
          <p:cNvPr id="11" name="TextBox 10"/>
          <p:cNvSpPr txBox="1"/>
          <p:nvPr/>
        </p:nvSpPr>
        <p:spPr>
          <a:xfrm>
            <a:off x="86868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12" name="TextBox 11"/>
          <p:cNvSpPr txBox="1"/>
          <p:nvPr/>
        </p:nvSpPr>
        <p:spPr>
          <a:xfrm>
            <a:off x="86868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Sept 2026 launches with AWS, Deloitte and NHS described as the largest ever surgical AI evaluation across 104 operating theatres.</a:t>
            </a:r>
          </a:p>
        </p:txBody>
      </p:sp>
      <p:sp>
        <p:nvSpPr>
          <p:cNvPr id="13" name="TextBox 12"/>
          <p:cNvSpPr txBox="1"/>
          <p:nvPr/>
        </p:nvSpPr>
        <p:spPr>
          <a:xfrm>
            <a:off x="86868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14" name="TextBox 13"/>
          <p:cNvSpPr txBox="1"/>
          <p:nvPr/>
        </p:nvSpPr>
        <p:spPr>
          <a:xfrm>
            <a:off x="86868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Active: import each vendor's predictions, get mAP/mAR/F1, PR curves and confusion matrices on one ground truth, slice by hospital, procedure, camera or any data metric. Annotate gives the audited ground truth with sampled clinical review built into the workflow.</a:t>
            </a:r>
          </a:p>
        </p:txBody>
      </p:sp>
      <p:sp>
        <p:nvSpPr>
          <p:cNvPr id="15" name="Rectangle 14"/>
          <p:cNvSpPr/>
          <p:nvPr/>
        </p:nvSpPr>
        <p:spPr>
          <a:xfrm>
            <a:off x="438912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2</a:t>
            </a:r>
          </a:p>
        </p:txBody>
      </p:sp>
      <p:sp>
        <p:nvSpPr>
          <p:cNvPr id="18" name="TextBox 17"/>
          <p:cNvSpPr txBox="1"/>
          <p:nvPr/>
        </p:nvSpPr>
        <p:spPr>
          <a:xfrm>
            <a:off x="461772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100+ TB of surgical video is mostly redundant. Labelling clinician time is the scarce resource, so picking which minutes to annotate matters more than annotation speed.</a:t>
            </a:r>
          </a:p>
        </p:txBody>
      </p:sp>
      <p:sp>
        <p:nvSpPr>
          <p:cNvPr id="19" name="TextBox 18"/>
          <p:cNvSpPr txBox="1"/>
          <p:nvPr/>
        </p:nvSpPr>
        <p:spPr>
          <a:xfrm>
            <a:off x="461772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0" name="TextBox 19"/>
          <p:cNvSpPr txBox="1"/>
          <p:nvPr/>
        </p:nvSpPr>
        <p:spPr>
          <a:xfrm>
            <a:off x="461772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Site states 100+ terabytes of video, 500+ facilities, 80k recorded views; no ML job ads found, suggesting a small internal team.</a:t>
            </a:r>
          </a:p>
        </p:txBody>
      </p:sp>
      <p:sp>
        <p:nvSpPr>
          <p:cNvPr id="21" name="TextBox 20"/>
          <p:cNvSpPr txBox="1"/>
          <p:nvPr/>
        </p:nvSpPr>
        <p:spPr>
          <a:xfrm>
            <a:off x="461772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22" name="TextBox 21"/>
          <p:cNvSpPr txBox="1"/>
          <p:nvPr/>
        </p:nvSpPr>
        <p:spPr>
          <a:xfrm>
            <a:off x="461772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Index registers the video from their own S3, generates embeddings and per-frame quality metrics, then similarity search and Collections isolate the rare phases and edge cases. Our warehouse benchmark cut frames to label by 61% and still beat a random pick of equal size.</a:t>
            </a:r>
          </a:p>
        </p:txBody>
      </p:sp>
      <p:sp>
        <p:nvSpPr>
          <p:cNvPr id="23" name="Rectangle 22"/>
          <p:cNvSpPr/>
          <p:nvPr/>
        </p:nvSpPr>
        <p:spPr>
          <a:xfrm>
            <a:off x="8138159"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8159"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59"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3</a:t>
            </a:r>
          </a:p>
        </p:txBody>
      </p:sp>
      <p:sp>
        <p:nvSpPr>
          <p:cNvPr id="26" name="TextBox 25"/>
          <p:cNvSpPr txBox="1"/>
          <p:nvPr/>
        </p:nvSpPr>
        <p:spPr>
          <a:xfrm>
            <a:off x="8366759"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Patient video cannot leave their environment, and NHS information governance review will stall any tool that copies frames into a vendor cloud.</a:t>
            </a:r>
          </a:p>
        </p:txBody>
      </p:sp>
      <p:sp>
        <p:nvSpPr>
          <p:cNvPr id="27" name="TextBox 26"/>
          <p:cNvSpPr txBox="1"/>
          <p:nvPr/>
        </p:nvSpPr>
        <p:spPr>
          <a:xfrm>
            <a:off x="8366759"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8" name="TextBox 27"/>
          <p:cNvSpPr txBox="1"/>
          <p:nvPr/>
        </p:nvSpPr>
        <p:spPr>
          <a:xfrm>
            <a:off x="8366759"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NHS deployment across 104 theatres; hardware page emphasises low-bandwidth and computer vision to protect privacy.</a:t>
            </a:r>
          </a:p>
        </p:txBody>
      </p:sp>
      <p:sp>
        <p:nvSpPr>
          <p:cNvPr id="29" name="TextBox 28"/>
          <p:cNvSpPr txBox="1"/>
          <p:nvPr/>
        </p:nvSpPr>
        <p:spPr>
          <a:xfrm>
            <a:off x="8366759"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30" name="TextBox 29"/>
          <p:cNvSpPr txBox="1"/>
          <p:nvPr/>
        </p:nvSpPr>
        <p:spPr>
          <a:xfrm>
            <a:off x="8366759"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Encord registers data from the customer's own S3 or Azure so frames never move; SOC2 Type II, HIPAA and GDPR. Agents can run their own de-identification or phase model as a workflow stage so QA happens on already redacted frames.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A STARTING ONTOLOGY</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 would label for Proximie, and how</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4</a:t>
            </a:r>
          </a:p>
        </p:txBody>
      </p:sp>
      <p:sp>
        <p:nvSpPr>
          <p:cNvPr id="7" name="TextBox 6"/>
          <p:cNvSpPr txBox="1"/>
          <p:nvPr/>
        </p:nvSpPr>
        <p:spPr>
          <a:xfrm>
            <a:off x="640080" y="1691640"/>
            <a:ext cx="10972800" cy="365760"/>
          </a:xfrm>
          <a:prstGeom prst="rect">
            <a:avLst/>
          </a:prstGeom>
          <a:noFill/>
        </p:spPr>
        <p:txBody>
          <a:bodyPr wrap="square" anchor="t" lIns="0" rIns="0" tIns="0" bIns="0">
            <a:spAutoFit/>
          </a:bodyPr>
          <a:lstStyle/>
          <a:p>
            <a:pPr algn="l">
              <a:spcAft>
                <a:spcPts val="400"/>
              </a:spcAft>
            </a:pPr>
            <a:r>
              <a:rPr sz="1200" b="0">
                <a:solidFill>
                  <a:srgbClr val="5D6180"/>
                </a:solidFill>
                <a:latin typeface="Calibri"/>
              </a:rPr>
              <a:t>A proposal to argue with. The shapes matter: they decide what the model can learn and what the labellers spend time on.</a:t>
            </a:r>
          </a:p>
        </p:txBody>
      </p:sp>
      <p:graphicFrame>
        <p:nvGraphicFramePr>
          <p:cNvPr id="8" name="Table 7"/>
          <p:cNvGraphicFramePr>
            <a:graphicFrameLocks noGrp="1"/>
          </p:cNvGraphicFramePr>
          <p:nvPr/>
        </p:nvGraphicFramePr>
        <p:xfrm>
          <a:off x="640080" y="2194560"/>
          <a:ext cx="10881360" cy="3291840"/>
        </p:xfrm>
        <a:graphic>
          <a:graphicData uri="http://schemas.openxmlformats.org/drawingml/2006/table">
            <a:tbl>
              <a:tblPr firstRow="1" bandRow="1">
                <a:tableStyleId>{5C22544A-7EE6-4342-B048-85BDC9FD1C3A}</a:tableStyleId>
              </a:tblPr>
              <a:tblGrid>
                <a:gridCol w="2926080"/>
                <a:gridCol w="1828800"/>
                <a:gridCol w="6126480"/>
              </a:tblGrid>
              <a:tr h="365760">
                <a:tc>
                  <a:txBody>
                    <a:bodyPr/>
                    <a:lstStyle/>
                    <a:p>
                      <a:r>
                        <a:rPr sz="1100" b="1">
                          <a:solidFill>
                            <a:srgbClr val="FFFFFF"/>
                          </a:solidFill>
                          <a:latin typeface="Calibri"/>
                        </a:rPr>
                        <a:t>Class</a:t>
                      </a:r>
                    </a:p>
                  </a:txBody>
                  <a:tcPr>
                    <a:solidFill>
                      <a:srgbClr val="4F46E5"/>
                    </a:solidFill>
                  </a:tcPr>
                </a:tc>
                <a:tc>
                  <a:txBody>
                    <a:bodyPr/>
                    <a:lstStyle/>
                    <a:p>
                      <a:r>
                        <a:rPr sz="1100" b="1">
                          <a:solidFill>
                            <a:srgbClr val="FFFFFF"/>
                          </a:solidFill>
                          <a:latin typeface="Calibri"/>
                        </a:rPr>
                        <a:t>Shape</a:t>
                      </a:r>
                    </a:p>
                  </a:txBody>
                  <a:tcPr>
                    <a:solidFill>
                      <a:srgbClr val="4F46E5"/>
                    </a:solidFill>
                  </a:tcPr>
                </a:tc>
                <a:tc>
                  <a:txBody>
                    <a:bodyPr/>
                    <a:lstStyle/>
                    <a:p>
                      <a:r>
                        <a:rPr sz="1100" b="1">
                          <a:solidFill>
                            <a:srgbClr val="FFFFFF"/>
                          </a:solidFill>
                          <a:latin typeface="Calibri"/>
                        </a:rPr>
                        <a:t>Why this shape</a:t>
                      </a:r>
                    </a:p>
                  </a:txBody>
                  <a:tcPr>
                    <a:solidFill>
                      <a:srgbClr val="4F46E5"/>
                    </a:solidFill>
                  </a:tcPr>
                </a:tc>
              </a:tr>
              <a:tr h="365760">
                <a:tc>
                  <a:txBody>
                    <a:bodyPr/>
                    <a:lstStyle/>
                    <a:p>
                      <a:r>
                        <a:rPr sz="1050" b="1">
                          <a:solidFill>
                            <a:srgbClr val="171A33"/>
                          </a:solidFill>
                          <a:latin typeface="Calibri"/>
                        </a:rPr>
                        <a:t>Surgical phase</a:t>
                      </a:r>
                    </a:p>
                  </a:txBody>
                  <a:tcPr>
                    <a:solidFill>
                      <a:srgbClr val="FFFFFF"/>
                    </a:solidFill>
                  </a:tcPr>
                </a:tc>
                <a:tc>
                  <a:txBody>
                    <a:bodyPr/>
                    <a:lstStyle/>
                    <a:p>
                      <a:r>
                        <a:rPr sz="1050" b="0">
                          <a:solidFill>
                            <a:srgbClr val="171A33"/>
                          </a:solidFill>
                          <a:latin typeface="Calibri"/>
                        </a:rPr>
                        <a:t>frame classification</a:t>
                      </a:r>
                    </a:p>
                  </a:txBody>
                  <a:tcPr>
                    <a:solidFill>
                      <a:srgbClr val="FFFFFF"/>
                    </a:solidFill>
                  </a:tcPr>
                </a:tc>
                <a:tc>
                  <a:txBody>
                    <a:bodyPr/>
                    <a:lstStyle/>
                    <a:p>
                      <a:r>
                        <a:rPr sz="1050" b="0">
                          <a:solidFill>
                            <a:srgbClr val="171A33"/>
                          </a:solidFill>
                          <a:latin typeface="Calibri"/>
                        </a:rPr>
                        <a:t>Core unit for workflow timing, turnover and throughput analytics</a:t>
                      </a:r>
                    </a:p>
                  </a:txBody>
                  <a:tcPr>
                    <a:solidFill>
                      <a:srgbClr val="FFFFFF"/>
                    </a:solidFill>
                  </a:tcPr>
                </a:tc>
              </a:tr>
              <a:tr h="365760">
                <a:tc>
                  <a:txBody>
                    <a:bodyPr/>
                    <a:lstStyle/>
                    <a:p>
                      <a:r>
                        <a:rPr sz="1050" b="1">
                          <a:solidFill>
                            <a:srgbClr val="171A33"/>
                          </a:solidFill>
                          <a:latin typeface="Calibri"/>
                        </a:rPr>
                        <a:t>Out-of-body / non-clinical frame</a:t>
                      </a:r>
                    </a:p>
                  </a:txBody>
                  <a:tcPr>
                    <a:solidFill>
                      <a:srgbClr val="EEEDFB"/>
                    </a:solidFill>
                  </a:tcPr>
                </a:tc>
                <a:tc>
                  <a:txBody>
                    <a:bodyPr/>
                    <a:lstStyle/>
                    <a:p>
                      <a:r>
                        <a:rPr sz="1050" b="0">
                          <a:solidFill>
                            <a:srgbClr val="171A33"/>
                          </a:solidFill>
                          <a:latin typeface="Calibri"/>
                        </a:rPr>
                        <a:t>frame classification</a:t>
                      </a:r>
                    </a:p>
                  </a:txBody>
                  <a:tcPr>
                    <a:solidFill>
                      <a:srgbClr val="EEEDFB"/>
                    </a:solidFill>
                  </a:tcPr>
                </a:tc>
                <a:tc>
                  <a:txBody>
                    <a:bodyPr/>
                    <a:lstStyle/>
                    <a:p>
                      <a:r>
                        <a:rPr sz="1050" b="0">
                          <a:solidFill>
                            <a:srgbClr val="171A33"/>
                          </a:solidFill>
                          <a:latin typeface="Calibri"/>
                        </a:rPr>
                        <a:t>Privacy gate and removes junk frames before any labelling spend</a:t>
                      </a:r>
                    </a:p>
                  </a:txBody>
                  <a:tcPr>
                    <a:solidFill>
                      <a:srgbClr val="EEEDFB"/>
                    </a:solidFill>
                  </a:tcPr>
                </a:tc>
              </a:tr>
              <a:tr h="365760">
                <a:tc>
                  <a:txBody>
                    <a:bodyPr/>
                    <a:lstStyle/>
                    <a:p>
                      <a:r>
                        <a:rPr sz="1050" b="1">
                          <a:solidFill>
                            <a:srgbClr val="171A33"/>
                          </a:solidFill>
                          <a:latin typeface="Calibri"/>
                        </a:rPr>
                        <a:t>Instrument</a:t>
                      </a:r>
                    </a:p>
                  </a:txBody>
                  <a:tcPr>
                    <a:solidFill>
                      <a:srgbClr val="FFFFFF"/>
                    </a:solidFill>
                  </a:tcPr>
                </a:tc>
                <a:tc>
                  <a:txBody>
                    <a:bodyPr/>
                    <a:lstStyle/>
                    <a:p>
                      <a:r>
                        <a:rPr sz="1050" b="0">
                          <a:solidFill>
                            <a:srgbClr val="171A33"/>
                          </a:solidFill>
                          <a:latin typeface="Calibri"/>
                        </a:rPr>
                        <a:t>bounding box</a:t>
                      </a:r>
                    </a:p>
                  </a:txBody>
                  <a:tcPr>
                    <a:solidFill>
                      <a:srgbClr val="FFFFFF"/>
                    </a:solidFill>
                  </a:tcPr>
                </a:tc>
                <a:tc>
                  <a:txBody>
                    <a:bodyPr/>
                    <a:lstStyle/>
                    <a:p>
                      <a:r>
                        <a:rPr sz="1050" b="0">
                          <a:solidFill>
                            <a:srgbClr val="171A33"/>
                          </a:solidFill>
                          <a:latin typeface="Calibri"/>
                        </a:rPr>
                        <a:t>Instrument presence drives phase inference and product adoption reporting</a:t>
                      </a:r>
                    </a:p>
                  </a:txBody>
                  <a:tcPr>
                    <a:solidFill>
                      <a:srgbClr val="FFFFFF"/>
                    </a:solidFill>
                  </a:tcPr>
                </a:tc>
              </a:tr>
              <a:tr h="365760">
                <a:tc>
                  <a:txBody>
                    <a:bodyPr/>
                    <a:lstStyle/>
                    <a:p>
                      <a:r>
                        <a:rPr sz="1050" b="1">
                          <a:solidFill>
                            <a:srgbClr val="171A33"/>
                          </a:solidFill>
                          <a:latin typeface="Calibri"/>
                        </a:rPr>
                        <a:t>Instrument tip</a:t>
                      </a:r>
                    </a:p>
                  </a:txBody>
                  <a:tcPr>
                    <a:solidFill>
                      <a:srgbClr val="EEEDFB"/>
                    </a:solidFill>
                  </a:tcPr>
                </a:tc>
                <a:tc>
                  <a:txBody>
                    <a:bodyPr/>
                    <a:lstStyle/>
                    <a:p>
                      <a:r>
                        <a:rPr sz="1050" b="0">
                          <a:solidFill>
                            <a:srgbClr val="171A33"/>
                          </a:solidFill>
                          <a:latin typeface="Calibri"/>
                        </a:rPr>
                        <a:t>keypoint</a:t>
                      </a:r>
                    </a:p>
                  </a:txBody>
                  <a:tcPr>
                    <a:solidFill>
                      <a:srgbClr val="EEEDFB"/>
                    </a:solidFill>
                  </a:tcPr>
                </a:tc>
                <a:tc>
                  <a:txBody>
                    <a:bodyPr/>
                    <a:lstStyle/>
                    <a:p>
                      <a:r>
                        <a:rPr sz="1050" b="0">
                          <a:solidFill>
                            <a:srgbClr val="171A33"/>
                          </a:solidFill>
                          <a:latin typeface="Calibri"/>
                        </a:rPr>
                        <a:t>Tip position supports dexterity and skills assessment metrics</a:t>
                      </a:r>
                    </a:p>
                  </a:txBody>
                  <a:tcPr>
                    <a:solidFill>
                      <a:srgbClr val="EEEDFB"/>
                    </a:solidFill>
                  </a:tcPr>
                </a:tc>
              </a:tr>
              <a:tr h="365760">
                <a:tc>
                  <a:txBody>
                    <a:bodyPr/>
                    <a:lstStyle/>
                    <a:p>
                      <a:r>
                        <a:rPr sz="1050" b="1">
                          <a:solidFill>
                            <a:srgbClr val="171A33"/>
                          </a:solidFill>
                          <a:latin typeface="Calibri"/>
                        </a:rPr>
                        <a:t>Critical anatomy (e.g. cystic duct, artery)</a:t>
                      </a:r>
                    </a:p>
                  </a:txBody>
                  <a:tcPr>
                    <a:solidFill>
                      <a:srgbClr val="FFFFFF"/>
                    </a:solidFill>
                  </a:tcPr>
                </a:tc>
                <a:tc>
                  <a:txBody>
                    <a:bodyPr/>
                    <a:lstStyle/>
                    <a:p>
                      <a:r>
                        <a:rPr sz="1050" b="0">
                          <a:solidFill>
                            <a:srgbClr val="171A33"/>
                          </a:solidFill>
                          <a:latin typeface="Calibri"/>
                        </a:rPr>
                        <a:t>bitmask</a:t>
                      </a:r>
                    </a:p>
                  </a:txBody>
                  <a:tcPr>
                    <a:solidFill>
                      <a:srgbClr val="FFFFFF"/>
                    </a:solidFill>
                  </a:tcPr>
                </a:tc>
                <a:tc>
                  <a:txBody>
                    <a:bodyPr/>
                    <a:lstStyle/>
                    <a:p>
                      <a:r>
                        <a:rPr sz="1050" b="0">
                          <a:solidFill>
                            <a:srgbClr val="171A33"/>
                          </a:solidFill>
                          <a:latin typeface="Calibri"/>
                        </a:rPr>
                        <a:t>Safety milestones such as critical view of safety need pixel precision</a:t>
                      </a:r>
                    </a:p>
                  </a:txBody>
                  <a:tcPr>
                    <a:solidFill>
                      <a:srgbClr val="FFFFFF"/>
                    </a:solidFill>
                  </a:tcPr>
                </a:tc>
              </a:tr>
              <a:tr h="365760">
                <a:tc>
                  <a:txBody>
                    <a:bodyPr/>
                    <a:lstStyle/>
                    <a:p>
                      <a:r>
                        <a:rPr sz="1050" b="1">
                          <a:solidFill>
                            <a:srgbClr val="171A33"/>
                          </a:solidFill>
                          <a:latin typeface="Calibri"/>
                        </a:rPr>
                        <a:t>Bleeding / adverse event region</a:t>
                      </a:r>
                    </a:p>
                  </a:txBody>
                  <a:tcPr>
                    <a:solidFill>
                      <a:srgbClr val="EEEDFB"/>
                    </a:solidFill>
                  </a:tcPr>
                </a:tc>
                <a:tc>
                  <a:txBody>
                    <a:bodyPr/>
                    <a:lstStyle/>
                    <a:p>
                      <a:r>
                        <a:rPr sz="1050" b="0">
                          <a:solidFill>
                            <a:srgbClr val="171A33"/>
                          </a:solidFill>
                          <a:latin typeface="Calibri"/>
                        </a:rPr>
                        <a:t>bitmask</a:t>
                      </a:r>
                    </a:p>
                  </a:txBody>
                  <a:tcPr>
                    <a:solidFill>
                      <a:srgbClr val="EEEDFB"/>
                    </a:solidFill>
                  </a:tcPr>
                </a:tc>
                <a:tc>
                  <a:txBody>
                    <a:bodyPr/>
                    <a:lstStyle/>
                    <a:p>
                      <a:r>
                        <a:rPr sz="1050" b="0">
                          <a:solidFill>
                            <a:srgbClr val="171A33"/>
                          </a:solidFill>
                          <a:latin typeface="Calibri"/>
                        </a:rPr>
                        <a:t>Irregular shapes, used for quality and complication review</a:t>
                      </a:r>
                    </a:p>
                  </a:txBody>
                  <a:tcPr>
                    <a:solidFill>
                      <a:srgbClr val="EEEDFB"/>
                    </a:solidFill>
                  </a:tcPr>
                </a:tc>
              </a:tr>
              <a:tr h="365760">
                <a:tc>
                  <a:txBody>
                    <a:bodyPr/>
                    <a:lstStyle/>
                    <a:p>
                      <a:r>
                        <a:rPr sz="1050" b="1">
                          <a:solidFill>
                            <a:srgbClr val="171A33"/>
                          </a:solidFill>
                          <a:latin typeface="Calibri"/>
                        </a:rPr>
                        <a:t>Staff / person in theatre</a:t>
                      </a:r>
                    </a:p>
                  </a:txBody>
                  <a:tcPr>
                    <a:solidFill>
                      <a:srgbClr val="FFFFFF"/>
                    </a:solidFill>
                  </a:tcPr>
                </a:tc>
                <a:tc>
                  <a:txBody>
                    <a:bodyPr/>
                    <a:lstStyle/>
                    <a:p>
                      <a:r>
                        <a:rPr sz="1050" b="0">
                          <a:solidFill>
                            <a:srgbClr val="171A33"/>
                          </a:solidFill>
                          <a:latin typeface="Calibri"/>
                        </a:rPr>
                        <a:t>bounding box</a:t>
                      </a:r>
                    </a:p>
                  </a:txBody>
                  <a:tcPr>
                    <a:solidFill>
                      <a:srgbClr val="FFFFFF"/>
                    </a:solidFill>
                  </a:tcPr>
                </a:tc>
                <a:tc>
                  <a:txBody>
                    <a:bodyPr/>
                    <a:lstStyle/>
                    <a:p>
                      <a:r>
                        <a:rPr sz="1050" b="0">
                          <a:solidFill>
                            <a:srgbClr val="171A33"/>
                          </a:solidFill>
                          <a:latin typeface="Calibri"/>
                        </a:rPr>
                        <a:t>Room-camera utilisation, patient-in to patient-out timings</a:t>
                      </a:r>
                    </a:p>
                  </a:txBody>
                  <a:tcPr>
                    <a:solidFill>
                      <a:srgbClr val="FFFFFF"/>
                    </a:solidFill>
                  </a:tcPr>
                </a:tc>
              </a:tr>
              <a:tr h="365760">
                <a:tc>
                  <a:txBody>
                    <a:bodyPr/>
                    <a:lstStyle/>
                    <a:p>
                      <a:r>
                        <a:rPr sz="1050" b="1">
                          <a:solidFill>
                            <a:srgbClr val="171A33"/>
                          </a:solidFill>
                          <a:latin typeface="Calibri"/>
                        </a:rPr>
                        <a:t>Incision or port site</a:t>
                      </a:r>
                    </a:p>
                  </a:txBody>
                  <a:tcPr>
                    <a:solidFill>
                      <a:srgbClr val="EEEDFB"/>
                    </a:solidFill>
                  </a:tcPr>
                </a:tc>
                <a:tc>
                  <a:txBody>
                    <a:bodyPr/>
                    <a:lstStyle/>
                    <a:p>
                      <a:r>
                        <a:rPr sz="1050" b="0">
                          <a:solidFill>
                            <a:srgbClr val="171A33"/>
                          </a:solidFill>
                          <a:latin typeface="Calibri"/>
                        </a:rPr>
                        <a:t>keypoint</a:t>
                      </a:r>
                    </a:p>
                  </a:txBody>
                  <a:tcPr>
                    <a:solidFill>
                      <a:srgbClr val="EEEDFB"/>
                    </a:solidFill>
                  </a:tcPr>
                </a:tc>
                <a:tc>
                  <a:txBody>
                    <a:bodyPr/>
                    <a:lstStyle/>
                    <a:p>
                      <a:r>
                        <a:rPr sz="1050" b="0">
                          <a:solidFill>
                            <a:srgbClr val="171A33"/>
                          </a:solidFill>
                          <a:latin typeface="Calibri"/>
                        </a:rPr>
                        <a:t>Marks procedure start and technique variation across surgeons</a:t>
                      </a:r>
                    </a:p>
                  </a:txBody>
                  <a:tcPr>
                    <a:solidFill>
                      <a:srgbClr val="EEEDF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ENCORD FITS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Lead with Index then Annotate, the rest follows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5</a:t>
            </a:r>
          </a:p>
        </p:txBody>
      </p:sp>
      <p:sp>
        <p:nvSpPr>
          <p:cNvPr id="7" name="Rectangle 6"/>
          <p:cNvSpPr/>
          <p:nvPr/>
        </p:nvSpPr>
        <p:spPr>
          <a:xfrm>
            <a:off x="640080" y="173736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3736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Index</a:t>
            </a:r>
          </a:p>
        </p:txBody>
      </p:sp>
      <p:sp>
        <p:nvSpPr>
          <p:cNvPr id="9" name="TextBox 8"/>
          <p:cNvSpPr txBox="1"/>
          <p:nvPr/>
        </p:nvSpPr>
        <p:spPr>
          <a:xfrm>
            <a:off x="868680" y="2029967"/>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Register the data where it already lives. Embeddings and quality metrics on every frame. Find the frames worth labelling; drop the repeats.</a:t>
            </a:r>
          </a:p>
        </p:txBody>
      </p:sp>
      <p:sp>
        <p:nvSpPr>
          <p:cNvPr id="10" name="Rectangle 9"/>
          <p:cNvSpPr/>
          <p:nvPr/>
        </p:nvSpPr>
        <p:spPr>
          <a:xfrm>
            <a:off x="640080" y="274320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4320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Annotate</a:t>
            </a:r>
          </a:p>
        </p:txBody>
      </p:sp>
      <p:sp>
        <p:nvSpPr>
          <p:cNvPr id="12" name="TextBox 11"/>
          <p:cNvSpPr txBox="1"/>
          <p:nvPr/>
        </p:nvSpPr>
        <p:spPr>
          <a:xfrm>
            <a:off x="868680" y="303580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Label video, 3D and images with SAM auto-segmentation and tracking. Ontology, review workflow, managed workforce if needed.</a:t>
            </a:r>
          </a:p>
        </p:txBody>
      </p:sp>
      <p:sp>
        <p:nvSpPr>
          <p:cNvPr id="13" name="Rectangle 12"/>
          <p:cNvSpPr/>
          <p:nvPr/>
        </p:nvSpPr>
        <p:spPr>
          <a:xfrm>
            <a:off x="640080" y="374903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74903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Active</a:t>
            </a:r>
          </a:p>
        </p:txBody>
      </p:sp>
      <p:sp>
        <p:nvSpPr>
          <p:cNvPr id="15" name="TextBox 14"/>
          <p:cNvSpPr txBox="1"/>
          <p:nvPr/>
        </p:nvSpPr>
        <p:spPr>
          <a:xfrm>
            <a:off x="868680" y="404164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Import predictions. Accuracy by class, site and condition. Find label errors. Know exactly what to label next.</a:t>
            </a:r>
          </a:p>
        </p:txBody>
      </p:sp>
      <p:sp>
        <p:nvSpPr>
          <p:cNvPr id="16" name="Rectangle 15"/>
          <p:cNvSpPr/>
          <p:nvPr/>
        </p:nvSpPr>
        <p:spPr>
          <a:xfrm>
            <a:off x="640080" y="475487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75487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Agents</a:t>
            </a:r>
          </a:p>
        </p:txBody>
      </p:sp>
      <p:sp>
        <p:nvSpPr>
          <p:cNvPr id="18" name="TextBox 17"/>
          <p:cNvSpPr txBox="1"/>
          <p:nvPr/>
        </p:nvSpPr>
        <p:spPr>
          <a:xfrm>
            <a:off x="868680" y="504748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Run your own model as a workflow stage to pre-label and QA, so people adjudicate rather than draw.</a:t>
            </a:r>
          </a:p>
        </p:txBody>
      </p:sp>
      <p:sp>
        <p:nvSpPr>
          <p:cNvPr id="19" name="Rectangle 18"/>
          <p:cNvSpPr/>
          <p:nvPr/>
        </p:nvSpPr>
        <p:spPr>
          <a:xfrm>
            <a:off x="6583680" y="1737360"/>
            <a:ext cx="4937760" cy="402336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0" y="1737360"/>
            <a:ext cx="493776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12280" y="1965960"/>
            <a:ext cx="45720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CLOSEST CASE STUDY</a:t>
            </a:r>
          </a:p>
        </p:txBody>
      </p:sp>
      <p:sp>
        <p:nvSpPr>
          <p:cNvPr id="22" name="TextBox 21"/>
          <p:cNvSpPr txBox="1"/>
          <p:nvPr/>
        </p:nvSpPr>
        <p:spPr>
          <a:xfrm>
            <a:off x="6812280" y="2240280"/>
            <a:ext cx="4572000" cy="457200"/>
          </a:xfrm>
          <a:prstGeom prst="rect">
            <a:avLst/>
          </a:prstGeom>
          <a:noFill/>
        </p:spPr>
        <p:txBody>
          <a:bodyPr wrap="square" anchor="t" lIns="0" rIns="0" tIns="0" bIns="0">
            <a:spAutoFit/>
          </a:bodyPr>
          <a:lstStyle/>
          <a:p>
            <a:pPr algn="l">
              <a:spcAft>
                <a:spcPts val="400"/>
              </a:spcAft>
            </a:pPr>
            <a:r>
              <a:rPr sz="2000" b="1">
                <a:solidFill>
                  <a:srgbClr val="171A33"/>
                </a:solidFill>
                <a:latin typeface="Calibri"/>
              </a:rPr>
              <a:t>Harvard Medical School and Massachusetts General Hospital</a:t>
            </a:r>
          </a:p>
        </p:txBody>
      </p:sp>
      <p:sp>
        <p:nvSpPr>
          <p:cNvPr id="23" name="TextBox 22"/>
          <p:cNvSpPr txBox="1"/>
          <p:nvPr/>
        </p:nvSpPr>
        <p:spPr>
          <a:xfrm>
            <a:off x="6812280" y="2743200"/>
            <a:ext cx="4572000" cy="822960"/>
          </a:xfrm>
          <a:prstGeom prst="rect">
            <a:avLst/>
          </a:prstGeom>
          <a:noFill/>
        </p:spPr>
        <p:txBody>
          <a:bodyPr wrap="square" anchor="t" lIns="0" rIns="0" tIns="0" bIns="0">
            <a:spAutoFit/>
          </a:bodyPr>
          <a:lstStyle/>
          <a:p>
            <a:pPr algn="l">
              <a:spcAft>
                <a:spcPts val="400"/>
              </a:spcAft>
            </a:pPr>
            <a:r>
              <a:rPr sz="1400" b="1">
                <a:solidFill>
                  <a:srgbClr val="4F46E5"/>
                </a:solidFill>
                <a:latin typeface="Calibri"/>
              </a:rPr>
              <a:t>Harvard/MGH: annotation time reduced from days to minutes. Automotus: +20% mAP with a 35% smaller dataset and 33% lower labelling cost. Encord's own claim on high-complexity use cases: 60-80% labelling cost reduction with automation plus active learning.</a:t>
            </a:r>
          </a:p>
        </p:txBody>
      </p:sp>
      <p:sp>
        <p:nvSpPr>
          <p:cNvPr id="24" name="TextBox 23"/>
          <p:cNvSpPr txBox="1"/>
          <p:nvPr/>
        </p:nvSpPr>
        <p:spPr>
          <a:xfrm>
            <a:off x="6812280" y="3566160"/>
            <a:ext cx="4572000" cy="2103120"/>
          </a:xfrm>
          <a:prstGeom prst="rect">
            <a:avLst/>
          </a:prstGeom>
          <a:noFill/>
        </p:spPr>
        <p:txBody>
          <a:bodyPr wrap="square" anchor="t" lIns="0" rIns="0" tIns="0" bIns="0">
            <a:spAutoFit/>
          </a:bodyPr>
          <a:lstStyle/>
          <a:p>
            <a:pPr algn="l">
              <a:spcAft>
                <a:spcPts val="400"/>
              </a:spcAft>
            </a:pPr>
            <a:r>
              <a:rPr sz="1100" b="0">
                <a:solidFill>
                  <a:srgbClr val="171A33"/>
                </a:solidFill>
                <a:latin typeface="Calibri"/>
              </a:rPr>
              <a:t>Clinician time is the bottleneck in both cases. Harvard/MGH use Encord on medical imaging with automation in the annotation loop, under the same HIPAA and GDPR expectations Proximie faces with NHS trusts. Automotus is the useful second reference for the curation half of the story: fixed cameras, huge redundant footage, model accuracy driven by which frames were chosen.</a:t>
            </a:r>
          </a:p>
        </p:txBody>
      </p:sp>
      <p:sp>
        <p:nvSpPr>
          <p:cNvPr id="25" name="TextBox 24"/>
          <p:cNvSpPr txBox="1"/>
          <p:nvPr/>
        </p:nvSpPr>
        <p:spPr>
          <a:xfrm>
            <a:off x="640080" y="5943600"/>
            <a:ext cx="10972800" cy="36576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Data stays in your bucket. SOC2 Type II, HIPAA, GDPR. Everything the UI does, the SDK does.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PROPOSED NEXT STEP</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A two-week proof of value on one site's data</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6</a:t>
            </a:r>
          </a:p>
        </p:txBody>
      </p:sp>
      <p:sp>
        <p:nvSpPr>
          <p:cNvPr id="7" name="Rounded Rectangle 6"/>
          <p:cNvSpPr/>
          <p:nvPr/>
        </p:nvSpPr>
        <p:spPr>
          <a:xfrm>
            <a:off x="640080" y="182880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2880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1</a:t>
            </a:r>
          </a:p>
        </p:txBody>
      </p:sp>
      <p:sp>
        <p:nvSpPr>
          <p:cNvPr id="9" name="TextBox 8"/>
          <p:cNvSpPr txBox="1"/>
          <p:nvPr/>
        </p:nvSpPr>
        <p:spPr>
          <a:xfrm>
            <a:off x="1280160" y="178308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0: register 200 to 500 hours of one procedure type (e.g. laparoscopic cholecystectomy) from their existing S3 bucket into Index. Nothing is copied. Success: corpus indexed with embeddings and per-frame quality metrics, plus an embedding plot Proximie has never seen of their own library.</a:t>
            </a:r>
          </a:p>
        </p:txBody>
      </p:sp>
      <p:sp>
        <p:nvSpPr>
          <p:cNvPr id="10" name="Rounded Rectangle 9"/>
          <p:cNvSpPr/>
          <p:nvPr/>
        </p:nvSpPr>
        <p:spPr>
          <a:xfrm>
            <a:off x="640080" y="265176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5176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2</a:t>
            </a:r>
          </a:p>
        </p:txBody>
      </p:sp>
      <p:sp>
        <p:nvSpPr>
          <p:cNvPr id="12" name="TextBox 11"/>
          <p:cNvSpPr txBox="1"/>
          <p:nvPr/>
        </p:nvSpPr>
        <p:spPr>
          <a:xfrm>
            <a:off x="1280160" y="260604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 build two Collections, one diversity-sampled training pick and one random pick of identical size, and quantify duplicate and low-quality frame rates. Success: a stated percentage of frames that can be dropped with rare phases retained.</a:t>
            </a:r>
          </a:p>
        </p:txBody>
      </p:sp>
      <p:sp>
        <p:nvSpPr>
          <p:cNvPr id="13" name="Rounded Rectangle 12"/>
          <p:cNvSpPr/>
          <p:nvPr/>
        </p:nvSpPr>
        <p:spPr>
          <a:xfrm>
            <a:off x="640080" y="347472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47472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3</a:t>
            </a:r>
          </a:p>
        </p:txBody>
      </p:sp>
      <p:sp>
        <p:nvSpPr>
          <p:cNvPr id="15" name="TextBox 14"/>
          <p:cNvSpPr txBox="1"/>
          <p:nvPr/>
        </p:nvSpPr>
        <p:spPr>
          <a:xfrm>
            <a:off x="1280160" y="342900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 stand up the phase and instrument ontology in Annotate with an annotate to clinical review workflow, SAM 3 and object tracking on for instruments and anatomy. Success: median minutes per labelled video minute versus their current baseline.</a:t>
            </a:r>
          </a:p>
        </p:txBody>
      </p:sp>
      <p:sp>
        <p:nvSpPr>
          <p:cNvPr id="16" name="Rounded Rectangle 15"/>
          <p:cNvSpPr/>
          <p:nvPr/>
        </p:nvSpPr>
        <p:spPr>
          <a:xfrm>
            <a:off x="640080" y="429768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29768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4</a:t>
            </a:r>
          </a:p>
        </p:txBody>
      </p:sp>
      <p:sp>
        <p:nvSpPr>
          <p:cNvPr id="18" name="TextBox 17"/>
          <p:cNvSpPr txBox="1"/>
          <p:nvPr/>
        </p:nvSpPr>
        <p:spPr>
          <a:xfrm>
            <a:off x="1280160" y="425196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import predictions from one model in the NHS evaluation into Active. Success: mAP/F1 plus confusion matrix sliced by site, camera and procedure, and a shortlist of the slices where it fails.</a:t>
            </a:r>
          </a:p>
        </p:txBody>
      </p:sp>
      <p:sp>
        <p:nvSpPr>
          <p:cNvPr id="19" name="Rounded Rectangle 18"/>
          <p:cNvSpPr/>
          <p:nvPr/>
        </p:nvSpPr>
        <p:spPr>
          <a:xfrm>
            <a:off x="640080" y="512064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12064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5</a:t>
            </a:r>
          </a:p>
        </p:txBody>
      </p:sp>
      <p:sp>
        <p:nvSpPr>
          <p:cNvPr id="21" name="TextBox 20"/>
          <p:cNvSpPr txBox="1"/>
          <p:nvPr/>
        </p:nvSpPr>
        <p:spPr>
          <a:xfrm>
            <a:off x="1280160" y="507492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run label validation on an existing labelled set they already trust. Success: a count of confirmed ground truth errors found, with the metric-to-failure correlation naming what to label next.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LET'S TEST IT</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we'd like to learn from you</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7</a:t>
            </a:r>
          </a:p>
        </p:txBody>
      </p:sp>
      <p:sp>
        <p:nvSpPr>
          <p:cNvPr id="7" name="TextBox 6"/>
          <p:cNvSpPr txBox="1"/>
          <p:nvPr/>
        </p:nvSpPr>
        <p:spPr>
          <a:xfrm>
            <a:off x="640080" y="1737360"/>
            <a:ext cx="6583680" cy="4114800"/>
          </a:xfrm>
          <a:prstGeom prst="rect">
            <a:avLst/>
          </a:prstGeom>
          <a:noFill/>
        </p:spPr>
        <p:txBody>
          <a:bodyPr wrap="square" anchor="t" lIns="0" rIns="0" tIns="0" bIns="0">
            <a:spAutoFit/>
          </a:bodyPr>
          <a:lstStyle/>
          <a:p>
            <a:pPr algn="l">
              <a:spcAft>
                <a:spcPts val="1000"/>
              </a:spcAft>
            </a:pPr>
            <a:r>
              <a:rPr sz="1400" b="0">
                <a:solidFill>
                  <a:srgbClr val="171A33"/>
                </a:solidFill>
                <a:latin typeface="Calibri"/>
              </a:rPr>
              <a:t>•  For the 104-theatre evaluation, who owns the ground truth, and is it one shared annotated set across vendors or does each model bring its own?</a:t>
            </a:r>
          </a:p>
          <a:p>
            <a:pPr algn="l">
              <a:spcAft>
                <a:spcPts val="1000"/>
              </a:spcAft>
            </a:pPr>
            <a:r>
              <a:rPr sz="1400" b="0">
                <a:solidFill>
                  <a:srgbClr val="171A33"/>
                </a:solidFill>
                <a:latin typeface="Calibri"/>
              </a:rPr>
              <a:t>•  How do you currently choose which hours of the 100+ TB get annotated, and who does the annotating: clinicians, an internal team, or an outsourced workforce?</a:t>
            </a:r>
          </a:p>
          <a:p>
            <a:pPr algn="l">
              <a:spcAft>
                <a:spcPts val="1000"/>
              </a:spcAft>
            </a:pPr>
            <a:r>
              <a:rPr sz="1400" b="0">
                <a:solidFill>
                  <a:srgbClr val="171A33"/>
                </a:solidFill>
                <a:latin typeface="Calibri"/>
              </a:rPr>
              <a:t>•  What does the phase and instrument ontology look like today, and does it change between procedure types and trusts?</a:t>
            </a:r>
          </a:p>
          <a:p>
            <a:pPr algn="l">
              <a:spcAft>
                <a:spcPts val="1000"/>
              </a:spcAft>
            </a:pPr>
            <a:r>
              <a:rPr sz="1400" b="0">
                <a:solidFill>
                  <a:srgbClr val="171A33"/>
                </a:solidFill>
                <a:latin typeface="Calibri"/>
              </a:rPr>
              <a:t>•  Where does de-identification happen, edge or cloud, and would a tool that reads from your S3 without copying frames shorten the information governance conversation?</a:t>
            </a:r>
          </a:p>
          <a:p>
            <a:pPr algn="l">
              <a:spcAft>
                <a:spcPts val="1000"/>
              </a:spcAft>
            </a:pPr>
            <a:r>
              <a:rPr sz="1400" b="0">
                <a:solidFill>
                  <a:srgbClr val="171A33"/>
                </a:solidFill>
                <a:latin typeface="Calibri"/>
              </a:rPr>
              <a:t>•  When a model underperforms at a particular trust, how do you work out today whether it is the data, the labels, or the model?</a:t>
            </a:r>
          </a:p>
        </p:txBody>
      </p:sp>
      <p:sp>
        <p:nvSpPr>
          <p:cNvPr id="8" name="Rectangle 7"/>
          <p:cNvSpPr/>
          <p:nvPr/>
        </p:nvSpPr>
        <p:spPr>
          <a:xfrm>
            <a:off x="7680960" y="1737360"/>
            <a:ext cx="3840480" cy="237744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965960"/>
            <a:ext cx="3383280" cy="274320"/>
          </a:xfrm>
          <a:prstGeom prst="rect">
            <a:avLst/>
          </a:prstGeom>
          <a:noFill/>
        </p:spPr>
        <p:txBody>
          <a:bodyPr wrap="square" anchor="t" lIns="0" rIns="0" tIns="0" bIns="0">
            <a:spAutoFit/>
          </a:bodyPr>
          <a:lstStyle/>
          <a:p>
            <a:pPr algn="l">
              <a:spcAft>
                <a:spcPts val="400"/>
              </a:spcAft>
            </a:pPr>
            <a:r>
              <a:rPr sz="1000" b="1">
                <a:solidFill>
                  <a:srgbClr val="B9BCDC"/>
                </a:solidFill>
                <a:latin typeface="Calibri"/>
              </a:rPr>
              <a:t>CONTACT</a:t>
            </a:r>
          </a:p>
        </p:txBody>
      </p:sp>
      <p:sp>
        <p:nvSpPr>
          <p:cNvPr id="10" name="TextBox 9"/>
          <p:cNvSpPr txBox="1"/>
          <p:nvPr/>
        </p:nvSpPr>
        <p:spPr>
          <a:xfrm>
            <a:off x="7955279" y="2286000"/>
            <a:ext cx="3383280" cy="1645920"/>
          </a:xfrm>
          <a:prstGeom prst="rect">
            <a:avLst/>
          </a:prstGeom>
          <a:noFill/>
        </p:spPr>
        <p:txBody>
          <a:bodyPr wrap="square" anchor="t" lIns="0" rIns="0" tIns="0" bIns="0">
            <a:spAutoFit/>
          </a:bodyPr>
          <a:lstStyle/>
          <a:p>
            <a:pPr algn="l">
              <a:spcAft>
                <a:spcPts val="600"/>
              </a:spcAft>
            </a:pPr>
            <a:r>
              <a:rPr sz="1300" b="0">
                <a:solidFill>
                  <a:srgbClr val="FFFFFF"/>
                </a:solidFill>
                <a:latin typeface="Calibri"/>
              </a:rPr>
              <a:t>Qais Al-Azkawi</a:t>
            </a:r>
          </a:p>
          <a:p>
            <a:pPr algn="l">
              <a:spcAft>
                <a:spcPts val="600"/>
              </a:spcAft>
            </a:pPr>
            <a:r>
              <a:rPr sz="1300" b="0">
                <a:solidFill>
                  <a:srgbClr val="FFFFFF"/>
                </a:solidFill>
                <a:latin typeface="Calibri"/>
              </a:rPr>
              <a:t>Commercial Associate, Encord</a:t>
            </a:r>
          </a:p>
          <a:p>
            <a:pPr algn="l">
              <a:spcAft>
                <a:spcPts val="600"/>
              </a:spcAft>
            </a:pPr>
            <a:r>
              <a:rPr sz="1300" b="0">
                <a:solidFill>
                  <a:srgbClr val="FFFFFF"/>
                </a:solidFill>
                <a:latin typeface="Calibri"/>
              </a:rPr>
              <a:t>qaisqas@gmail.com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