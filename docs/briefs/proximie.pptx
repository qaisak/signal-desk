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questions to test this:</a:t>
            </a:r>
          </a:p>
          <a:p>
            <a:r>
              <a:t>- For the AWS, Deloitte and NHS evaluation, who creates the ground truth labels, and how do you currently evidence reviewer agreement and audit trail to the trusts?</a:t>
            </a:r>
          </a:p>
          <a:p>
            <a:r>
              <a:t>- How do you decide which of the 100+ terabytes to annotate today, by procedure type, by surgeon request, or by something at frame level?</a:t>
            </a:r>
          </a:p>
          <a:p>
            <a:r>
              <a:t>- What does a surgeon annotator actually see, an internal viewer, a vendor tool, or something like CVAT, and how many minutes per case does it take?</a:t>
            </a:r>
          </a:p>
          <a:p>
            <a:r>
              <a:t>- When a phase or instrument model underperforms at a new site, how do you currently find out which slices are failing and what to label next?</a:t>
            </a:r>
          </a:p>
          <a:p>
            <a:r>
              <a:t>- De-identification happens on the hardware, so what are the rules for where labelled frames can be stored and who can see them, and does data need to stay in your AWS account?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medium</a:t>
            </a:r>
          </a:p>
          <a:p>
            <a:r>
              <a:t>Risks:</a:t>
            </a:r>
          </a:p>
          <a:p>
            <a:r>
              <a:t>- They may have already built internal labelling tooling tied to their own player and privacy masking, making a swap feel like a step back.</a:t>
            </a:r>
          </a:p>
          <a:p>
            <a:r>
              <a:t>- AWS and Deloitte are in the frame for the flagship evaluation, so tooling may be bundled into that engagement (SageMaker Ground Truth, Deloitte managed labelling) before we get a hearing.</a:t>
            </a:r>
          </a:p>
          <a:p>
            <a:r>
              <a:t>- Patient data governance across NHS trusts and 50 countries can stretch procurement and information governance review well beyond a normal cycle, even with SOC2 Type II and HIPAA.</a:t>
            </a:r>
          </a:p>
          <a:p>
            <a:r>
              <a:t>- Thin evidence on their actual ML team: no ML or CV job ads found, so AI may be a partner-delivered capability rather than an in-house build with budget.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109728"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3200400" cy="365760"/>
          </a:xfrm>
          <a:prstGeom prst="rect">
            <a:avLst/>
          </a:prstGeom>
          <a:noFill/>
        </p:spPr>
        <p:txBody>
          <a:bodyPr wrap="square" anchor="t" lIns="0" rIns="0" tIns="0" bIns="0">
            <a:spAutoFit/>
          </a:bodyPr>
          <a:lstStyle/>
          <a:p>
            <a:pPr algn="l">
              <a:spcAft>
                <a:spcPts val="400"/>
              </a:spcAft>
            </a:pPr>
            <a:r>
              <a:rPr sz="1200" b="1">
                <a:solidFill>
                  <a:srgbClr val="FFFFFF"/>
                </a:solidFill>
                <a:latin typeface="Calibri"/>
              </a:rPr>
              <a:t>ENCORD</a:t>
            </a:r>
          </a:p>
        </p:txBody>
      </p:sp>
      <p:sp>
        <p:nvSpPr>
          <p:cNvPr id="5" name="TextBox 4"/>
          <p:cNvSpPr txBox="1"/>
          <p:nvPr/>
        </p:nvSpPr>
        <p:spPr>
          <a:xfrm>
            <a:off x="548640" y="5577840"/>
            <a:ext cx="3200400" cy="914400"/>
          </a:xfrm>
          <a:prstGeom prst="rect">
            <a:avLst/>
          </a:prstGeom>
          <a:noFill/>
        </p:spPr>
        <p:txBody>
          <a:bodyPr wrap="square" anchor="t" lIns="0" rIns="0" tIns="0" bIns="0">
            <a:spAutoFit/>
          </a:bodyPr>
          <a:lstStyle/>
          <a:p>
            <a:pPr algn="l">
              <a:spcAft>
                <a:spcPts val="400"/>
              </a:spcAft>
            </a:pPr>
            <a:r>
              <a:rPr sz="1000" b="0">
                <a:solidFill>
                  <a:srgbClr val="B9BCDC"/>
                </a:solidFill>
                <a:latin typeface="Calibri"/>
              </a:rPr>
              <a:t>Prepared 2026-10-06</a:t>
            </a:r>
          </a:p>
          <a:p>
            <a:pPr algn="l">
              <a:spcAft>
                <a:spcPts val="400"/>
              </a:spcAft>
            </a:pPr>
            <a:r>
              <a:rPr sz="1000" b="0">
                <a:solidFill>
                  <a:srgbClr val="B9BCDC"/>
                </a:solidFill>
                <a:latin typeface="Calibri"/>
              </a:rPr>
              <a:t>Qais Al-Azkawi</a:t>
            </a:r>
          </a:p>
          <a:p>
            <a:pPr algn="l">
              <a:spcAft>
                <a:spcPts val="400"/>
              </a:spcAft>
            </a:pPr>
            <a:r>
              <a:rPr sz="1000" b="0">
                <a:solidFill>
                  <a:srgbClr val="B9BCDC"/>
                </a:solidFill>
                <a:latin typeface="Calibri"/>
              </a:rPr>
              <a:t>DRAFT for review</a:t>
            </a:r>
          </a:p>
        </p:txBody>
      </p:sp>
      <p:sp>
        <p:nvSpPr>
          <p:cNvPr id="6" name="TextBox 5"/>
          <p:cNvSpPr txBox="1"/>
          <p:nvPr/>
        </p:nvSpPr>
        <p:spPr>
          <a:xfrm>
            <a:off x="4846320" y="1828800"/>
            <a:ext cx="6766560" cy="1280160"/>
          </a:xfrm>
          <a:prstGeom prst="rect">
            <a:avLst/>
          </a:prstGeom>
          <a:noFill/>
        </p:spPr>
        <p:txBody>
          <a:bodyPr wrap="square" anchor="t" lIns="0" rIns="0" tIns="0" bIns="0">
            <a:spAutoFit/>
          </a:bodyPr>
          <a:lstStyle/>
          <a:p>
            <a:pPr algn="l">
              <a:spcAft>
                <a:spcPts val="400"/>
              </a:spcAft>
            </a:pPr>
            <a:r>
              <a:rPr sz="4000" b="1">
                <a:solidFill>
                  <a:srgbClr val="171A33"/>
                </a:solidFill>
                <a:latin typeface="Calibri"/>
              </a:rPr>
              <a:t>Encord x Proximie</a:t>
            </a:r>
          </a:p>
        </p:txBody>
      </p:sp>
      <p:sp>
        <p:nvSpPr>
          <p:cNvPr id="7" name="TextBox 6"/>
          <p:cNvSpPr txBox="1"/>
          <p:nvPr/>
        </p:nvSpPr>
        <p:spPr>
          <a:xfrm>
            <a:off x="4846320" y="3108960"/>
            <a:ext cx="6766560" cy="2011680"/>
          </a:xfrm>
          <a:prstGeom prst="rect">
            <a:avLst/>
          </a:prstGeom>
          <a:noFill/>
        </p:spPr>
        <p:txBody>
          <a:bodyPr wrap="square" anchor="t" lIns="0" rIns="0" tIns="0" bIns="0">
            <a:spAutoFit/>
          </a:bodyPr>
          <a:lstStyle/>
          <a:p>
            <a:pPr algn="l">
              <a:spcAft>
                <a:spcPts val="400"/>
              </a:spcAft>
            </a:pPr>
            <a:r>
              <a:rPr sz="1800" b="0">
                <a:solidFill>
                  <a:srgbClr val="5D6180"/>
                </a:solidFill>
                <a:latin typeface="Calibri"/>
              </a:rPr>
              <a:t>Proximie has 100+ terabytes of operating theatre video and is now running a large NHS surgical AI evaluation, so the bottleneck shifts from collecting video to finding, labelling and validating the few clips that actually teach a model.</a:t>
            </a:r>
          </a:p>
        </p:txBody>
      </p:sp>
      <p:sp>
        <p:nvSpPr>
          <p:cNvPr id="8" name="TextBox 7"/>
          <p:cNvSpPr txBox="1"/>
          <p:nvPr/>
        </p:nvSpPr>
        <p:spPr>
          <a:xfrm>
            <a:off x="4846320" y="5760720"/>
            <a:ext cx="6766560" cy="45720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A first-meeting point of view. Everything here is our reading of public information; the questions are where we want to be corrected.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WHAT WE UNDERSTAND</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Proximie builds, and how we think the data flows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2</a:t>
            </a:r>
          </a:p>
        </p:txBody>
      </p:sp>
      <p:sp>
        <p:nvSpPr>
          <p:cNvPr id="7" name="TextBox 6"/>
          <p:cNvSpPr txBox="1"/>
          <p:nvPr/>
        </p:nvSpPr>
        <p:spPr>
          <a:xfrm>
            <a:off x="640080" y="1737360"/>
            <a:ext cx="5120640" cy="4114800"/>
          </a:xfrm>
          <a:prstGeom prst="rect">
            <a:avLst/>
          </a:prstGeom>
          <a:noFill/>
        </p:spPr>
        <p:txBody>
          <a:bodyPr wrap="square" anchor="t" lIns="0" rIns="0" tIns="0" bIns="0">
            <a:spAutoFit/>
          </a:bodyPr>
          <a:lstStyle/>
          <a:p>
            <a:pPr algn="l">
              <a:spcAft>
                <a:spcPts val="800"/>
              </a:spcAft>
            </a:pPr>
            <a:r>
              <a:rPr sz="1400" b="0">
                <a:solidFill>
                  <a:srgbClr val="171A33"/>
                </a:solidFill>
                <a:latin typeface="Calibri"/>
              </a:rPr>
              <a:t>Proximie sells a cloud platform and low bandwidth OR hardware that records, streams and de-identifies surgery, plus an Intelligence Suite that applies computer vision to surgical video for throughput, workflow and training analytics. Buyers are hospital groups and NHS trusts (500+ facilities, 50 countries) and 40+ medical device companies who want procedure and product usage insight. The September 2026 AWS, Deloitte and NHS surgical AI evaluation is the commercial proof point they are now selling against.</a:t>
            </a:r>
          </a:p>
        </p:txBody>
      </p:sp>
      <p:sp>
        <p:nvSpPr>
          <p:cNvPr id="8" name="TextBox 7"/>
          <p:cNvSpPr txBox="1"/>
          <p:nvPr/>
        </p:nvSpPr>
        <p:spPr>
          <a:xfrm>
            <a:off x="6217920" y="1737360"/>
            <a:ext cx="530352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INFERRED PIPELINE (guesses marked)</a:t>
            </a:r>
          </a:p>
        </p:txBody>
      </p:sp>
      <p:sp>
        <p:nvSpPr>
          <p:cNvPr id="9" name="Oval 8"/>
          <p:cNvSpPr/>
          <p:nvPr/>
        </p:nvSpPr>
        <p:spPr>
          <a:xfrm>
            <a:off x="6217920" y="2103120"/>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103120"/>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1" name="TextBox 10"/>
          <p:cNvSpPr txBox="1"/>
          <p:nvPr/>
        </p:nvSpPr>
        <p:spPr>
          <a:xfrm>
            <a:off x="6766560" y="208483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OR hardware captures multi source video (laparoscope/endoscope feed, room cameras) with on device computer vision used for privacy masking of faces and identifiers, per their hardware page</a:t>
            </a:r>
          </a:p>
        </p:txBody>
      </p:sp>
      <p:sp>
        <p:nvSpPr>
          <p:cNvPr id="12" name="Oval 11"/>
          <p:cNvSpPr/>
          <p:nvPr/>
        </p:nvSpPr>
        <p:spPr>
          <a:xfrm>
            <a:off x="6217920" y="2761487"/>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761487"/>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766560" y="2743199"/>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Streams and recordings land in cloud object storage, likely AWS given the announced AWS partnership, organised by facility, specialty and procedure (guess: metadata is case level, not frame level)</a:t>
            </a:r>
          </a:p>
        </p:txBody>
      </p:sp>
      <p:sp>
        <p:nvSpPr>
          <p:cNvPr id="15" name="Oval 14"/>
          <p:cNvSpPr/>
          <p:nvPr/>
        </p:nvSpPr>
        <p:spPr>
          <a:xfrm>
            <a:off x="6217920" y="3419855"/>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19855"/>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7" name="TextBox 16"/>
          <p:cNvSpPr txBox="1"/>
          <p:nvPr/>
        </p:nvSpPr>
        <p:spPr>
          <a:xfrm>
            <a:off x="6766560" y="3401567"/>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Clips are selected for AI work largely by clinical request or procedure type rather than by frame level quality or content search (guess, no evidence of a curation tool)</a:t>
            </a:r>
          </a:p>
        </p:txBody>
      </p:sp>
      <p:sp>
        <p:nvSpPr>
          <p:cNvPr id="18" name="Oval 17"/>
          <p:cNvSpPr/>
          <p:nvPr/>
        </p:nvSpPr>
        <p:spPr>
          <a:xfrm>
            <a:off x="6217920" y="4078223"/>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078223"/>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0" name="TextBox 19"/>
          <p:cNvSpPr txBox="1"/>
          <p:nvPr/>
        </p:nvSpPr>
        <p:spPr>
          <a:xfrm>
            <a:off x="6766560" y="4059935"/>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Phase, step, instrument and critical view labelling done by clinicians or an outsourced vendor, probably in a bespoke internal viewer or a generic video tool (guess)</a:t>
            </a:r>
          </a:p>
        </p:txBody>
      </p:sp>
      <p:sp>
        <p:nvSpPr>
          <p:cNvPr id="21" name="Oval 20"/>
          <p:cNvSpPr/>
          <p:nvPr/>
        </p:nvSpPr>
        <p:spPr>
          <a:xfrm>
            <a:off x="6217920" y="4736591"/>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4736591"/>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3" name="TextBox 22"/>
          <p:cNvSpPr txBox="1"/>
          <p:nvPr/>
        </p:nvSpPr>
        <p:spPr>
          <a:xfrm>
            <a:off x="6766560" y="4718303"/>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Models for phase recognition, instrument detection and timing analytics trained and reported inside the Intelligence Suite; evaluation for the AWS/Deloitte/NHS study likely needs a defensible held out, clinician adjudicated ground truth set</a:t>
            </a:r>
          </a:p>
        </p:txBody>
      </p:sp>
      <p:sp>
        <p:nvSpPr>
          <p:cNvPr id="24" name="Oval 23"/>
          <p:cNvSpPr/>
          <p:nvPr/>
        </p:nvSpPr>
        <p:spPr>
          <a:xfrm>
            <a:off x="6217920" y="5394959"/>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5394959"/>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26" name="TextBox 25"/>
          <p:cNvSpPr txBox="1"/>
          <p:nvPr/>
        </p:nvSpPr>
        <p:spPr>
          <a:xfrm>
            <a:off x="6766560" y="537667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Results surfaced as throughput and workflow dashboards to hospitals and to medtech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WE THINK IT HURTS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Three hypotheses, ranked by how sure we are</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3</a:t>
            </a:r>
          </a:p>
        </p:txBody>
      </p:sp>
      <p:sp>
        <p:nvSpPr>
          <p:cNvPr id="7" name="Rectangle 6"/>
          <p:cNvSpPr/>
          <p:nvPr/>
        </p:nvSpPr>
        <p:spPr>
          <a:xfrm>
            <a:off x="64008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1</a:t>
            </a:r>
          </a:p>
        </p:txBody>
      </p:sp>
      <p:sp>
        <p:nvSpPr>
          <p:cNvPr id="10" name="TextBox 9"/>
          <p:cNvSpPr txBox="1"/>
          <p:nvPr/>
        </p:nvSpPr>
        <p:spPr>
          <a:xfrm>
            <a:off x="86868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A large multi party AI evaluation needs an auditable, clinician reviewed ground truth set across many procedures, and spreadsheet plus bespoke viewer workflows will not survive that scrutiny.</a:t>
            </a:r>
          </a:p>
        </p:txBody>
      </p:sp>
      <p:sp>
        <p:nvSpPr>
          <p:cNvPr id="11" name="TextBox 10"/>
          <p:cNvSpPr txBox="1"/>
          <p:nvPr/>
        </p:nvSpPr>
        <p:spPr>
          <a:xfrm>
            <a:off x="86868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12" name="TextBox 11"/>
          <p:cNvSpPr txBox="1"/>
          <p:nvPr/>
        </p:nvSpPr>
        <p:spPr>
          <a:xfrm>
            <a:off x="86868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Sept 2026 launch: 'largest ever surgical AI evaluation with AWS, Deloitte, and the NHS'; site claims 25+ clinical journal publications.</a:t>
            </a:r>
          </a:p>
        </p:txBody>
      </p:sp>
      <p:sp>
        <p:nvSpPr>
          <p:cNvPr id="13" name="TextBox 12"/>
          <p:cNvSpPr txBox="1"/>
          <p:nvPr/>
        </p:nvSpPr>
        <p:spPr>
          <a:xfrm>
            <a:off x="86868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14" name="TextBox 13"/>
          <p:cNvSpPr txBox="1"/>
          <p:nvPr/>
        </p:nvSpPr>
        <p:spPr>
          <a:xfrm>
            <a:off x="86868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Annotate gives native long video labelling with ontology versioning, annotate to review to complete workflows, sampled review and routing, so every frame label has a named reviewer and audit trail. Active then scores inter-reviewer disagreement and surfaces likely label errors before they reach the study report.</a:t>
            </a:r>
          </a:p>
        </p:txBody>
      </p:sp>
      <p:sp>
        <p:nvSpPr>
          <p:cNvPr id="15" name="Rectangle 14"/>
          <p:cNvSpPr/>
          <p:nvPr/>
        </p:nvSpPr>
        <p:spPr>
          <a:xfrm>
            <a:off x="438912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2</a:t>
            </a:r>
          </a:p>
        </p:txBody>
      </p:sp>
      <p:sp>
        <p:nvSpPr>
          <p:cNvPr id="18" name="TextBox 17"/>
          <p:cNvSpPr txBox="1"/>
          <p:nvPr/>
        </p:nvSpPr>
        <p:spPr>
          <a:xfrm>
            <a:off x="461772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Surgeon annotator time is the scarcest resource; labelling full length cases frame by frame when 90 percent of a procedure is redundant burns that time.</a:t>
            </a:r>
          </a:p>
        </p:txBody>
      </p:sp>
      <p:sp>
        <p:nvSpPr>
          <p:cNvPr id="19" name="TextBox 18"/>
          <p:cNvSpPr txBox="1"/>
          <p:nvPr/>
        </p:nvSpPr>
        <p:spPr>
          <a:xfrm>
            <a:off x="461772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0" name="TextBox 19"/>
          <p:cNvSpPr txBox="1"/>
          <p:nvPr/>
        </p:nvSpPr>
        <p:spPr>
          <a:xfrm>
            <a:off x="461772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100+ TB of video and 80k recorded views on the site, no ML or annotation job ads found, implying a small team leaning on clinicians.</a:t>
            </a:r>
          </a:p>
        </p:txBody>
      </p:sp>
      <p:sp>
        <p:nvSpPr>
          <p:cNvPr id="21" name="TextBox 20"/>
          <p:cNvSpPr txBox="1"/>
          <p:nvPr/>
        </p:nvSpPr>
        <p:spPr>
          <a:xfrm>
            <a:off x="461772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22" name="TextBox 21"/>
          <p:cNvSpPr txBox="1"/>
          <p:nvPr/>
        </p:nvSpPr>
        <p:spPr>
          <a:xfrm>
            <a:off x="461772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Index registers video in their own AWS bucket (data does not move), computes embeddings and frame quality metrics, and lets them build Collections of unique, in focus, event dense segments. Our own test cut frames to label by 61 percent while keeping 95 percent of target instances.</a:t>
            </a:r>
          </a:p>
        </p:txBody>
      </p:sp>
      <p:sp>
        <p:nvSpPr>
          <p:cNvPr id="23" name="Rectangle 22"/>
          <p:cNvSpPr/>
          <p:nvPr/>
        </p:nvSpPr>
        <p:spPr>
          <a:xfrm>
            <a:off x="8138159"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59"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59"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3</a:t>
            </a:r>
          </a:p>
        </p:txBody>
      </p:sp>
      <p:sp>
        <p:nvSpPr>
          <p:cNvPr id="26" name="TextBox 25"/>
          <p:cNvSpPr txBox="1"/>
          <p:nvPr/>
        </p:nvSpPr>
        <p:spPr>
          <a:xfrm>
            <a:off x="8366759"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Instrument and phase models trained on a few specialties degrade on new hospitals, scopes and lighting, and there is no systematic way to see which slices fail.</a:t>
            </a:r>
          </a:p>
        </p:txBody>
      </p:sp>
      <p:sp>
        <p:nvSpPr>
          <p:cNvPr id="27" name="TextBox 26"/>
          <p:cNvSpPr txBox="1"/>
          <p:nvPr/>
        </p:nvSpPr>
        <p:spPr>
          <a:xfrm>
            <a:off x="8366759"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8" name="TextBox 27"/>
          <p:cNvSpPr txBox="1"/>
          <p:nvPr/>
        </p:nvSpPr>
        <p:spPr>
          <a:xfrm>
            <a:off x="8366759"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500+ facilities, 50 countries, 40+ medtech partners implies heavy site and device variation; Intelligence Suite is sold on real-time CV.</a:t>
            </a:r>
          </a:p>
        </p:txBody>
      </p:sp>
      <p:sp>
        <p:nvSpPr>
          <p:cNvPr id="29" name="TextBox 28"/>
          <p:cNvSpPr txBox="1"/>
          <p:nvPr/>
        </p:nvSpPr>
        <p:spPr>
          <a:xfrm>
            <a:off x="8366759"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30" name="TextBox 29"/>
          <p:cNvSpPr txBox="1"/>
          <p:nvPr/>
        </p:nvSpPr>
        <p:spPr>
          <a:xfrm>
            <a:off x="8366759"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Active imports their predictions and reports mAP/F1, PR curves and confusion matrix sliced by class, IoU threshold and any data metric such as brightness or sharpness, then correlates failure to data metrics so they know which cases to label 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A STARTING ONTOLOGY</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 would label for Proximie, and how</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4</a:t>
            </a:r>
          </a:p>
        </p:txBody>
      </p:sp>
      <p:sp>
        <p:nvSpPr>
          <p:cNvPr id="7" name="TextBox 6"/>
          <p:cNvSpPr txBox="1"/>
          <p:nvPr/>
        </p:nvSpPr>
        <p:spPr>
          <a:xfrm>
            <a:off x="640080" y="1691640"/>
            <a:ext cx="10972800" cy="365760"/>
          </a:xfrm>
          <a:prstGeom prst="rect">
            <a:avLst/>
          </a:prstGeom>
          <a:noFill/>
        </p:spPr>
        <p:txBody>
          <a:bodyPr wrap="square" anchor="t" lIns="0" rIns="0" tIns="0" bIns="0">
            <a:spAutoFit/>
          </a:bodyPr>
          <a:lstStyle/>
          <a:p>
            <a:pPr algn="l">
              <a:spcAft>
                <a:spcPts val="400"/>
              </a:spcAft>
            </a:pPr>
            <a:r>
              <a:rPr sz="1200" b="0">
                <a:solidFill>
                  <a:srgbClr val="5D6180"/>
                </a:solidFill>
                <a:latin typeface="Calibri"/>
              </a:rPr>
              <a:t>A proposal to argue with. The shapes matter: they decide what the model can learn and what the labellers spend time on.</a:t>
            </a:r>
          </a:p>
        </p:txBody>
      </p:sp>
      <p:graphicFrame>
        <p:nvGraphicFramePr>
          <p:cNvPr id="8" name="Table 7"/>
          <p:cNvGraphicFramePr>
            <a:graphicFrameLocks noGrp="1"/>
          </p:cNvGraphicFramePr>
          <p:nvPr/>
        </p:nvGraphicFramePr>
        <p:xfrm>
          <a:off x="640080" y="2194560"/>
          <a:ext cx="10881360" cy="3291840"/>
        </p:xfrm>
        <a:graphic>
          <a:graphicData uri="http://schemas.openxmlformats.org/drawingml/2006/table">
            <a:tbl>
              <a:tblPr firstRow="1" bandRow="1">
                <a:tableStyleId>{5C22544A-7EE6-4342-B048-85BDC9FD1C3A}</a:tableStyleId>
              </a:tblPr>
              <a:tblGrid>
                <a:gridCol w="2926080"/>
                <a:gridCol w="1828800"/>
                <a:gridCol w="6126480"/>
              </a:tblGrid>
              <a:tr h="365760">
                <a:tc>
                  <a:txBody>
                    <a:bodyPr/>
                    <a:lstStyle/>
                    <a:p>
                      <a:r>
                        <a:rPr sz="1100" b="1">
                          <a:solidFill>
                            <a:srgbClr val="FFFFFF"/>
                          </a:solidFill>
                          <a:latin typeface="Calibri"/>
                        </a:rPr>
                        <a:t>Class</a:t>
                      </a:r>
                    </a:p>
                  </a:txBody>
                  <a:tcPr>
                    <a:solidFill>
                      <a:srgbClr val="4F46E5"/>
                    </a:solidFill>
                  </a:tcPr>
                </a:tc>
                <a:tc>
                  <a:txBody>
                    <a:bodyPr/>
                    <a:lstStyle/>
                    <a:p>
                      <a:r>
                        <a:rPr sz="1100" b="1">
                          <a:solidFill>
                            <a:srgbClr val="FFFFFF"/>
                          </a:solidFill>
                          <a:latin typeface="Calibri"/>
                        </a:rPr>
                        <a:t>Shape</a:t>
                      </a:r>
                    </a:p>
                  </a:txBody>
                  <a:tcPr>
                    <a:solidFill>
                      <a:srgbClr val="4F46E5"/>
                    </a:solidFill>
                  </a:tcPr>
                </a:tc>
                <a:tc>
                  <a:txBody>
                    <a:bodyPr/>
                    <a:lstStyle/>
                    <a:p>
                      <a:r>
                        <a:rPr sz="1100" b="1">
                          <a:solidFill>
                            <a:srgbClr val="FFFFFF"/>
                          </a:solidFill>
                          <a:latin typeface="Calibri"/>
                        </a:rPr>
                        <a:t>Why this shape</a:t>
                      </a:r>
                    </a:p>
                  </a:txBody>
                  <a:tcPr>
                    <a:solidFill>
                      <a:srgbClr val="4F46E5"/>
                    </a:solidFill>
                  </a:tcPr>
                </a:tc>
              </a:tr>
              <a:tr h="365760">
                <a:tc>
                  <a:txBody>
                    <a:bodyPr/>
                    <a:lstStyle/>
                    <a:p>
                      <a:r>
                        <a:rPr sz="1050" b="1">
                          <a:solidFill>
                            <a:srgbClr val="171A33"/>
                          </a:solidFill>
                          <a:latin typeface="Calibri"/>
                        </a:rPr>
                        <a:t>Surgical phase / step</a:t>
                      </a:r>
                    </a:p>
                  </a:txBody>
                  <a:tcPr>
                    <a:solidFill>
                      <a:srgbClr val="FFFFFF"/>
                    </a:solidFill>
                  </a:tcPr>
                </a:tc>
                <a:tc>
                  <a:txBody>
                    <a:bodyPr/>
                    <a:lstStyle/>
                    <a:p>
                      <a:r>
                        <a:rPr sz="1050" b="0">
                          <a:solidFill>
                            <a:srgbClr val="171A33"/>
                          </a:solidFill>
                          <a:latin typeface="Calibri"/>
                        </a:rPr>
                        <a:t>frame classification</a:t>
                      </a:r>
                    </a:p>
                  </a:txBody>
                  <a:tcPr>
                    <a:solidFill>
                      <a:srgbClr val="FFFFFF"/>
                    </a:solidFill>
                  </a:tcPr>
                </a:tc>
                <a:tc>
                  <a:txBody>
                    <a:bodyPr/>
                    <a:lstStyle/>
                    <a:p>
                      <a:r>
                        <a:rPr sz="1050" b="0">
                          <a:solidFill>
                            <a:srgbClr val="171A33"/>
                          </a:solidFill>
                          <a:latin typeface="Calibri"/>
                        </a:rPr>
                        <a:t>Core timing and throughput signal; phases are temporal spans, not objects.</a:t>
                      </a:r>
                    </a:p>
                  </a:txBody>
                  <a:tcPr>
                    <a:solidFill>
                      <a:srgbClr val="FFFFFF"/>
                    </a:solidFill>
                  </a:tcPr>
                </a:tc>
              </a:tr>
              <a:tr h="365760">
                <a:tc>
                  <a:txBody>
                    <a:bodyPr/>
                    <a:lstStyle/>
                    <a:p>
                      <a:r>
                        <a:rPr sz="1050" b="1">
                          <a:solidFill>
                            <a:srgbClr val="171A33"/>
                          </a:solidFill>
                          <a:latin typeface="Calibri"/>
                        </a:rPr>
                        <a:t>Instrument tip and shaft</a:t>
                      </a:r>
                    </a:p>
                  </a:txBody>
                  <a:tcPr>
                    <a:solidFill>
                      <a:srgbClr val="EEEDFB"/>
                    </a:solidFill>
                  </a:tcPr>
                </a:tc>
                <a:tc>
                  <a:txBody>
                    <a:bodyPr/>
                    <a:lstStyle/>
                    <a:p>
                      <a:r>
                        <a:rPr sz="1050" b="0">
                          <a:solidFill>
                            <a:srgbClr val="171A33"/>
                          </a:solidFill>
                          <a:latin typeface="Calibri"/>
                        </a:rPr>
                        <a:t>polyline</a:t>
                      </a:r>
                    </a:p>
                  </a:txBody>
                  <a:tcPr>
                    <a:solidFill>
                      <a:srgbClr val="EEEDFB"/>
                    </a:solidFill>
                  </a:tcPr>
                </a:tc>
                <a:tc>
                  <a:txBody>
                    <a:bodyPr/>
                    <a:lstStyle/>
                    <a:p>
                      <a:r>
                        <a:rPr sz="1050" b="0">
                          <a:solidFill>
                            <a:srgbClr val="171A33"/>
                          </a:solidFill>
                          <a:latin typeface="Calibri"/>
                        </a:rPr>
                        <a:t>Captures tool trajectory and economy of motion better than a box.</a:t>
                      </a:r>
                    </a:p>
                  </a:txBody>
                  <a:tcPr>
                    <a:solidFill>
                      <a:srgbClr val="EEEDFB"/>
                    </a:solidFill>
                  </a:tcPr>
                </a:tc>
              </a:tr>
              <a:tr h="365760">
                <a:tc>
                  <a:txBody>
                    <a:bodyPr/>
                    <a:lstStyle/>
                    <a:p>
                      <a:r>
                        <a:rPr sz="1050" b="1">
                          <a:solidFill>
                            <a:srgbClr val="171A33"/>
                          </a:solidFill>
                          <a:latin typeface="Calibri"/>
                        </a:rPr>
                        <a:t>Instrument instance</a:t>
                      </a:r>
                    </a:p>
                  </a:txBody>
                  <a:tcPr>
                    <a:solidFill>
                      <a:srgbClr val="FFFFFF"/>
                    </a:solidFill>
                  </a:tcPr>
                </a:tc>
                <a:tc>
                  <a:txBody>
                    <a:bodyPr/>
                    <a:lstStyle/>
                    <a:p>
                      <a:r>
                        <a:rPr sz="1050" b="0">
                          <a:solidFill>
                            <a:srgbClr val="171A33"/>
                          </a:solidFill>
                          <a:latin typeface="Calibri"/>
                        </a:rPr>
                        <a:t>bounding box</a:t>
                      </a:r>
                    </a:p>
                  </a:txBody>
                  <a:tcPr>
                    <a:solidFill>
                      <a:srgbClr val="FFFFFF"/>
                    </a:solidFill>
                  </a:tcPr>
                </a:tc>
                <a:tc>
                  <a:txBody>
                    <a:bodyPr/>
                    <a:lstStyle/>
                    <a:p>
                      <a:r>
                        <a:rPr sz="1050" b="0">
                          <a:solidFill>
                            <a:srgbClr val="171A33"/>
                          </a:solidFill>
                          <a:latin typeface="Calibri"/>
                        </a:rPr>
                        <a:t>Fast, trackable across video for tool presence, counts and usage analytics.</a:t>
                      </a:r>
                    </a:p>
                  </a:txBody>
                  <a:tcPr>
                    <a:solidFill>
                      <a:srgbClr val="FFFFFF"/>
                    </a:solidFill>
                  </a:tcPr>
                </a:tc>
              </a:tr>
              <a:tr h="365760">
                <a:tc>
                  <a:txBody>
                    <a:bodyPr/>
                    <a:lstStyle/>
                    <a:p>
                      <a:r>
                        <a:rPr sz="1050" b="1">
                          <a:solidFill>
                            <a:srgbClr val="171A33"/>
                          </a:solidFill>
                          <a:latin typeface="Calibri"/>
                        </a:rPr>
                        <a:t>Anatomy / target organ</a:t>
                      </a:r>
                    </a:p>
                  </a:txBody>
                  <a:tcPr>
                    <a:solidFill>
                      <a:srgbClr val="EEEDFB"/>
                    </a:solidFill>
                  </a:tcPr>
                </a:tc>
                <a:tc>
                  <a:txBody>
                    <a:bodyPr/>
                    <a:lstStyle/>
                    <a:p>
                      <a:r>
                        <a:rPr sz="1050" b="0">
                          <a:solidFill>
                            <a:srgbClr val="171A33"/>
                          </a:solidFill>
                          <a:latin typeface="Calibri"/>
                        </a:rPr>
                        <a:t>bitmask</a:t>
                      </a:r>
                    </a:p>
                  </a:txBody>
                  <a:tcPr>
                    <a:solidFill>
                      <a:srgbClr val="EEEDFB"/>
                    </a:solidFill>
                  </a:tcPr>
                </a:tc>
                <a:tc>
                  <a:txBody>
                    <a:bodyPr/>
                    <a:lstStyle/>
                    <a:p>
                      <a:r>
                        <a:rPr sz="1050" b="0">
                          <a:solidFill>
                            <a:srgbClr val="171A33"/>
                          </a:solidFill>
                          <a:latin typeface="Calibri"/>
                        </a:rPr>
                        <a:t>Irregular soft tissue boundaries; SAM 3 auto-segmentation suits this well.</a:t>
                      </a:r>
                    </a:p>
                  </a:txBody>
                  <a:tcPr>
                    <a:solidFill>
                      <a:srgbClr val="EEEDFB"/>
                    </a:solidFill>
                  </a:tcPr>
                </a:tc>
              </a:tr>
              <a:tr h="365760">
                <a:tc>
                  <a:txBody>
                    <a:bodyPr/>
                    <a:lstStyle/>
                    <a:p>
                      <a:r>
                        <a:rPr sz="1050" b="1">
                          <a:solidFill>
                            <a:srgbClr val="171A33"/>
                          </a:solidFill>
                          <a:latin typeface="Calibri"/>
                        </a:rPr>
                        <a:t>Critical view / safety landmark</a:t>
                      </a:r>
                    </a:p>
                  </a:txBody>
                  <a:tcPr>
                    <a:solidFill>
                      <a:srgbClr val="FFFFFF"/>
                    </a:solidFill>
                  </a:tcPr>
                </a:tc>
                <a:tc>
                  <a:txBody>
                    <a:bodyPr/>
                    <a:lstStyle/>
                    <a:p>
                      <a:r>
                        <a:rPr sz="1050" b="0">
                          <a:solidFill>
                            <a:srgbClr val="171A33"/>
                          </a:solidFill>
                          <a:latin typeface="Calibri"/>
                        </a:rPr>
                        <a:t>polygon</a:t>
                      </a:r>
                    </a:p>
                  </a:txBody>
                  <a:tcPr>
                    <a:solidFill>
                      <a:srgbClr val="FFFFFF"/>
                    </a:solidFill>
                  </a:tcPr>
                </a:tc>
                <a:tc>
                  <a:txBody>
                    <a:bodyPr/>
                    <a:lstStyle/>
                    <a:p>
                      <a:r>
                        <a:rPr sz="1050" b="0">
                          <a:solidFill>
                            <a:srgbClr val="171A33"/>
                          </a:solidFill>
                          <a:latin typeface="Calibri"/>
                        </a:rPr>
                        <a:t>Clinically defined region used in quality and training scoring.</a:t>
                      </a:r>
                    </a:p>
                  </a:txBody>
                  <a:tcPr>
                    <a:solidFill>
                      <a:srgbClr val="FFFFFF"/>
                    </a:solidFill>
                  </a:tcPr>
                </a:tc>
              </a:tr>
              <a:tr h="365760">
                <a:tc>
                  <a:txBody>
                    <a:bodyPr/>
                    <a:lstStyle/>
                    <a:p>
                      <a:r>
                        <a:rPr sz="1050" b="1">
                          <a:solidFill>
                            <a:srgbClr val="171A33"/>
                          </a:solidFill>
                          <a:latin typeface="Calibri"/>
                        </a:rPr>
                        <a:t>Implant or device under evaluation</a:t>
                      </a:r>
                    </a:p>
                  </a:txBody>
                  <a:tcPr>
                    <a:solidFill>
                      <a:srgbClr val="EEEDFB"/>
                    </a:solidFill>
                  </a:tcPr>
                </a:tc>
                <a:tc>
                  <a:txBody>
                    <a:bodyPr/>
                    <a:lstStyle/>
                    <a:p>
                      <a:r>
                        <a:rPr sz="1050" b="0">
                          <a:solidFill>
                            <a:srgbClr val="171A33"/>
                          </a:solidFill>
                          <a:latin typeface="Calibri"/>
                        </a:rPr>
                        <a:t>bounding box</a:t>
                      </a:r>
                    </a:p>
                  </a:txBody>
                  <a:tcPr>
                    <a:solidFill>
                      <a:srgbClr val="EEEDFB"/>
                    </a:solidFill>
                  </a:tcPr>
                </a:tc>
                <a:tc>
                  <a:txBody>
                    <a:bodyPr/>
                    <a:lstStyle/>
                    <a:p>
                      <a:r>
                        <a:rPr sz="1050" b="0">
                          <a:solidFill>
                            <a:srgbClr val="171A33"/>
                          </a:solidFill>
                          <a:latin typeface="Calibri"/>
                        </a:rPr>
                        <a:t>Medtech partners pay for product usage and adoption evidence.</a:t>
                      </a:r>
                    </a:p>
                  </a:txBody>
                  <a:tcPr>
                    <a:solidFill>
                      <a:srgbClr val="EEEDFB"/>
                    </a:solidFill>
                  </a:tcPr>
                </a:tc>
              </a:tr>
              <a:tr h="365760">
                <a:tc>
                  <a:txBody>
                    <a:bodyPr/>
                    <a:lstStyle/>
                    <a:p>
                      <a:r>
                        <a:rPr sz="1050" b="1">
                          <a:solidFill>
                            <a:srgbClr val="171A33"/>
                          </a:solidFill>
                          <a:latin typeface="Calibri"/>
                        </a:rPr>
                        <a:t>Bleeding or adverse event</a:t>
                      </a:r>
                    </a:p>
                  </a:txBody>
                  <a:tcPr>
                    <a:solidFill>
                      <a:srgbClr val="FFFFFF"/>
                    </a:solidFill>
                  </a:tcPr>
                </a:tc>
                <a:tc>
                  <a:txBody>
                    <a:bodyPr/>
                    <a:lstStyle/>
                    <a:p>
                      <a:r>
                        <a:rPr sz="1050" b="0">
                          <a:solidFill>
                            <a:srgbClr val="171A33"/>
                          </a:solidFill>
                          <a:latin typeface="Calibri"/>
                        </a:rPr>
                        <a:t>frame classification</a:t>
                      </a:r>
                    </a:p>
                  </a:txBody>
                  <a:tcPr>
                    <a:solidFill>
                      <a:srgbClr val="FFFFFF"/>
                    </a:solidFill>
                  </a:tcPr>
                </a:tc>
                <a:tc>
                  <a:txBody>
                    <a:bodyPr/>
                    <a:lstStyle/>
                    <a:p>
                      <a:r>
                        <a:rPr sz="1050" b="0">
                          <a:solidFill>
                            <a:srgbClr val="171A33"/>
                          </a:solidFill>
                          <a:latin typeface="Calibri"/>
                        </a:rPr>
                        <a:t>Rare event flag for retrieval and for safety reporting in the NHS study.</a:t>
                      </a:r>
                    </a:p>
                  </a:txBody>
                  <a:tcPr>
                    <a:solidFill>
                      <a:srgbClr val="FFFFFF"/>
                    </a:solidFill>
                  </a:tcPr>
                </a:tc>
              </a:tr>
              <a:tr h="365760">
                <a:tc>
                  <a:txBody>
                    <a:bodyPr/>
                    <a:lstStyle/>
                    <a:p>
                      <a:r>
                        <a:rPr sz="1050" b="1">
                          <a:solidFill>
                            <a:srgbClr val="171A33"/>
                          </a:solidFill>
                          <a:latin typeface="Calibri"/>
                        </a:rPr>
                        <a:t>Out of body / privacy risk frame</a:t>
                      </a:r>
                    </a:p>
                  </a:txBody>
                  <a:tcPr>
                    <a:solidFill>
                      <a:srgbClr val="EEEDFB"/>
                    </a:solidFill>
                  </a:tcPr>
                </a:tc>
                <a:tc>
                  <a:txBody>
                    <a:bodyPr/>
                    <a:lstStyle/>
                    <a:p>
                      <a:r>
                        <a:rPr sz="1050" b="0">
                          <a:solidFill>
                            <a:srgbClr val="171A33"/>
                          </a:solidFill>
                          <a:latin typeface="Calibri"/>
                        </a:rPr>
                        <a:t>frame classification</a:t>
                      </a:r>
                    </a:p>
                  </a:txBody>
                  <a:tcPr>
                    <a:solidFill>
                      <a:srgbClr val="EEEDFB"/>
                    </a:solidFill>
                  </a:tcPr>
                </a:tc>
                <a:tc>
                  <a:txBody>
                    <a:bodyPr/>
                    <a:lstStyle/>
                    <a:p>
                      <a:r>
                        <a:rPr sz="1050" b="0">
                          <a:solidFill>
                            <a:srgbClr val="171A33"/>
                          </a:solidFill>
                          <a:latin typeface="Calibri"/>
                        </a:rPr>
                        <a:t>Scope out of body frames must be excluded before any human review.</a:t>
                      </a:r>
                    </a:p>
                  </a:txBody>
                  <a:tcPr>
                    <a:solidFill>
                      <a:srgbClr val="EEED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ENCORD FITS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Lead with Index then Annotate, the rest follows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5</a:t>
            </a:r>
          </a:p>
        </p:txBody>
      </p:sp>
      <p:sp>
        <p:nvSpPr>
          <p:cNvPr id="7" name="Rectangle 6"/>
          <p:cNvSpPr/>
          <p:nvPr/>
        </p:nvSpPr>
        <p:spPr>
          <a:xfrm>
            <a:off x="640080" y="173736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Index</a:t>
            </a:r>
          </a:p>
        </p:txBody>
      </p:sp>
      <p:sp>
        <p:nvSpPr>
          <p:cNvPr id="9" name="TextBox 8"/>
          <p:cNvSpPr txBox="1"/>
          <p:nvPr/>
        </p:nvSpPr>
        <p:spPr>
          <a:xfrm>
            <a:off x="868680" y="2029967"/>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Register the data where it already lives. Embeddings and quality metrics on every frame. Find the frames worth labelling; drop the repeats.</a:t>
            </a:r>
          </a:p>
        </p:txBody>
      </p:sp>
      <p:sp>
        <p:nvSpPr>
          <p:cNvPr id="10" name="Rectangle 9"/>
          <p:cNvSpPr/>
          <p:nvPr/>
        </p:nvSpPr>
        <p:spPr>
          <a:xfrm>
            <a:off x="640080" y="274320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Annotate</a:t>
            </a:r>
          </a:p>
        </p:txBody>
      </p:sp>
      <p:sp>
        <p:nvSpPr>
          <p:cNvPr id="12" name="TextBox 11"/>
          <p:cNvSpPr txBox="1"/>
          <p:nvPr/>
        </p:nvSpPr>
        <p:spPr>
          <a:xfrm>
            <a:off x="868680" y="303580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Label video, 3D and images with SAM auto-segmentation and tracking. Ontology, review workflow, managed workforce if needed.</a:t>
            </a:r>
          </a:p>
        </p:txBody>
      </p:sp>
      <p:sp>
        <p:nvSpPr>
          <p:cNvPr id="13" name="Rectangle 12"/>
          <p:cNvSpPr/>
          <p:nvPr/>
        </p:nvSpPr>
        <p:spPr>
          <a:xfrm>
            <a:off x="640080" y="374903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Active</a:t>
            </a:r>
          </a:p>
        </p:txBody>
      </p:sp>
      <p:sp>
        <p:nvSpPr>
          <p:cNvPr id="15" name="TextBox 14"/>
          <p:cNvSpPr txBox="1"/>
          <p:nvPr/>
        </p:nvSpPr>
        <p:spPr>
          <a:xfrm>
            <a:off x="868680" y="404164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Import predictions. Accuracy by class, site and condition. Find label errors. Know exactly what to label next.</a:t>
            </a:r>
          </a:p>
        </p:txBody>
      </p:sp>
      <p:sp>
        <p:nvSpPr>
          <p:cNvPr id="16" name="Rectangle 15"/>
          <p:cNvSpPr/>
          <p:nvPr/>
        </p:nvSpPr>
        <p:spPr>
          <a:xfrm>
            <a:off x="640080" y="475487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Agents</a:t>
            </a:r>
          </a:p>
        </p:txBody>
      </p:sp>
      <p:sp>
        <p:nvSpPr>
          <p:cNvPr id="18" name="TextBox 17"/>
          <p:cNvSpPr txBox="1"/>
          <p:nvPr/>
        </p:nvSpPr>
        <p:spPr>
          <a:xfrm>
            <a:off x="868680" y="504748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Run your own model as a workflow stage to pre-label and QA, so people adjudicate rather than draw.</a:t>
            </a:r>
          </a:p>
        </p:txBody>
      </p:sp>
      <p:sp>
        <p:nvSpPr>
          <p:cNvPr id="19" name="Rectangle 18"/>
          <p:cNvSpPr/>
          <p:nvPr/>
        </p:nvSpPr>
        <p:spPr>
          <a:xfrm>
            <a:off x="6583680" y="1737360"/>
            <a:ext cx="4937760" cy="402336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0" y="1737360"/>
            <a:ext cx="493776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1965960"/>
            <a:ext cx="45720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CLOSEST CASE STUDY</a:t>
            </a:r>
          </a:p>
        </p:txBody>
      </p:sp>
      <p:sp>
        <p:nvSpPr>
          <p:cNvPr id="22" name="TextBox 21"/>
          <p:cNvSpPr txBox="1"/>
          <p:nvPr/>
        </p:nvSpPr>
        <p:spPr>
          <a:xfrm>
            <a:off x="6812280" y="2240280"/>
            <a:ext cx="4572000" cy="457200"/>
          </a:xfrm>
          <a:prstGeom prst="rect">
            <a:avLst/>
          </a:prstGeom>
          <a:noFill/>
        </p:spPr>
        <p:txBody>
          <a:bodyPr wrap="square" anchor="t" lIns="0" rIns="0" tIns="0" bIns="0">
            <a:spAutoFit/>
          </a:bodyPr>
          <a:lstStyle/>
          <a:p>
            <a:pPr algn="l">
              <a:spcAft>
                <a:spcPts val="400"/>
              </a:spcAft>
            </a:pPr>
            <a:r>
              <a:rPr sz="2000" b="1">
                <a:solidFill>
                  <a:srgbClr val="171A33"/>
                </a:solidFill>
                <a:latin typeface="Calibri"/>
              </a:rPr>
              <a:t>Harvard Medical School and Massachusetts General Hospital</a:t>
            </a:r>
          </a:p>
        </p:txBody>
      </p:sp>
      <p:sp>
        <p:nvSpPr>
          <p:cNvPr id="23" name="TextBox 22"/>
          <p:cNvSpPr txBox="1"/>
          <p:nvPr/>
        </p:nvSpPr>
        <p:spPr>
          <a:xfrm>
            <a:off x="6812280" y="2743200"/>
            <a:ext cx="4572000" cy="822960"/>
          </a:xfrm>
          <a:prstGeom prst="rect">
            <a:avLst/>
          </a:prstGeom>
          <a:noFill/>
        </p:spPr>
        <p:txBody>
          <a:bodyPr wrap="square" anchor="t" lIns="0" rIns="0" tIns="0" bIns="0">
            <a:spAutoFit/>
          </a:bodyPr>
          <a:lstStyle/>
          <a:p>
            <a:pPr algn="l">
              <a:spcAft>
                <a:spcPts val="400"/>
              </a:spcAft>
            </a:pPr>
            <a:r>
              <a:rPr sz="1400" b="1">
                <a:solidFill>
                  <a:srgbClr val="4F46E5"/>
                </a:solidFill>
                <a:latin typeface="Calibri"/>
              </a:rPr>
              <a:t>Annotation time reduced from days to minutes on medical imaging; Encord holds SOC2 Type II, HIPAA and GDPR, with data staying in the customer's own bucket.</a:t>
            </a:r>
          </a:p>
        </p:txBody>
      </p:sp>
      <p:sp>
        <p:nvSpPr>
          <p:cNvPr id="24" name="TextBox 23"/>
          <p:cNvSpPr txBox="1"/>
          <p:nvPr/>
        </p:nvSpPr>
        <p:spPr>
          <a:xfrm>
            <a:off x="6812280" y="3566160"/>
            <a:ext cx="4572000" cy="2103120"/>
          </a:xfrm>
          <a:prstGeom prst="rect">
            <a:avLst/>
          </a:prstGeom>
          <a:noFill/>
        </p:spPr>
        <p:txBody>
          <a:bodyPr wrap="square" anchor="t" lIns="0" rIns="0" tIns="0" bIns="0">
            <a:spAutoFit/>
          </a:bodyPr>
          <a:lstStyle/>
          <a:p>
            <a:pPr algn="l">
              <a:spcAft>
                <a:spcPts val="400"/>
              </a:spcAft>
            </a:pPr>
            <a:r>
              <a:rPr sz="1100" b="0">
                <a:solidFill>
                  <a:srgbClr val="171A33"/>
                </a:solidFill>
                <a:latin typeface="Calibri"/>
              </a:rPr>
              <a:t>Clinician annotators, PHI sensitive imaging, academic grade ground truth for publication, which mirrors Proximie's NHS and journal publication posture.</a:t>
            </a:r>
          </a:p>
        </p:txBody>
      </p:sp>
      <p:sp>
        <p:nvSpPr>
          <p:cNvPr id="25" name="TextBox 24"/>
          <p:cNvSpPr txBox="1"/>
          <p:nvPr/>
        </p:nvSpPr>
        <p:spPr>
          <a:xfrm>
            <a:off x="640080" y="5943600"/>
            <a:ext cx="10972800" cy="36576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Data stays in your bucket. SOC2 Type II, HIPAA, GDPR. Everything the UI does, the SDK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PROPOSED NEXT STEP</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A two-week proof of value on one site's data</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6</a:t>
            </a:r>
          </a:p>
        </p:txBody>
      </p:sp>
      <p:sp>
        <p:nvSpPr>
          <p:cNvPr id="7" name="Rounded Rectangle 6"/>
          <p:cNvSpPr/>
          <p:nvPr/>
        </p:nvSpPr>
        <p:spPr>
          <a:xfrm>
            <a:off x="640080" y="182880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1</a:t>
            </a:r>
          </a:p>
        </p:txBody>
      </p:sp>
      <p:sp>
        <p:nvSpPr>
          <p:cNvPr id="9" name="TextBox 8"/>
          <p:cNvSpPr txBox="1"/>
          <p:nvPr/>
        </p:nvSpPr>
        <p:spPr>
          <a:xfrm>
            <a:off x="1280160" y="178308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1-2: register one de-identified procedure cohort (say 200 laparoscopic cases) from their existing AWS bucket into Index. Nothing moves. Success: embeddings and quality metrics computed, out of body and degraded frames auto-flagged.</a:t>
            </a:r>
          </a:p>
        </p:txBody>
      </p:sp>
      <p:sp>
        <p:nvSpPr>
          <p:cNvPr id="10" name="Rounded Rectangle 9"/>
          <p:cNvSpPr/>
          <p:nvPr/>
        </p:nvSpPr>
        <p:spPr>
          <a:xfrm>
            <a:off x="640080" y="265176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5176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2</a:t>
            </a:r>
          </a:p>
        </p:txBody>
      </p:sp>
      <p:sp>
        <p:nvSpPr>
          <p:cNvPr id="12" name="TextBox 11"/>
          <p:cNvSpPr txBox="1"/>
          <p:nvPr/>
        </p:nvSpPr>
        <p:spPr>
          <a:xfrm>
            <a:off x="1280160" y="260604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3-5: build Collections by similarity and uniqueness, then compare a curated frame set against a random set of equal size. Success metric: at least 50 percent fewer frames to label while retaining 95 percent of instrument and phase events.</a:t>
            </a:r>
          </a:p>
        </p:txBody>
      </p:sp>
      <p:sp>
        <p:nvSpPr>
          <p:cNvPr id="13" name="Rounded Rectangle 12"/>
          <p:cNvSpPr/>
          <p:nvPr/>
        </p:nvSpPr>
        <p:spPr>
          <a:xfrm>
            <a:off x="640080" y="347472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47472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3</a:t>
            </a:r>
          </a:p>
        </p:txBody>
      </p:sp>
      <p:sp>
        <p:nvSpPr>
          <p:cNvPr id="15" name="TextBox 14"/>
          <p:cNvSpPr txBox="1"/>
          <p:nvPr/>
        </p:nvSpPr>
        <p:spPr>
          <a:xfrm>
            <a:off x="1280160" y="342900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1-3: stand up the phase plus instrument ontology in Annotate with an annotate to review to complete workflow, sampled clinician review and SAM 3 plus object tracking on a 20 case pilot. Success: median minutes of surgeon time per case, versus their current baseline.</a:t>
            </a:r>
          </a:p>
        </p:txBody>
      </p:sp>
      <p:sp>
        <p:nvSpPr>
          <p:cNvPr id="16" name="Rounded Rectangle 15"/>
          <p:cNvSpPr/>
          <p:nvPr/>
        </p:nvSpPr>
        <p:spPr>
          <a:xfrm>
            <a:off x="640080" y="429768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9768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4</a:t>
            </a:r>
          </a:p>
        </p:txBody>
      </p:sp>
      <p:sp>
        <p:nvSpPr>
          <p:cNvPr id="18" name="TextBox 17"/>
          <p:cNvSpPr txBox="1"/>
          <p:nvPr/>
        </p:nvSpPr>
        <p:spPr>
          <a:xfrm>
            <a:off x="1280160" y="425196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4: run an Agents stage with their existing phase model as a pre-labeller on the same cases. Success: percentage of pre-labels accepted without edit.</a:t>
            </a:r>
          </a:p>
        </p:txBody>
      </p:sp>
      <p:sp>
        <p:nvSpPr>
          <p:cNvPr id="19" name="Rounded Rectangle 18"/>
          <p:cNvSpPr/>
          <p:nvPr/>
        </p:nvSpPr>
        <p:spPr>
          <a:xfrm>
            <a:off x="640080" y="512064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12064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5</a:t>
            </a:r>
          </a:p>
        </p:txBody>
      </p:sp>
      <p:sp>
        <p:nvSpPr>
          <p:cNvPr id="21" name="TextBox 20"/>
          <p:cNvSpPr txBox="1"/>
          <p:nvPr/>
        </p:nvSpPr>
        <p:spPr>
          <a:xfrm>
            <a:off x="1280160" y="507492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5: import their model predictions into Active, produce mAP/F1 by class and confusion matrix sliced by hospital, scope and brightness. Success: a ranked list of the next 500 clips to label, plus a count of label errors found in their existing ground truth.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LET'S TEST IT</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we'd like to learn from you</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7</a:t>
            </a:r>
          </a:p>
        </p:txBody>
      </p:sp>
      <p:sp>
        <p:nvSpPr>
          <p:cNvPr id="7" name="TextBox 6"/>
          <p:cNvSpPr txBox="1"/>
          <p:nvPr/>
        </p:nvSpPr>
        <p:spPr>
          <a:xfrm>
            <a:off x="640080" y="1737360"/>
            <a:ext cx="6583680" cy="4114800"/>
          </a:xfrm>
          <a:prstGeom prst="rect">
            <a:avLst/>
          </a:prstGeom>
          <a:noFill/>
        </p:spPr>
        <p:txBody>
          <a:bodyPr wrap="square" anchor="t" lIns="0" rIns="0" tIns="0" bIns="0">
            <a:spAutoFit/>
          </a:bodyPr>
          <a:lstStyle/>
          <a:p>
            <a:pPr algn="l">
              <a:spcAft>
                <a:spcPts val="1000"/>
              </a:spcAft>
            </a:pPr>
            <a:r>
              <a:rPr sz="1400" b="0">
                <a:solidFill>
                  <a:srgbClr val="171A33"/>
                </a:solidFill>
                <a:latin typeface="Calibri"/>
              </a:rPr>
              <a:t>•  For the AWS, Deloitte and NHS evaluation, who creates the ground truth labels, and how do you currently evidence reviewer agreement and audit trail to the trusts?</a:t>
            </a:r>
          </a:p>
          <a:p>
            <a:pPr algn="l">
              <a:spcAft>
                <a:spcPts val="1000"/>
              </a:spcAft>
            </a:pPr>
            <a:r>
              <a:rPr sz="1400" b="0">
                <a:solidFill>
                  <a:srgbClr val="171A33"/>
                </a:solidFill>
                <a:latin typeface="Calibri"/>
              </a:rPr>
              <a:t>•  How do you decide which of the 100+ terabytes to annotate today, by procedure type, by surgeon request, or by something at frame level?</a:t>
            </a:r>
          </a:p>
          <a:p>
            <a:pPr algn="l">
              <a:spcAft>
                <a:spcPts val="1000"/>
              </a:spcAft>
            </a:pPr>
            <a:r>
              <a:rPr sz="1400" b="0">
                <a:solidFill>
                  <a:srgbClr val="171A33"/>
                </a:solidFill>
                <a:latin typeface="Calibri"/>
              </a:rPr>
              <a:t>•  What does a surgeon annotator actually see, an internal viewer, a vendor tool, or something like CVAT, and how many minutes per case does it take?</a:t>
            </a:r>
          </a:p>
          <a:p>
            <a:pPr algn="l">
              <a:spcAft>
                <a:spcPts val="1000"/>
              </a:spcAft>
            </a:pPr>
            <a:r>
              <a:rPr sz="1400" b="0">
                <a:solidFill>
                  <a:srgbClr val="171A33"/>
                </a:solidFill>
                <a:latin typeface="Calibri"/>
              </a:rPr>
              <a:t>•  When a phase or instrument model underperforms at a new site, how do you currently find out which slices are failing and what to label next?</a:t>
            </a:r>
          </a:p>
          <a:p>
            <a:pPr algn="l">
              <a:spcAft>
                <a:spcPts val="1000"/>
              </a:spcAft>
            </a:pPr>
            <a:r>
              <a:rPr sz="1400" b="0">
                <a:solidFill>
                  <a:srgbClr val="171A33"/>
                </a:solidFill>
                <a:latin typeface="Calibri"/>
              </a:rPr>
              <a:t>•  De-identification happens on the hardware, so what are the rules for where labelled frames can be stored and who can see them, and does data need to stay in your AWS account?</a:t>
            </a:r>
          </a:p>
        </p:txBody>
      </p:sp>
      <p:sp>
        <p:nvSpPr>
          <p:cNvPr id="8" name="Rectangle 7"/>
          <p:cNvSpPr/>
          <p:nvPr/>
        </p:nvSpPr>
        <p:spPr>
          <a:xfrm>
            <a:off x="7680960" y="1737360"/>
            <a:ext cx="3840480" cy="237744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965960"/>
            <a:ext cx="3383280" cy="274320"/>
          </a:xfrm>
          <a:prstGeom prst="rect">
            <a:avLst/>
          </a:prstGeom>
          <a:noFill/>
        </p:spPr>
        <p:txBody>
          <a:bodyPr wrap="square" anchor="t" lIns="0" rIns="0" tIns="0" bIns="0">
            <a:spAutoFit/>
          </a:bodyPr>
          <a:lstStyle/>
          <a:p>
            <a:pPr algn="l">
              <a:spcAft>
                <a:spcPts val="400"/>
              </a:spcAft>
            </a:pPr>
            <a:r>
              <a:rPr sz="1000" b="1">
                <a:solidFill>
                  <a:srgbClr val="B9BCDC"/>
                </a:solidFill>
                <a:latin typeface="Calibri"/>
              </a:rPr>
              <a:t>CONTACT</a:t>
            </a:r>
          </a:p>
        </p:txBody>
      </p:sp>
      <p:sp>
        <p:nvSpPr>
          <p:cNvPr id="10" name="TextBox 9"/>
          <p:cNvSpPr txBox="1"/>
          <p:nvPr/>
        </p:nvSpPr>
        <p:spPr>
          <a:xfrm>
            <a:off x="7955279" y="2286000"/>
            <a:ext cx="3383280" cy="1645920"/>
          </a:xfrm>
          <a:prstGeom prst="rect">
            <a:avLst/>
          </a:prstGeom>
          <a:noFill/>
        </p:spPr>
        <p:txBody>
          <a:bodyPr wrap="square" anchor="t" lIns="0" rIns="0" tIns="0" bIns="0">
            <a:spAutoFit/>
          </a:bodyPr>
          <a:lstStyle/>
          <a:p>
            <a:pPr algn="l">
              <a:spcAft>
                <a:spcPts val="600"/>
              </a:spcAft>
            </a:pPr>
            <a:r>
              <a:rPr sz="1300" b="0">
                <a:solidFill>
                  <a:srgbClr val="FFFFFF"/>
                </a:solidFill>
                <a:latin typeface="Calibri"/>
              </a:rPr>
              <a:t>Qais Al-Azkawi</a:t>
            </a:r>
          </a:p>
          <a:p>
            <a:pPr algn="l">
              <a:spcAft>
                <a:spcPts val="600"/>
              </a:spcAft>
            </a:pPr>
            <a:r>
              <a:rPr sz="1300" b="0">
                <a:solidFill>
                  <a:srgbClr val="FFFFFF"/>
                </a:solidFill>
                <a:latin typeface="Calibri"/>
              </a:rPr>
              <a:t>Commercial Associate, Encord</a:t>
            </a:r>
          </a:p>
          <a:p>
            <a:pPr algn="l">
              <a:spcAft>
                <a:spcPts val="600"/>
              </a:spcAft>
            </a:pPr>
            <a:r>
              <a:rPr sz="1300" b="0">
                <a:solidFill>
                  <a:srgbClr val="FFFFFF"/>
                </a:solidFill>
                <a:latin typeface="Calibri"/>
              </a:rPr>
              <a:t>qaisqas@gmail.com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