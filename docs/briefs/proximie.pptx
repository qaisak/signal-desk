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questions to test this:</a:t>
            </a:r>
          </a:p>
          <a:p>
            <a:r>
              <a:t>- For the NHS pilot, how many hours of theatre video do you expect to need labelled, and who actually does the labelling today, clinicians, an outsourced team or Deloitte?</a:t>
            </a:r>
          </a:p>
          <a:p>
            <a:r>
              <a:t>- What tool are your annotators in right now, and did you build it or buy it?</a:t>
            </a:r>
          </a:p>
          <a:p>
            <a:r>
              <a:t>- How do you currently decide which clips get labelled next, and how much of what you label turns out to be near-identical footage?</a:t>
            </a:r>
          </a:p>
          <a:p>
            <a:r>
              <a:t>- When a trust challenges a utilisation number, how do you show accuracy for that site and that procedure type specifically?</a:t>
            </a:r>
          </a:p>
          <a:p>
            <a:r>
              <a:t>- Where does the de-identification step happen, on the hardware or in the cloud, and what would have to be true for a labelling platform to sit alongside your AWS environment?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Confidence: medium</a:t>
            </a:r>
          </a:p>
          <a:p>
            <a:r>
              <a:t>Risks:</a:t>
            </a:r>
          </a:p>
          <a:p>
            <a:r>
              <a:t>- AWS and Deloitte are already in the room; labelling may be scoped into the SI contract or defaulted to SageMaker Ground Truth as part of the pilot's cloud credits.</a:t>
            </a:r>
          </a:p>
          <a:p>
            <a:r>
              <a:t>- On-device computer vision in their hardware suggests real in-house CV capability, so they may have built their own annotation and review tooling already.</a:t>
            </a:r>
          </a:p>
          <a:p>
            <a:r>
              <a:t>- NHS information governance on patient video could make even a bring-your-own-bucket deployment a multi-month approval, longer than the pilot window.</a:t>
            </a:r>
          </a:p>
          <a:p>
            <a:r>
              <a:t>- Around $11m estimated ARR means tooling budget is tight and likely tied to the pilot's funding rather than a standing platform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109728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ENCORD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577840"/>
            <a:ext cx="3200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Prepared 2026-09-29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9BCDC"/>
                </a:solidFill>
                <a:latin typeface="Calibri"/>
              </a:rPr>
              <a:t>DRAFT for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82880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71A33"/>
                </a:solidFill>
                <a:latin typeface="Calibri"/>
              </a:rPr>
              <a:t>Encord x Proximie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108960"/>
            <a:ext cx="6766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6180"/>
                </a:solidFill>
                <a:latin typeface="Calibri"/>
              </a:rPr>
              <a:t>Proximie has 100+ TB of theatre video and a new NHS/AWS/Deloitte pilot that must turn it into phase and instrument labels fast, but almost all of it is redundant footage that clinician annotators should never see.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76072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A first-meeting point of view. Everything here is our reading of public information; the questions are where we want to be corrected.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WHAT WE 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Proximie builds, and how we think the data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Proximie is an OR operating system: hardware plus cloud that records, streams and stores surgery from 500+ facilities, sold to hospital groups (NHS trusts) and 40+ medical device companies. The Intelligence Suite applies computer vision to that footage to measure throughput, utilisation and workflow; the Surgical Suite builds the video library for training and quality. Buyers pay for theatre capacity and for medtech product adoption insight.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73736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INFERRED PIPELINE (guesses marked)</a:t>
            </a:r>
          </a:p>
        </p:txBody>
      </p:sp>
      <p:sp>
        <p:nvSpPr>
          <p:cNvPr id="9" name="Oval 8"/>
          <p:cNvSpPr/>
          <p:nvPr/>
        </p:nvSpPr>
        <p:spPr>
          <a:xfrm>
            <a:off x="6217920" y="2103120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103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08483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Theatre hardware captures laparoscopic feed plus room cameras, with on-device computer vision used for privacy masking before upload (stated on site).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761487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761487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743199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Video lands in Proximie's cloud, most likely AWS S3 given the AWS pilot; roughly 100+ TB and growing (guess on volume split between room and scope video).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3419855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41985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401567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Clips are selected for AI work by procedure type or by whoever asks, rather than by frame-level quality or diversity metrics (guess, no evidence of a curation layer).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4078223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4078223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059935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Labelling of surgical phase, instruments and theatre milestones is done by a mix of clinical reviewers and an outsourced vendor, possibly inside a tool built in-house or via Deloitte (guess).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4736591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73659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718303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Models for phase recognition and utilisation timestamps are trained and evaluated offline, with aggregate accuracy reported rather than per-procedure or per-site slices (guess).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5394959"/>
            <a:ext cx="384048" cy="38404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5394959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376671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71A33"/>
                </a:solidFill>
                <a:latin typeface="Calibri"/>
              </a:rPr>
              <a:t>Outputs feed Intelligence Suite dashboards for throughput and turnaround time at each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WE THINK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Three hypotheses, ranked by how sure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Clinician annotator time is the bottleneck. Phase and instrument labelling on long, mostly uneventful surgical video means surgeons and scrub nurses watch hours of footage to produce a few useful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100+ TB of video and 80k recorded views on the site; the NHS pilot is framed as the largest AI theatre evaluation, so label volume steps up sharply.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Index ranks frames by quality and uniqueness and clusters by embedding, so reviewers only see the diverse 30-40%. Annotate adds native video timelines, frame classifications for phase and object tracking with interpolation for instruments. Our own test cut frames to label by 61% keeping 95% of scenes.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Proving theatre capacity gains to NHS trusts needs per-site, per-procedure accuracy evidence, not a single aggregate number, and failures will cluster in poor lighting, smoke and out-of-body frames.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The AWS and Deloitte pilot is positioned around unlocking hidden operating theatre capacity across 104+ theatres, which implies per-trust reporting and scrutiny.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Active imports your predictions and gives mAP, F1, PR curves and confusion matrix sliced by class, site or any data metric such as brightness and sharpness. Metric-to-failure correlation then tells you which footage to label next instead of labelling more of the same.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9" y="1691640"/>
            <a:ext cx="3520440" cy="461772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59" y="1737360"/>
            <a:ext cx="352044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19659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HYPOTHESIS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2240280"/>
            <a:ext cx="3063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71A33"/>
                </a:solidFill>
                <a:latin typeface="Calibri"/>
              </a:rPr>
              <a:t>Patient and staff identifiability in room video makes any external labelling workforce or tool a governance problem, slowing IG approval with each new trust.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3520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WHY WE THINK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3749039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D6180"/>
                </a:solidFill>
                <a:latin typeface="Calibri"/>
              </a:rPr>
              <a:t>Site stresses low-bandwidth hardware with built-in computer vision to protect privacy, and the pilot runs on NHS patient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46634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5D6180"/>
                </a:solidFill>
                <a:latin typeface="Calibri"/>
              </a:rPr>
              <a:t>WHAT ENCORD DOES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4892040"/>
            <a:ext cx="3063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171A33"/>
                </a:solidFill>
                <a:latin typeface="Calibri"/>
              </a:rPr>
              <a:t>Index registers data from your own AWS bucket, the files never move to us. SOC2 Type II, HIPAA and GDPR, and Agents can run your own redaction or out-of-body detector as a workflow stage so nothing identifiable reaches a human reviewer.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A STARTING ONTOLOGY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 would label for Proximie, and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D6180"/>
                </a:solidFill>
                <a:latin typeface="Calibri"/>
              </a:rPr>
              <a:t>A proposal to argue with. The shapes matter: they decide what the model can learn and what the labellers spend time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this shape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Surgical phase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Core label for workflow timing and throughput analysis across a procedure.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Out-of-body / non-clinical frame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Gates privacy risk and removes scope-out footage before human review.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Surgical instrument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Instrument presence and usage drives phase inference and medtech adoption metrics.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Instrument tip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keypoint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Tracks motion and dexterity for training and skills assessment.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Anatomy / critical 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bitmask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Fine boundaries needed for critical view of safety style checks.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Identifiable person or screen region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bounding box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Validates redaction coverage for faces, badges and monitors in room video.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Adverse event (bleeding, smoke)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Rare-event mining and a known source of model failure.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71A33"/>
                          </a:solidFill>
                          <a:latin typeface="Calibri"/>
                        </a:rPr>
                        <a:t>Theatre milestone (patient in, incision, closure, patient out)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frame classification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71A33"/>
                          </a:solidFill>
                          <a:latin typeface="Calibri"/>
                        </a:rPr>
                        <a:t>Direct input to utilisation and turnaround time reporting for trusts.</a:t>
                      </a:r>
                    </a:p>
                  </a:txBody>
                  <a:tcPr>
                    <a:solidFill>
                      <a:srgbClr val="EEED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WHERE ENCORD 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Lead with Index then Annotate, the rest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Register the data where it already lives. Embeddings and quality metrics on every frame. Find the frames worth labelling; drop the repeats.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43200"/>
            <a:ext cx="91440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432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Annotate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3580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Label video, 3D and images with SAM auto-segmentation and tracking. Ontology, review workflow, managed workforce if needed.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4903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Run your own model as a workflow stage to pre-label and QA, so people adjudicate rather than draw.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79"/>
            <a:ext cx="91440" cy="822960"/>
          </a:xfrm>
          <a:prstGeom prst="rect">
            <a:avLst/>
          </a:prstGeom>
          <a:solidFill>
            <a:srgbClr val="DF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5487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71A33"/>
                </a:solidFill>
                <a:latin typeface="Calibri"/>
              </a:rPr>
              <a:t>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D6180"/>
                </a:solidFill>
                <a:latin typeface="Calibri"/>
              </a:rPr>
              <a:t>Import predictions. Accuracy by class, site and condition. Find label errors. Know exactly what to label next.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737360"/>
            <a:ext cx="4937760" cy="4023360"/>
          </a:xfrm>
          <a:prstGeom prst="rect">
            <a:avLst/>
          </a:prstGeom>
          <a:solidFill>
            <a:srgbClr val="EEED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1737360"/>
            <a:ext cx="4937760" cy="7315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659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CLOSEST CASE STUDY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402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71A33"/>
                </a:solidFill>
                <a:latin typeface="Calibri"/>
              </a:rPr>
              <a:t>Harvard Medical School and Massachusetts General Hospital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7432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F46E5"/>
                </a:solidFill>
                <a:latin typeface="Calibri"/>
              </a:rPr>
              <a:t>Harvard/MGH: annotation time cut from days to minutes. Automotus: +20% mAP on a 35% smaller dataset with 33% lower labelling cost after curating in Encord.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5661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71A33"/>
                </a:solidFill>
                <a:latin typeface="Calibri"/>
              </a:rPr>
              <a:t>Clinical experts doing the annotation, PHI-sensitive imaging, and the same problem of expert minutes being the scarce resource. For the curation side, Automotus is the closer analogue: continuous camera streams where most frames are near duplicates.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D6180"/>
                </a:solidFill>
                <a:latin typeface="Calibri"/>
              </a:rPr>
              <a:t>Data stays in your bucket. SOC2 Type II, HIPAA, GDPR. Everything the UI does, the SDK does.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PROPOSED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A two-week proof of value on one site's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8308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1-2: register one de-identified procedure set (target 50-100 hours of video) from Proximie's own AWS bucket in Index. No data movement. Success: embeddings and quality metrics computed, browsable by brightness, sharpness and uniqueness.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60604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1, day 3-5: build a Collection that drops out-of-body and near-duplicate frames and samples for diversity across sites and procedure types. Success: agreed target of 50-60% reduction in frames sent to clinical reviewers while retaining 95% of distinct phases.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42900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1-2: stand up the phase and instrument ontology in Annotate with a review workflow, and wire an Agent running Proximie's existing phase or redaction model as a pre-labelling stage. Success: measured minutes per procedure-hour for a reviewer versus their current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9768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25196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3-4: import Proximie's current model predictions into Active and slice performance by phase, site and lighting metrics. Success: a named list of the three data slices driving most errors.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457200" cy="4572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241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71A33"/>
                </a:solidFill>
                <a:latin typeface="Calibri"/>
              </a:rPr>
              <a:t>Week 2, day 5: train or fine-tune on the curated pick versus a random pick of equal size and compare. Success criterion agreed up front, for example equal or better phase accuracy on half the labelled frames.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F46E5"/>
                </a:solidFill>
                <a:latin typeface="Calibri"/>
              </a:rPr>
              <a:t>LET'S TEST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71A33"/>
                </a:solidFill>
                <a:latin typeface="Calibri"/>
              </a:rPr>
              <a:t>What we'd like to learn from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DRAFT for review  ·  Encord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D6180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5836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For the NHS pilot, how many hours of theatre video do you expect to need labelled, and who actually does the labelling today, clinicians, an outsourced team or Deloitte?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What tool are your annotators in right now, and did you build it or buy it?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How do you currently decide which clips get labelled next, and how much of what you label turns out to be near-identical footage?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When a trust challenges a utilisation number, how do you show accuracy for that site and that procedure type specifically?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71A33"/>
                </a:solidFill>
                <a:latin typeface="Calibri"/>
              </a:rPr>
              <a:t>•  Where does the de-identification step happen, on the hardware or in the cloud, and what would have to be true for a labelling platform to sit alongside your AWS environment?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737360"/>
            <a:ext cx="3840480" cy="2377440"/>
          </a:xfrm>
          <a:prstGeom prst="rect">
            <a:avLst/>
          </a:prstGeom>
          <a:solidFill>
            <a:srgbClr val="121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9BCDC"/>
                </a:solidFill>
                <a:latin typeface="Calibri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286000"/>
            <a:ext cx="3383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 Al-Azkawi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Commercial Associate, Encord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qaisqas@gmail.com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