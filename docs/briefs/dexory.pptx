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questions to test this:</a:t>
            </a:r>
          </a:p>
          <a:p>
            <a:r>
              <a:t>- When you added the Storage Health classes, how many frames did you label to get the first usable model, and how did you choose those frames out of the daily scans?</a:t>
            </a:r>
          </a:p>
          <a:p>
            <a:r>
              <a:t>- Across a week of scans at one site, what proportion do you actually keep for training, and what decides that today?</a:t>
            </a:r>
          </a:p>
          <a:p>
            <a:r>
              <a:t>- When a site misses its perception accuracy SLA, how long does it take to find out whether it is lighting, blur, obstruction, rack type or a genuine model gap?</a:t>
            </a:r>
          </a:p>
          <a:p>
            <a:r>
              <a:t>- Who labels today: internal ops reviewers, an outsourced vendor, or a tool your team built, and what is the per-class cost of that?</a:t>
            </a:r>
          </a:p>
          <a:p>
            <a:r>
              <a:t>- The Senior Data Engineer ad mentions modelling perception accuracy against per-site SLAs in Databricks. Is that metric currently produced by the perception team by hand?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Confidence: medium</a:t>
            </a:r>
          </a:p>
          <a:p>
            <a:r>
              <a:t>Risks:</a:t>
            </a:r>
          </a:p>
          <a:p>
            <a:r>
              <a:t>- Strong build instinct: they are hiring a founding data engineer on Databricks and may treat curation and evaluation as internal platform work rather than a bought tool.</a:t>
            </a:r>
          </a:p>
          <a:p>
            <a:r>
              <a:t>- The evidence is about business and SLA data, not labelling pain; no perception or annotation job ad, so the hypotheses are inferred rather than observed.</a:t>
            </a:r>
          </a:p>
          <a:p>
            <a:r>
              <a:t>- Data access and security review: customer warehouse imagery under contract, so expect SOC2, GDPR and per-customer consent hurdles before a POV on real scans.</a:t>
            </a:r>
          </a:p>
          <a:p>
            <a:r>
              <a:t>- Cost discipline signals (CFO profile, subscription model, ROI calculator) mean any tool spend must map to labelling cost per site, and a cheaper incumbent (Roboflow, V7, a BPO with its own tool) may be good enough.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06240" y="0"/>
            <a:ext cx="109728"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3200400" cy="365760"/>
          </a:xfrm>
          <a:prstGeom prst="rect">
            <a:avLst/>
          </a:prstGeom>
          <a:noFill/>
        </p:spPr>
        <p:txBody>
          <a:bodyPr wrap="square" anchor="t" lIns="0" rIns="0" tIns="0" bIns="0">
            <a:spAutoFit/>
          </a:bodyPr>
          <a:lstStyle/>
          <a:p>
            <a:pPr algn="l">
              <a:spcAft>
                <a:spcPts val="400"/>
              </a:spcAft>
            </a:pPr>
            <a:r>
              <a:rPr sz="1200" b="1">
                <a:solidFill>
                  <a:srgbClr val="FFFFFF"/>
                </a:solidFill>
                <a:latin typeface="Calibri"/>
              </a:rPr>
              <a:t>ENCORD</a:t>
            </a:r>
          </a:p>
        </p:txBody>
      </p:sp>
      <p:sp>
        <p:nvSpPr>
          <p:cNvPr id="5" name="TextBox 4"/>
          <p:cNvSpPr txBox="1"/>
          <p:nvPr/>
        </p:nvSpPr>
        <p:spPr>
          <a:xfrm>
            <a:off x="548640" y="5577840"/>
            <a:ext cx="3200400" cy="914400"/>
          </a:xfrm>
          <a:prstGeom prst="rect">
            <a:avLst/>
          </a:prstGeom>
          <a:noFill/>
        </p:spPr>
        <p:txBody>
          <a:bodyPr wrap="square" anchor="t" lIns="0" rIns="0" tIns="0" bIns="0">
            <a:spAutoFit/>
          </a:bodyPr>
          <a:lstStyle/>
          <a:p>
            <a:pPr algn="l">
              <a:spcAft>
                <a:spcPts val="400"/>
              </a:spcAft>
            </a:pPr>
            <a:r>
              <a:rPr sz="1000" b="0">
                <a:solidFill>
                  <a:srgbClr val="B9BCDC"/>
                </a:solidFill>
                <a:latin typeface="Calibri"/>
              </a:rPr>
              <a:t>Prepared 2026-09-28</a:t>
            </a:r>
          </a:p>
          <a:p>
            <a:pPr algn="l">
              <a:spcAft>
                <a:spcPts val="400"/>
              </a:spcAft>
            </a:pPr>
            <a:r>
              <a:rPr sz="1000" b="0">
                <a:solidFill>
                  <a:srgbClr val="B9BCDC"/>
                </a:solidFill>
                <a:latin typeface="Calibri"/>
              </a:rPr>
              <a:t>Qais Al-Azkawi</a:t>
            </a:r>
          </a:p>
          <a:p>
            <a:pPr algn="l">
              <a:spcAft>
                <a:spcPts val="400"/>
              </a:spcAft>
            </a:pPr>
            <a:r>
              <a:rPr sz="1000" b="0">
                <a:solidFill>
                  <a:srgbClr val="B9BCDC"/>
                </a:solidFill>
                <a:latin typeface="Calibri"/>
              </a:rPr>
              <a:t>DRAFT for review</a:t>
            </a:r>
          </a:p>
        </p:txBody>
      </p:sp>
      <p:sp>
        <p:nvSpPr>
          <p:cNvPr id="6" name="TextBox 5"/>
          <p:cNvSpPr txBox="1"/>
          <p:nvPr/>
        </p:nvSpPr>
        <p:spPr>
          <a:xfrm>
            <a:off x="4846320" y="1828800"/>
            <a:ext cx="6766560" cy="1280160"/>
          </a:xfrm>
          <a:prstGeom prst="rect">
            <a:avLst/>
          </a:prstGeom>
          <a:noFill/>
        </p:spPr>
        <p:txBody>
          <a:bodyPr wrap="square" anchor="t" lIns="0" rIns="0" tIns="0" bIns="0">
            <a:spAutoFit/>
          </a:bodyPr>
          <a:lstStyle/>
          <a:p>
            <a:pPr algn="l">
              <a:spcAft>
                <a:spcPts val="400"/>
              </a:spcAft>
            </a:pPr>
            <a:r>
              <a:rPr sz="4000" b="1">
                <a:solidFill>
                  <a:srgbClr val="171A33"/>
                </a:solidFill>
                <a:latin typeface="Calibri"/>
              </a:rPr>
              <a:t>Encord x Dexory</a:t>
            </a:r>
          </a:p>
        </p:txBody>
      </p:sp>
      <p:sp>
        <p:nvSpPr>
          <p:cNvPr id="7" name="TextBox 6"/>
          <p:cNvSpPr txBox="1"/>
          <p:nvPr/>
        </p:nvSpPr>
        <p:spPr>
          <a:xfrm>
            <a:off x="4846320" y="3108960"/>
            <a:ext cx="6766560" cy="2011680"/>
          </a:xfrm>
          <a:prstGeom prst="rect">
            <a:avLst/>
          </a:prstGeom>
          <a:noFill/>
        </p:spPr>
        <p:txBody>
          <a:bodyPr wrap="square" anchor="t" lIns="0" rIns="0" tIns="0" bIns="0">
            <a:spAutoFit/>
          </a:bodyPr>
          <a:lstStyle/>
          <a:p>
            <a:pPr algn="l">
              <a:spcAft>
                <a:spcPts val="400"/>
              </a:spcAft>
            </a:pPr>
            <a:r>
              <a:rPr sz="1800" b="0">
                <a:solidFill>
                  <a:srgbClr val="5D6180"/>
                </a:solidFill>
                <a:latin typeface="Calibri"/>
              </a:rPr>
              <a:t>Dexory's cost of adding a new Integrity class scales with the number of daily scans rather than with what the model actually learns, and curation plus per-site model evaluation is where that breaks.</a:t>
            </a:r>
          </a:p>
        </p:txBody>
      </p:sp>
      <p:sp>
        <p:nvSpPr>
          <p:cNvPr id="8" name="TextBox 7"/>
          <p:cNvSpPr txBox="1"/>
          <p:nvPr/>
        </p:nvSpPr>
        <p:spPr>
          <a:xfrm>
            <a:off x="4846320" y="5760720"/>
            <a:ext cx="6766560" cy="45720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A first-meeting point of view. Everything here is our reading of public information; the questions are where we want to be corrected.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WHAT WE UNDERSTAND</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Dexory builds, and how we think the data flows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2</a:t>
            </a:r>
          </a:p>
        </p:txBody>
      </p:sp>
      <p:sp>
        <p:nvSpPr>
          <p:cNvPr id="7" name="TextBox 6"/>
          <p:cNvSpPr txBox="1"/>
          <p:nvPr/>
        </p:nvSpPr>
        <p:spPr>
          <a:xfrm>
            <a:off x="640080" y="1737360"/>
            <a:ext cx="5120640" cy="4114800"/>
          </a:xfrm>
          <a:prstGeom prst="rect">
            <a:avLst/>
          </a:prstGeom>
          <a:noFill/>
        </p:spPr>
        <p:txBody>
          <a:bodyPr wrap="square" anchor="t" lIns="0" rIns="0" tIns="0" bIns="0">
            <a:spAutoFit/>
          </a:bodyPr>
          <a:lstStyle/>
          <a:p>
            <a:pPr algn="l">
              <a:spcAft>
                <a:spcPts val="800"/>
              </a:spcAft>
            </a:pPr>
            <a:r>
              <a:rPr sz="1400" b="0">
                <a:solidFill>
                  <a:srgbClr val="171A33"/>
                </a:solidFill>
                <a:latin typeface="Calibri"/>
              </a:rPr>
              <a:t>Autonomous scanning robots drive warehouse aisles daily and turn scan data into DexoryView: real-time inventory accuracy, plus Integrity (inventory discrepancies, hygiene or damage risks, rack compliance) and Optimise (slotting, space utilisation, consolidation). Buyers are 3PLs and manufacturers such as Ziegler, Romark Logistics, Seac and Stellantis, on a monthly per-site subscription, roughly $28.6m est. ARR.</a:t>
            </a:r>
          </a:p>
        </p:txBody>
      </p:sp>
      <p:sp>
        <p:nvSpPr>
          <p:cNvPr id="8" name="TextBox 7"/>
          <p:cNvSpPr txBox="1"/>
          <p:nvPr/>
        </p:nvSpPr>
        <p:spPr>
          <a:xfrm>
            <a:off x="6217920" y="1737360"/>
            <a:ext cx="530352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INFERRED PIPELINE (guesses marked)</a:t>
            </a:r>
          </a:p>
        </p:txBody>
      </p:sp>
      <p:sp>
        <p:nvSpPr>
          <p:cNvPr id="9" name="Oval 8"/>
          <p:cNvSpPr/>
          <p:nvPr/>
        </p:nvSpPr>
        <p:spPr>
          <a:xfrm>
            <a:off x="6217920" y="2103120"/>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2103120"/>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1" name="TextBox 10"/>
          <p:cNvSpPr txBox="1"/>
          <p:nvPr/>
        </p:nvSpPr>
        <p:spPr>
          <a:xfrm>
            <a:off x="6766560" y="208483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Robot runs a scheduled mission per aisle, capturing camera imagery plus LIDAR and barcode or RFID reads with pose and location metadata (mission scheduling confirmed by site; sensor mix is our guess).</a:t>
            </a:r>
          </a:p>
        </p:txBody>
      </p:sp>
      <p:sp>
        <p:nvSpPr>
          <p:cNvPr id="12" name="Oval 11"/>
          <p:cNvSpPr/>
          <p:nvPr/>
        </p:nvSpPr>
        <p:spPr>
          <a:xfrm>
            <a:off x="6217920" y="2761487"/>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2761487"/>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766560" y="2743199"/>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Scans upload to cloud object storage and are keyed to site, aisle, rack and location; volumes are millions of near-identical shelf frames per site per week (our guess on scale).</a:t>
            </a:r>
          </a:p>
        </p:txBody>
      </p:sp>
      <p:sp>
        <p:nvSpPr>
          <p:cNvPr id="15" name="Oval 14"/>
          <p:cNvSpPr/>
          <p:nvPr/>
        </p:nvSpPr>
        <p:spPr>
          <a:xfrm>
            <a:off x="6217920" y="3419855"/>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3419855"/>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7" name="TextBox 16"/>
          <p:cNvSpPr txBox="1"/>
          <p:nvPr/>
        </p:nvSpPr>
        <p:spPr>
          <a:xfrm>
            <a:off x="6766560" y="3401567"/>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Perception models read location contents, barcodes and empties, and Integrity models flag damage, hygiene and rack compliance; discrepancies are reconciled against the customer's WMS.</a:t>
            </a:r>
          </a:p>
        </p:txBody>
      </p:sp>
      <p:sp>
        <p:nvSpPr>
          <p:cNvPr id="18" name="Oval 17"/>
          <p:cNvSpPr/>
          <p:nvPr/>
        </p:nvSpPr>
        <p:spPr>
          <a:xfrm>
            <a:off x="6217920" y="4078223"/>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4078223"/>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0" name="TextBox 19"/>
          <p:cNvSpPr txBox="1"/>
          <p:nvPr/>
        </p:nvSpPr>
        <p:spPr>
          <a:xfrm>
            <a:off x="6766560" y="4059935"/>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Labelling for new classes such as damaged stock or leaning pallets is likely a mix of internal review and an outsourced or managed workforce, driven by whatever frames look interesting (guess).</a:t>
            </a:r>
          </a:p>
        </p:txBody>
      </p:sp>
      <p:sp>
        <p:nvSpPr>
          <p:cNvPr id="21" name="Oval 20"/>
          <p:cNvSpPr/>
          <p:nvPr/>
        </p:nvSpPr>
        <p:spPr>
          <a:xfrm>
            <a:off x="6217920" y="4736591"/>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0" y="4736591"/>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3" name="TextBox 22"/>
          <p:cNvSpPr txBox="1"/>
          <p:nvPr/>
        </p:nvSpPr>
        <p:spPr>
          <a:xfrm>
            <a:off x="6766560" y="4718303"/>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Operational and perception signals land in a lakehouse: the Senior Data Engineer ad names Databricks, perception accuracy, scan and mission performance, obstructions and scan coverage against per-site SLAs.</a:t>
            </a:r>
          </a:p>
        </p:txBody>
      </p:sp>
      <p:sp>
        <p:nvSpPr>
          <p:cNvPr id="24" name="Oval 23"/>
          <p:cNvSpPr/>
          <p:nvPr/>
        </p:nvSpPr>
        <p:spPr>
          <a:xfrm>
            <a:off x="6217920" y="5394959"/>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5394959"/>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26" name="TextBox 25"/>
          <p:cNvSpPr txBox="1"/>
          <p:nvPr/>
        </p:nvSpPr>
        <p:spPr>
          <a:xfrm>
            <a:off x="6766560" y="537667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Model performance is reported per site in dashboards; failure analysis by scene condition or class slice is probably manual (guess).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WE THINK IT HURTS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Three hypotheses, ranked by how sure we are</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3</a:t>
            </a:r>
          </a:p>
        </p:txBody>
      </p:sp>
      <p:sp>
        <p:nvSpPr>
          <p:cNvPr id="7" name="Rectangle 6"/>
          <p:cNvSpPr/>
          <p:nvPr/>
        </p:nvSpPr>
        <p:spPr>
          <a:xfrm>
            <a:off x="64008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1</a:t>
            </a:r>
          </a:p>
        </p:txBody>
      </p:sp>
      <p:sp>
        <p:nvSpPr>
          <p:cNvPr id="10" name="TextBox 9"/>
          <p:cNvSpPr txBox="1"/>
          <p:nvPr/>
        </p:nvSpPr>
        <p:spPr>
          <a:xfrm>
            <a:off x="86868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Daily repeat scans of the same racking mean labelling budget buys mostly duplicates, so cost grows with fleet and site count instead of with model accuracy.</a:t>
            </a:r>
          </a:p>
        </p:txBody>
      </p:sp>
      <p:sp>
        <p:nvSpPr>
          <p:cNvPr id="11" name="TextBox 10"/>
          <p:cNvSpPr txBox="1"/>
          <p:nvPr/>
        </p:nvSpPr>
        <p:spPr>
          <a:xfrm>
            <a:off x="86868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12" name="TextBox 11"/>
          <p:cNvSpPr txBox="1"/>
          <p:nvPr/>
        </p:nvSpPr>
        <p:spPr>
          <a:xfrm>
            <a:off x="86868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Site text: automated daily scans, scale across multiple sites without disruption; our note on millions of near-identical shelf images per site per week.</a:t>
            </a:r>
          </a:p>
        </p:txBody>
      </p:sp>
      <p:sp>
        <p:nvSpPr>
          <p:cNvPr id="13" name="TextBox 12"/>
          <p:cNvSpPr txBox="1"/>
          <p:nvPr/>
        </p:nvSpPr>
        <p:spPr>
          <a:xfrm>
            <a:off x="86868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14" name="TextBox 13"/>
          <p:cNvSpPr txBox="1"/>
          <p:nvPr/>
        </p:nvSpPr>
        <p:spPr>
          <a:xfrm>
            <a:off x="86868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Index registers the frames in Dexory's own bucket, computes embeddings and per-frame metrics (sharpness, brightness, uniqueness), then similarity search and diversity sampling build a Collection to label. Our warehouse-robot benchmark cut frames to label by 61% keeping 95% of racks.</a:t>
            </a:r>
          </a:p>
        </p:txBody>
      </p:sp>
      <p:sp>
        <p:nvSpPr>
          <p:cNvPr id="15" name="Rectangle 14"/>
          <p:cNvSpPr/>
          <p:nvPr/>
        </p:nvSpPr>
        <p:spPr>
          <a:xfrm>
            <a:off x="438912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2</a:t>
            </a:r>
          </a:p>
        </p:txBody>
      </p:sp>
      <p:sp>
        <p:nvSpPr>
          <p:cNvPr id="18" name="TextBox 17"/>
          <p:cNvSpPr txBox="1"/>
          <p:nvPr/>
        </p:nvSpPr>
        <p:spPr>
          <a:xfrm>
            <a:off x="461772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New Integrity classes like damaged stock, leaning pallets and hygiene risks are rare, subjective and expensive to bootstrap, so early label quality and class definitions drift between annotators.</a:t>
            </a:r>
          </a:p>
        </p:txBody>
      </p:sp>
      <p:sp>
        <p:nvSpPr>
          <p:cNvPr id="19" name="TextBox 18"/>
          <p:cNvSpPr txBox="1"/>
          <p:nvPr/>
        </p:nvSpPr>
        <p:spPr>
          <a:xfrm>
            <a:off x="461772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0" name="TextBox 19"/>
          <p:cNvSpPr txBox="1"/>
          <p:nvPr/>
        </p:nvSpPr>
        <p:spPr>
          <a:xfrm>
            <a:off x="461772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Storage Health launched Feb 2026; site text lists damage risks and rack compliance under the Integrity module as ML-flagged outputs.</a:t>
            </a:r>
          </a:p>
        </p:txBody>
      </p:sp>
      <p:sp>
        <p:nvSpPr>
          <p:cNvPr id="21" name="TextBox 20"/>
          <p:cNvSpPr txBox="1"/>
          <p:nvPr/>
        </p:nvSpPr>
        <p:spPr>
          <a:xfrm>
            <a:off x="461772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22" name="TextBox 21"/>
          <p:cNvSpPr txBox="1"/>
          <p:nvPr/>
        </p:nvSpPr>
        <p:spPr>
          <a:xfrm>
            <a:off x="461772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Annotate ontology with objects plus attributes pins the definition of damaged versus leaning versus non-compliant; SAM 3 and object tracking across video speed up masks; Agents run a Dexory model or foundation model as a pre-label stage; Active finds label errors.</a:t>
            </a:r>
          </a:p>
        </p:txBody>
      </p:sp>
      <p:sp>
        <p:nvSpPr>
          <p:cNvPr id="23" name="Rectangle 22"/>
          <p:cNvSpPr/>
          <p:nvPr/>
        </p:nvSpPr>
        <p:spPr>
          <a:xfrm>
            <a:off x="8138159"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8159"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59"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3</a:t>
            </a:r>
          </a:p>
        </p:txBody>
      </p:sp>
      <p:sp>
        <p:nvSpPr>
          <p:cNvPr id="26" name="TextBox 25"/>
          <p:cNvSpPr txBox="1"/>
          <p:nvPr/>
        </p:nvSpPr>
        <p:spPr>
          <a:xfrm>
            <a:off x="8366759"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Per-site perception accuracy is reported but not diagnosable: no easy way to see which conditions (blur, low light, obstruction, rack type) drive misses, or what to label next.</a:t>
            </a:r>
          </a:p>
        </p:txBody>
      </p:sp>
      <p:sp>
        <p:nvSpPr>
          <p:cNvPr id="27" name="TextBox 26"/>
          <p:cNvSpPr txBox="1"/>
          <p:nvPr/>
        </p:nvSpPr>
        <p:spPr>
          <a:xfrm>
            <a:off x="8366759"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8" name="TextBox 27"/>
          <p:cNvSpPr txBox="1"/>
          <p:nvPr/>
        </p:nvSpPr>
        <p:spPr>
          <a:xfrm>
            <a:off x="8366759"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Job ad: model perception accuracy, scan and mission performance, obstructions and scan coverage against SLAs and KPIs we have committed to per site.</a:t>
            </a:r>
          </a:p>
        </p:txBody>
      </p:sp>
      <p:sp>
        <p:nvSpPr>
          <p:cNvPr id="29" name="TextBox 28"/>
          <p:cNvSpPr txBox="1"/>
          <p:nvPr/>
        </p:nvSpPr>
        <p:spPr>
          <a:xfrm>
            <a:off x="8366759"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30" name="TextBox 29"/>
          <p:cNvSpPr txBox="1"/>
          <p:nvPr/>
        </p:nvSpPr>
        <p:spPr>
          <a:xfrm>
            <a:off x="8366759"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Active imports Dexory predictions and gives mAP/mAR/F1, PR curves and confusion matrix sliced by class, IoU threshold and any data metric; metric-to-failure correlation names the data slice to label next. Outputs can feed the Databricks layer via SDK.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A STARTING ONTOLOGY</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 would label for Dexory, and how</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4</a:t>
            </a:r>
          </a:p>
        </p:txBody>
      </p:sp>
      <p:sp>
        <p:nvSpPr>
          <p:cNvPr id="7" name="TextBox 6"/>
          <p:cNvSpPr txBox="1"/>
          <p:nvPr/>
        </p:nvSpPr>
        <p:spPr>
          <a:xfrm>
            <a:off x="640080" y="1691640"/>
            <a:ext cx="10972800" cy="365760"/>
          </a:xfrm>
          <a:prstGeom prst="rect">
            <a:avLst/>
          </a:prstGeom>
          <a:noFill/>
        </p:spPr>
        <p:txBody>
          <a:bodyPr wrap="square" anchor="t" lIns="0" rIns="0" tIns="0" bIns="0">
            <a:spAutoFit/>
          </a:bodyPr>
          <a:lstStyle/>
          <a:p>
            <a:pPr algn="l">
              <a:spcAft>
                <a:spcPts val="400"/>
              </a:spcAft>
            </a:pPr>
            <a:r>
              <a:rPr sz="1200" b="0">
                <a:solidFill>
                  <a:srgbClr val="5D6180"/>
                </a:solidFill>
                <a:latin typeface="Calibri"/>
              </a:rPr>
              <a:t>A proposal to argue with. The shapes matter: they decide what the model can learn and what the labellers spend time on.</a:t>
            </a:r>
          </a:p>
        </p:txBody>
      </p:sp>
      <p:graphicFrame>
        <p:nvGraphicFramePr>
          <p:cNvPr id="8" name="Table 7"/>
          <p:cNvGraphicFramePr>
            <a:graphicFrameLocks noGrp="1"/>
          </p:cNvGraphicFramePr>
          <p:nvPr/>
        </p:nvGraphicFramePr>
        <p:xfrm>
          <a:off x="640080" y="2194560"/>
          <a:ext cx="10881360" cy="3291840"/>
        </p:xfrm>
        <a:graphic>
          <a:graphicData uri="http://schemas.openxmlformats.org/drawingml/2006/table">
            <a:tbl>
              <a:tblPr firstRow="1" bandRow="1">
                <a:tableStyleId>{5C22544A-7EE6-4342-B048-85BDC9FD1C3A}</a:tableStyleId>
              </a:tblPr>
              <a:tblGrid>
                <a:gridCol w="2926080"/>
                <a:gridCol w="1828800"/>
                <a:gridCol w="6126480"/>
              </a:tblGrid>
              <a:tr h="365760">
                <a:tc>
                  <a:txBody>
                    <a:bodyPr/>
                    <a:lstStyle/>
                    <a:p>
                      <a:r>
                        <a:rPr sz="1100" b="1">
                          <a:solidFill>
                            <a:srgbClr val="FFFFFF"/>
                          </a:solidFill>
                          <a:latin typeface="Calibri"/>
                        </a:rPr>
                        <a:t>Class</a:t>
                      </a:r>
                    </a:p>
                  </a:txBody>
                  <a:tcPr>
                    <a:solidFill>
                      <a:srgbClr val="4F46E5"/>
                    </a:solidFill>
                  </a:tcPr>
                </a:tc>
                <a:tc>
                  <a:txBody>
                    <a:bodyPr/>
                    <a:lstStyle/>
                    <a:p>
                      <a:r>
                        <a:rPr sz="1100" b="1">
                          <a:solidFill>
                            <a:srgbClr val="FFFFFF"/>
                          </a:solidFill>
                          <a:latin typeface="Calibri"/>
                        </a:rPr>
                        <a:t>Shape</a:t>
                      </a:r>
                    </a:p>
                  </a:txBody>
                  <a:tcPr>
                    <a:solidFill>
                      <a:srgbClr val="4F46E5"/>
                    </a:solidFill>
                  </a:tcPr>
                </a:tc>
                <a:tc>
                  <a:txBody>
                    <a:bodyPr/>
                    <a:lstStyle/>
                    <a:p>
                      <a:r>
                        <a:rPr sz="1100" b="1">
                          <a:solidFill>
                            <a:srgbClr val="FFFFFF"/>
                          </a:solidFill>
                          <a:latin typeface="Calibri"/>
                        </a:rPr>
                        <a:t>Why this shape</a:t>
                      </a:r>
                    </a:p>
                  </a:txBody>
                  <a:tcPr>
                    <a:solidFill>
                      <a:srgbClr val="4F46E5"/>
                    </a:solidFill>
                  </a:tcPr>
                </a:tc>
              </a:tr>
              <a:tr h="365760">
                <a:tc>
                  <a:txBody>
                    <a:bodyPr/>
                    <a:lstStyle/>
                    <a:p>
                      <a:r>
                        <a:rPr sz="1050" b="1">
                          <a:solidFill>
                            <a:srgbClr val="171A33"/>
                          </a:solidFill>
                          <a:latin typeface="Calibri"/>
                        </a:rPr>
                        <a:t>Pallet in location</a:t>
                      </a:r>
                    </a:p>
                  </a:txBody>
                  <a:tcPr>
                    <a:solidFill>
                      <a:srgbClr val="FFFFFF"/>
                    </a:solidFill>
                  </a:tcPr>
                </a:tc>
                <a:tc>
                  <a:txBody>
                    <a:bodyPr/>
                    <a:lstStyle/>
                    <a:p>
                      <a:r>
                        <a:rPr sz="1050" b="0">
                          <a:solidFill>
                            <a:srgbClr val="171A33"/>
                          </a:solidFill>
                          <a:latin typeface="Calibri"/>
                        </a:rPr>
                        <a:t>bounding box</a:t>
                      </a:r>
                    </a:p>
                  </a:txBody>
                  <a:tcPr>
                    <a:solidFill>
                      <a:srgbClr val="FFFFFF"/>
                    </a:solidFill>
                  </a:tcPr>
                </a:tc>
                <a:tc>
                  <a:txBody>
                    <a:bodyPr/>
                    <a:lstStyle/>
                    <a:p>
                      <a:r>
                        <a:rPr sz="1050" b="0">
                          <a:solidFill>
                            <a:srgbClr val="171A33"/>
                          </a:solidFill>
                          <a:latin typeface="Calibri"/>
                        </a:rPr>
                        <a:t>Core unit for occupancy and WMS discrepancy checks</a:t>
                      </a:r>
                    </a:p>
                  </a:txBody>
                  <a:tcPr>
                    <a:solidFill>
                      <a:srgbClr val="FFFFFF"/>
                    </a:solidFill>
                  </a:tcPr>
                </a:tc>
              </a:tr>
              <a:tr h="365760">
                <a:tc>
                  <a:txBody>
                    <a:bodyPr/>
                    <a:lstStyle/>
                    <a:p>
                      <a:r>
                        <a:rPr sz="1050" b="1">
                          <a:solidFill>
                            <a:srgbClr val="171A33"/>
                          </a:solidFill>
                          <a:latin typeface="Calibri"/>
                        </a:rPr>
                        <a:t>Empty location</a:t>
                      </a:r>
                    </a:p>
                  </a:txBody>
                  <a:tcPr>
                    <a:solidFill>
                      <a:srgbClr val="EEEDFB"/>
                    </a:solidFill>
                  </a:tcPr>
                </a:tc>
                <a:tc>
                  <a:txBody>
                    <a:bodyPr/>
                    <a:lstStyle/>
                    <a:p>
                      <a:r>
                        <a:rPr sz="1050" b="0">
                          <a:solidFill>
                            <a:srgbClr val="171A33"/>
                          </a:solidFill>
                          <a:latin typeface="Calibri"/>
                        </a:rPr>
                        <a:t>bounding box</a:t>
                      </a:r>
                    </a:p>
                  </a:txBody>
                  <a:tcPr>
                    <a:solidFill>
                      <a:srgbClr val="EEEDFB"/>
                    </a:solidFill>
                  </a:tcPr>
                </a:tc>
                <a:tc>
                  <a:txBody>
                    <a:bodyPr/>
                    <a:lstStyle/>
                    <a:p>
                      <a:r>
                        <a:rPr sz="1050" b="0">
                          <a:solidFill>
                            <a:srgbClr val="171A33"/>
                          </a:solidFill>
                          <a:latin typeface="Calibri"/>
                        </a:rPr>
                        <a:t>Drives inventory accuracy and slotting or consolidation suggestions</a:t>
                      </a:r>
                    </a:p>
                  </a:txBody>
                  <a:tcPr>
                    <a:solidFill>
                      <a:srgbClr val="EEEDFB"/>
                    </a:solidFill>
                  </a:tcPr>
                </a:tc>
              </a:tr>
              <a:tr h="365760">
                <a:tc>
                  <a:txBody>
                    <a:bodyPr/>
                    <a:lstStyle/>
                    <a:p>
                      <a:r>
                        <a:rPr sz="1050" b="1">
                          <a:solidFill>
                            <a:srgbClr val="171A33"/>
                          </a:solidFill>
                          <a:latin typeface="Calibri"/>
                        </a:rPr>
                        <a:t>Barcode or location placard</a:t>
                      </a:r>
                    </a:p>
                  </a:txBody>
                  <a:tcPr>
                    <a:solidFill>
                      <a:srgbClr val="FFFFFF"/>
                    </a:solidFill>
                  </a:tcPr>
                </a:tc>
                <a:tc>
                  <a:txBody>
                    <a:bodyPr/>
                    <a:lstStyle/>
                    <a:p>
                      <a:r>
                        <a:rPr sz="1050" b="0">
                          <a:solidFill>
                            <a:srgbClr val="171A33"/>
                          </a:solidFill>
                          <a:latin typeface="Calibri"/>
                        </a:rPr>
                        <a:t>polygon</a:t>
                      </a:r>
                    </a:p>
                  </a:txBody>
                  <a:tcPr>
                    <a:solidFill>
                      <a:srgbClr val="FFFFFF"/>
                    </a:solidFill>
                  </a:tcPr>
                </a:tc>
                <a:tc>
                  <a:txBody>
                    <a:bodyPr/>
                    <a:lstStyle/>
                    <a:p>
                      <a:r>
                        <a:rPr sz="1050" b="0">
                          <a:solidFill>
                            <a:srgbClr val="171A33"/>
                          </a:solidFill>
                          <a:latin typeface="Calibri"/>
                        </a:rPr>
                        <a:t>Small, skewed text regions; box wastes pixels on angled labels</a:t>
                      </a:r>
                    </a:p>
                  </a:txBody>
                  <a:tcPr>
                    <a:solidFill>
                      <a:srgbClr val="FFFFFF"/>
                    </a:solidFill>
                  </a:tcPr>
                </a:tc>
              </a:tr>
              <a:tr h="365760">
                <a:tc>
                  <a:txBody>
                    <a:bodyPr/>
                    <a:lstStyle/>
                    <a:p>
                      <a:r>
                        <a:rPr sz="1050" b="1">
                          <a:solidFill>
                            <a:srgbClr val="171A33"/>
                          </a:solidFill>
                          <a:latin typeface="Calibri"/>
                        </a:rPr>
                        <a:t>Damaged stock or packaging</a:t>
                      </a:r>
                    </a:p>
                  </a:txBody>
                  <a:tcPr>
                    <a:solidFill>
                      <a:srgbClr val="EEEDFB"/>
                    </a:solidFill>
                  </a:tcPr>
                </a:tc>
                <a:tc>
                  <a:txBody>
                    <a:bodyPr/>
                    <a:lstStyle/>
                    <a:p>
                      <a:r>
                        <a:rPr sz="1050" b="0">
                          <a:solidFill>
                            <a:srgbClr val="171A33"/>
                          </a:solidFill>
                          <a:latin typeface="Calibri"/>
                        </a:rPr>
                        <a:t>bitmask</a:t>
                      </a:r>
                    </a:p>
                  </a:txBody>
                  <a:tcPr>
                    <a:solidFill>
                      <a:srgbClr val="EEEDFB"/>
                    </a:solidFill>
                  </a:tcPr>
                </a:tc>
                <a:tc>
                  <a:txBody>
                    <a:bodyPr/>
                    <a:lstStyle/>
                    <a:p>
                      <a:r>
                        <a:rPr sz="1050" b="0">
                          <a:solidFill>
                            <a:srgbClr val="171A33"/>
                          </a:solidFill>
                          <a:latin typeface="Calibri"/>
                        </a:rPr>
                        <a:t>Damage is irregular; mask supports severity attributes for Integrity</a:t>
                      </a:r>
                    </a:p>
                  </a:txBody>
                  <a:tcPr>
                    <a:solidFill>
                      <a:srgbClr val="EEEDFB"/>
                    </a:solidFill>
                  </a:tcPr>
                </a:tc>
              </a:tr>
              <a:tr h="365760">
                <a:tc>
                  <a:txBody>
                    <a:bodyPr/>
                    <a:lstStyle/>
                    <a:p>
                      <a:r>
                        <a:rPr sz="1050" b="1">
                          <a:solidFill>
                            <a:srgbClr val="171A33"/>
                          </a:solidFill>
                          <a:latin typeface="Calibri"/>
                        </a:rPr>
                        <a:t>Leaning or overhanging pallet</a:t>
                      </a:r>
                    </a:p>
                  </a:txBody>
                  <a:tcPr>
                    <a:solidFill>
                      <a:srgbClr val="FFFFFF"/>
                    </a:solidFill>
                  </a:tcPr>
                </a:tc>
                <a:tc>
                  <a:txBody>
                    <a:bodyPr/>
                    <a:lstStyle/>
                    <a:p>
                      <a:r>
                        <a:rPr sz="1050" b="0">
                          <a:solidFill>
                            <a:srgbClr val="171A33"/>
                          </a:solidFill>
                          <a:latin typeface="Calibri"/>
                        </a:rPr>
                        <a:t>3D cuboid</a:t>
                      </a:r>
                    </a:p>
                  </a:txBody>
                  <a:tcPr>
                    <a:solidFill>
                      <a:srgbClr val="FFFFFF"/>
                    </a:solidFill>
                  </a:tcPr>
                </a:tc>
                <a:tc>
                  <a:txBody>
                    <a:bodyPr/>
                    <a:lstStyle/>
                    <a:p>
                      <a:r>
                        <a:rPr sz="1050" b="0">
                          <a:solidFill>
                            <a:srgbClr val="171A33"/>
                          </a:solidFill>
                          <a:latin typeface="Calibri"/>
                        </a:rPr>
                        <a:t>Lean and aisle intrusion need orientation, not an axis-aligned box</a:t>
                      </a:r>
                    </a:p>
                  </a:txBody>
                  <a:tcPr>
                    <a:solidFill>
                      <a:srgbClr val="FFFFFF"/>
                    </a:solidFill>
                  </a:tcPr>
                </a:tc>
              </a:tr>
              <a:tr h="365760">
                <a:tc>
                  <a:txBody>
                    <a:bodyPr/>
                    <a:lstStyle/>
                    <a:p>
                      <a:r>
                        <a:rPr sz="1050" b="1">
                          <a:solidFill>
                            <a:srgbClr val="171A33"/>
                          </a:solidFill>
                          <a:latin typeface="Calibri"/>
                        </a:rPr>
                        <a:t>Rack beam and upright</a:t>
                      </a:r>
                    </a:p>
                  </a:txBody>
                  <a:tcPr>
                    <a:solidFill>
                      <a:srgbClr val="EEEDFB"/>
                    </a:solidFill>
                  </a:tcPr>
                </a:tc>
                <a:tc>
                  <a:txBody>
                    <a:bodyPr/>
                    <a:lstStyle/>
                    <a:p>
                      <a:r>
                        <a:rPr sz="1050" b="0">
                          <a:solidFill>
                            <a:srgbClr val="171A33"/>
                          </a:solidFill>
                          <a:latin typeface="Calibri"/>
                        </a:rPr>
                        <a:t>polyline</a:t>
                      </a:r>
                    </a:p>
                  </a:txBody>
                  <a:tcPr>
                    <a:solidFill>
                      <a:srgbClr val="EEEDFB"/>
                    </a:solidFill>
                  </a:tcPr>
                </a:tc>
                <a:tc>
                  <a:txBody>
                    <a:bodyPr/>
                    <a:lstStyle/>
                    <a:p>
                      <a:r>
                        <a:rPr sz="1050" b="0">
                          <a:solidFill>
                            <a:srgbClr val="171A33"/>
                          </a:solidFill>
                          <a:latin typeface="Calibri"/>
                        </a:rPr>
                        <a:t>Rack compliance and deflection checks follow long thin structures</a:t>
                      </a:r>
                    </a:p>
                  </a:txBody>
                  <a:tcPr>
                    <a:solidFill>
                      <a:srgbClr val="EEEDFB"/>
                    </a:solidFill>
                  </a:tcPr>
                </a:tc>
              </a:tr>
              <a:tr h="365760">
                <a:tc>
                  <a:txBody>
                    <a:bodyPr/>
                    <a:lstStyle/>
                    <a:p>
                      <a:r>
                        <a:rPr sz="1050" b="1">
                          <a:solidFill>
                            <a:srgbClr val="171A33"/>
                          </a:solidFill>
                          <a:latin typeface="Calibri"/>
                        </a:rPr>
                        <a:t>Aisle obstruction or debris</a:t>
                      </a:r>
                    </a:p>
                  </a:txBody>
                  <a:tcPr>
                    <a:solidFill>
                      <a:srgbClr val="FFFFFF"/>
                    </a:solidFill>
                  </a:tcPr>
                </a:tc>
                <a:tc>
                  <a:txBody>
                    <a:bodyPr/>
                    <a:lstStyle/>
                    <a:p>
                      <a:r>
                        <a:rPr sz="1050" b="0">
                          <a:solidFill>
                            <a:srgbClr val="171A33"/>
                          </a:solidFill>
                          <a:latin typeface="Calibri"/>
                        </a:rPr>
                        <a:t>polygon</a:t>
                      </a:r>
                    </a:p>
                  </a:txBody>
                  <a:tcPr>
                    <a:solidFill>
                      <a:srgbClr val="FFFFFF"/>
                    </a:solidFill>
                  </a:tcPr>
                </a:tc>
                <a:tc>
                  <a:txBody>
                    <a:bodyPr/>
                    <a:lstStyle/>
                    <a:p>
                      <a:r>
                        <a:rPr sz="1050" b="0">
                          <a:solidFill>
                            <a:srgbClr val="171A33"/>
                          </a:solidFill>
                          <a:latin typeface="Calibri"/>
                        </a:rPr>
                        <a:t>Job ad names obstructions as an SLA signal; shapes vary widely</a:t>
                      </a:r>
                    </a:p>
                  </a:txBody>
                  <a:tcPr>
                    <a:solidFill>
                      <a:srgbClr val="FFFFFF"/>
                    </a:solidFill>
                  </a:tcPr>
                </a:tc>
              </a:tr>
              <a:tr h="365760">
                <a:tc>
                  <a:txBody>
                    <a:bodyPr/>
                    <a:lstStyle/>
                    <a:p>
                      <a:r>
                        <a:rPr sz="1050" b="1">
                          <a:solidFill>
                            <a:srgbClr val="171A33"/>
                          </a:solidFill>
                          <a:latin typeface="Calibri"/>
                        </a:rPr>
                        <a:t>Scan quality flag (blur, low light, occluded)</a:t>
                      </a:r>
                    </a:p>
                  </a:txBody>
                  <a:tcPr>
                    <a:solidFill>
                      <a:srgbClr val="EEEDFB"/>
                    </a:solidFill>
                  </a:tcPr>
                </a:tc>
                <a:tc>
                  <a:txBody>
                    <a:bodyPr/>
                    <a:lstStyle/>
                    <a:p>
                      <a:r>
                        <a:rPr sz="1050" b="0">
                          <a:solidFill>
                            <a:srgbClr val="171A33"/>
                          </a:solidFill>
                          <a:latin typeface="Calibri"/>
                        </a:rPr>
                        <a:t>frame classification</a:t>
                      </a:r>
                    </a:p>
                  </a:txBody>
                  <a:tcPr>
                    <a:solidFill>
                      <a:srgbClr val="EEEDFB"/>
                    </a:solidFill>
                  </a:tcPr>
                </a:tc>
                <a:tc>
                  <a:txBody>
                    <a:bodyPr/>
                    <a:lstStyle/>
                    <a:p>
                      <a:r>
                        <a:rPr sz="1050" b="0">
                          <a:solidFill>
                            <a:srgbClr val="171A33"/>
                          </a:solidFill>
                          <a:latin typeface="Calibri"/>
                        </a:rPr>
                        <a:t>Lets Active slice accuracy by condition and gates curation</a:t>
                      </a:r>
                    </a:p>
                  </a:txBody>
                  <a:tcPr>
                    <a:solidFill>
                      <a:srgbClr val="EEED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ENCORD FITS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Lead with Index then Active, the rest follows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5</a:t>
            </a:r>
          </a:p>
        </p:txBody>
      </p:sp>
      <p:sp>
        <p:nvSpPr>
          <p:cNvPr id="7" name="Rectangle 6"/>
          <p:cNvSpPr/>
          <p:nvPr/>
        </p:nvSpPr>
        <p:spPr>
          <a:xfrm>
            <a:off x="640080" y="173736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Index</a:t>
            </a:r>
          </a:p>
        </p:txBody>
      </p:sp>
      <p:sp>
        <p:nvSpPr>
          <p:cNvPr id="9" name="TextBox 8"/>
          <p:cNvSpPr txBox="1"/>
          <p:nvPr/>
        </p:nvSpPr>
        <p:spPr>
          <a:xfrm>
            <a:off x="868680" y="2029967"/>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Register the data where it already lives. Embeddings and quality metrics on every frame. Find the frames worth labelling; drop the repeats.</a:t>
            </a:r>
          </a:p>
        </p:txBody>
      </p:sp>
      <p:sp>
        <p:nvSpPr>
          <p:cNvPr id="10" name="Rectangle 9"/>
          <p:cNvSpPr/>
          <p:nvPr/>
        </p:nvSpPr>
        <p:spPr>
          <a:xfrm>
            <a:off x="640080" y="274320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4320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Active</a:t>
            </a:r>
          </a:p>
        </p:txBody>
      </p:sp>
      <p:sp>
        <p:nvSpPr>
          <p:cNvPr id="12" name="TextBox 11"/>
          <p:cNvSpPr txBox="1"/>
          <p:nvPr/>
        </p:nvSpPr>
        <p:spPr>
          <a:xfrm>
            <a:off x="868680" y="303580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Import predictions. Accuracy by class, site and condition. Find label errors. Know exactly what to label next.</a:t>
            </a:r>
          </a:p>
        </p:txBody>
      </p:sp>
      <p:sp>
        <p:nvSpPr>
          <p:cNvPr id="13" name="Rectangle 12"/>
          <p:cNvSpPr/>
          <p:nvPr/>
        </p:nvSpPr>
        <p:spPr>
          <a:xfrm>
            <a:off x="640080" y="374903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74903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Annotate</a:t>
            </a:r>
          </a:p>
        </p:txBody>
      </p:sp>
      <p:sp>
        <p:nvSpPr>
          <p:cNvPr id="15" name="TextBox 14"/>
          <p:cNvSpPr txBox="1"/>
          <p:nvPr/>
        </p:nvSpPr>
        <p:spPr>
          <a:xfrm>
            <a:off x="868680" y="404164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Label video, 3D and images with SAM auto-segmentation and tracking. Ontology, review workflow, managed workforce if needed.</a:t>
            </a:r>
          </a:p>
        </p:txBody>
      </p:sp>
      <p:sp>
        <p:nvSpPr>
          <p:cNvPr id="16" name="Rectangle 15"/>
          <p:cNvSpPr/>
          <p:nvPr/>
        </p:nvSpPr>
        <p:spPr>
          <a:xfrm>
            <a:off x="640080" y="475487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75487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Agents</a:t>
            </a:r>
          </a:p>
        </p:txBody>
      </p:sp>
      <p:sp>
        <p:nvSpPr>
          <p:cNvPr id="18" name="TextBox 17"/>
          <p:cNvSpPr txBox="1"/>
          <p:nvPr/>
        </p:nvSpPr>
        <p:spPr>
          <a:xfrm>
            <a:off x="868680" y="504748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Run your own model as a workflow stage to pre-label and QA, so people adjudicate rather than draw.</a:t>
            </a:r>
          </a:p>
        </p:txBody>
      </p:sp>
      <p:sp>
        <p:nvSpPr>
          <p:cNvPr id="19" name="Rectangle 18"/>
          <p:cNvSpPr/>
          <p:nvPr/>
        </p:nvSpPr>
        <p:spPr>
          <a:xfrm>
            <a:off x="6583680" y="1737360"/>
            <a:ext cx="4937760" cy="402336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0" y="1737360"/>
            <a:ext cx="493776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1965960"/>
            <a:ext cx="45720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CLOSEST CASE STUDY</a:t>
            </a:r>
          </a:p>
        </p:txBody>
      </p:sp>
      <p:sp>
        <p:nvSpPr>
          <p:cNvPr id="22" name="TextBox 21"/>
          <p:cNvSpPr txBox="1"/>
          <p:nvPr/>
        </p:nvSpPr>
        <p:spPr>
          <a:xfrm>
            <a:off x="6812280" y="2240280"/>
            <a:ext cx="4572000" cy="457200"/>
          </a:xfrm>
          <a:prstGeom prst="rect">
            <a:avLst/>
          </a:prstGeom>
          <a:noFill/>
        </p:spPr>
        <p:txBody>
          <a:bodyPr wrap="square" anchor="t" lIns="0" rIns="0" tIns="0" bIns="0">
            <a:spAutoFit/>
          </a:bodyPr>
          <a:lstStyle/>
          <a:p>
            <a:pPr algn="l">
              <a:spcAft>
                <a:spcPts val="400"/>
              </a:spcAft>
            </a:pPr>
            <a:r>
              <a:rPr sz="2000" b="1">
                <a:solidFill>
                  <a:srgbClr val="171A33"/>
                </a:solidFill>
                <a:latin typeface="Calibri"/>
              </a:rPr>
              <a:t>Automotus, plus Encord's own warehouse-robot curation benchmark</a:t>
            </a:r>
          </a:p>
        </p:txBody>
      </p:sp>
      <p:sp>
        <p:nvSpPr>
          <p:cNvPr id="23" name="TextBox 22"/>
          <p:cNvSpPr txBox="1"/>
          <p:nvPr/>
        </p:nvSpPr>
        <p:spPr>
          <a:xfrm>
            <a:off x="6812280" y="2743200"/>
            <a:ext cx="4572000" cy="822960"/>
          </a:xfrm>
          <a:prstGeom prst="rect">
            <a:avLst/>
          </a:prstGeom>
          <a:noFill/>
        </p:spPr>
        <p:txBody>
          <a:bodyPr wrap="square" anchor="t" lIns="0" rIns="0" tIns="0" bIns="0">
            <a:spAutoFit/>
          </a:bodyPr>
          <a:lstStyle/>
          <a:p>
            <a:pPr algn="l">
              <a:spcAft>
                <a:spcPts val="400"/>
              </a:spcAft>
            </a:pPr>
            <a:r>
              <a:rPr sz="1400" b="1">
                <a:solidFill>
                  <a:srgbClr val="4F46E5"/>
                </a:solidFill>
                <a:latin typeface="Calibri"/>
              </a:rPr>
              <a:t>Automotus: +20% mAP, 35% smaller dataset, 33% lower labelling cost. Warehouse-robot benchmark: 61% fewer frames to label keeping 95% of racks, YOLOv8n 0.48 vs 0.43 mAP50 against a random pick of equal size.</a:t>
            </a:r>
          </a:p>
        </p:txBody>
      </p:sp>
      <p:sp>
        <p:nvSpPr>
          <p:cNvPr id="24" name="TextBox 23"/>
          <p:cNvSpPr txBox="1"/>
          <p:nvPr/>
        </p:nvSpPr>
        <p:spPr>
          <a:xfrm>
            <a:off x="6812280" y="3566160"/>
            <a:ext cx="4572000" cy="2103120"/>
          </a:xfrm>
          <a:prstGeom prst="rect">
            <a:avLst/>
          </a:prstGeom>
          <a:noFill/>
        </p:spPr>
        <p:txBody>
          <a:bodyPr wrap="square" anchor="t" lIns="0" rIns="0" tIns="0" bIns="0">
            <a:spAutoFit/>
          </a:bodyPr>
          <a:lstStyle/>
          <a:p>
            <a:pPr algn="l">
              <a:spcAft>
                <a:spcPts val="400"/>
              </a:spcAft>
            </a:pPr>
            <a:r>
              <a:rPr sz="1100" b="0">
                <a:solidFill>
                  <a:srgbClr val="171A33"/>
                </a:solidFill>
                <a:latin typeface="Calibri"/>
              </a:rPr>
              <a:t>Automotus runs fixed street cameras producing huge volumes of highly repetitive frames, the same redundancy problem as daily rack scans; curation, not more labels, moved accuracy. Our internal shelf-image benchmark is the closest direct analogue to Dexory's aisle passes.</a:t>
            </a:r>
          </a:p>
        </p:txBody>
      </p:sp>
      <p:sp>
        <p:nvSpPr>
          <p:cNvPr id="25" name="TextBox 24"/>
          <p:cNvSpPr txBox="1"/>
          <p:nvPr/>
        </p:nvSpPr>
        <p:spPr>
          <a:xfrm>
            <a:off x="640080" y="5943600"/>
            <a:ext cx="10972800" cy="36576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Data stays in your bucket. SOC2 Type II, HIPAA, GDPR. Everything the UI does, the SDK does.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PROPOSED NEXT STEP</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A two-week proof of value on one site's data</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6</a:t>
            </a:r>
          </a:p>
        </p:txBody>
      </p:sp>
      <p:sp>
        <p:nvSpPr>
          <p:cNvPr id="7" name="Rounded Rectangle 6"/>
          <p:cNvSpPr/>
          <p:nvPr/>
        </p:nvSpPr>
        <p:spPr>
          <a:xfrm>
            <a:off x="640080" y="182880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2880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1</a:t>
            </a:r>
          </a:p>
        </p:txBody>
      </p:sp>
      <p:sp>
        <p:nvSpPr>
          <p:cNvPr id="9" name="TextBox 8"/>
          <p:cNvSpPr txBox="1"/>
          <p:nvPr/>
        </p:nvSpPr>
        <p:spPr>
          <a:xfrm>
            <a:off x="1280160" y="178308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0: register one site's recent scans from Dexory's existing S3/GCS bucket in Index (data never moves), agree the slice: one or two sites, one or two weeks of scans, plus the current Storage Health class list.</a:t>
            </a:r>
          </a:p>
        </p:txBody>
      </p:sp>
      <p:sp>
        <p:nvSpPr>
          <p:cNvPr id="10" name="Rounded Rectangle 9"/>
          <p:cNvSpPr/>
          <p:nvPr/>
        </p:nvSpPr>
        <p:spPr>
          <a:xfrm>
            <a:off x="640080" y="265176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5176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2</a:t>
            </a:r>
          </a:p>
        </p:txBody>
      </p:sp>
      <p:sp>
        <p:nvSpPr>
          <p:cNvPr id="12" name="TextBox 11"/>
          <p:cNvSpPr txBox="1"/>
          <p:nvPr/>
        </p:nvSpPr>
        <p:spPr>
          <a:xfrm>
            <a:off x="1280160" y="260604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generate embeddings and quality metrics, de-duplicate the repeat aisle passes and build two equal-sized Collections, curated versus random. Success metric: percentage reduction in frames needed to retain agreed rack or location coverage.</a:t>
            </a:r>
          </a:p>
        </p:txBody>
      </p:sp>
      <p:sp>
        <p:nvSpPr>
          <p:cNvPr id="13" name="Rounded Rectangle 12"/>
          <p:cNvSpPr/>
          <p:nvPr/>
        </p:nvSpPr>
        <p:spPr>
          <a:xfrm>
            <a:off x="640080" y="347472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47472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3</a:t>
            </a:r>
          </a:p>
        </p:txBody>
      </p:sp>
      <p:sp>
        <p:nvSpPr>
          <p:cNvPr id="15" name="TextBox 14"/>
          <p:cNvSpPr txBox="1"/>
          <p:nvPr/>
        </p:nvSpPr>
        <p:spPr>
          <a:xfrm>
            <a:off x="1280160" y="342900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import existing predictions for pallet, empty location and one Integrity class into Active; produce confusion matrix and accuracy sliced by blur, brightness and obstruction per site. Success metric: at least three named failure slices Dexory did not have visibility on.</a:t>
            </a:r>
          </a:p>
        </p:txBody>
      </p:sp>
      <p:sp>
        <p:nvSpPr>
          <p:cNvPr id="16" name="Rounded Rectangle 15"/>
          <p:cNvSpPr/>
          <p:nvPr/>
        </p:nvSpPr>
        <p:spPr>
          <a:xfrm>
            <a:off x="640080" y="429768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29768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4</a:t>
            </a:r>
          </a:p>
        </p:txBody>
      </p:sp>
      <p:sp>
        <p:nvSpPr>
          <p:cNvPr id="18" name="TextBox 17"/>
          <p:cNvSpPr txBox="1"/>
          <p:nvPr/>
        </p:nvSpPr>
        <p:spPr>
          <a:xfrm>
            <a:off x="1280160" y="425196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label the curated Collection in Annotate with the agreed ontology, using SAM 3 and tracking, and run an Agents pre-label stage on the damage class. Success metric: minutes per frame versus current baseline, plus reviewer agreement on the new classes.</a:t>
            </a:r>
          </a:p>
        </p:txBody>
      </p:sp>
      <p:sp>
        <p:nvSpPr>
          <p:cNvPr id="19" name="Rounded Rectangle 18"/>
          <p:cNvSpPr/>
          <p:nvPr/>
        </p:nvSpPr>
        <p:spPr>
          <a:xfrm>
            <a:off x="640080" y="512064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12064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5</a:t>
            </a:r>
          </a:p>
        </p:txBody>
      </p:sp>
      <p:sp>
        <p:nvSpPr>
          <p:cNvPr id="21" name="TextBox 20"/>
          <p:cNvSpPr txBox="1"/>
          <p:nvPr/>
        </p:nvSpPr>
        <p:spPr>
          <a:xfrm>
            <a:off x="1280160" y="507492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retrain or fine-tune on curated versus random picks of equal size and compare in Active. Success metric: mAP or F1 delta on a held-out site, and a cost-per-usable-label figure to take to the CFO.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LET'S TEST IT</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we'd like to learn from you</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7</a:t>
            </a:r>
          </a:p>
        </p:txBody>
      </p:sp>
      <p:sp>
        <p:nvSpPr>
          <p:cNvPr id="7" name="TextBox 6"/>
          <p:cNvSpPr txBox="1"/>
          <p:nvPr/>
        </p:nvSpPr>
        <p:spPr>
          <a:xfrm>
            <a:off x="640080" y="1737360"/>
            <a:ext cx="6583680" cy="4114800"/>
          </a:xfrm>
          <a:prstGeom prst="rect">
            <a:avLst/>
          </a:prstGeom>
          <a:noFill/>
        </p:spPr>
        <p:txBody>
          <a:bodyPr wrap="square" anchor="t" lIns="0" rIns="0" tIns="0" bIns="0">
            <a:spAutoFit/>
          </a:bodyPr>
          <a:lstStyle/>
          <a:p>
            <a:pPr algn="l">
              <a:spcAft>
                <a:spcPts val="1000"/>
              </a:spcAft>
            </a:pPr>
            <a:r>
              <a:rPr sz="1400" b="0">
                <a:solidFill>
                  <a:srgbClr val="171A33"/>
                </a:solidFill>
                <a:latin typeface="Calibri"/>
              </a:rPr>
              <a:t>•  When you added the Storage Health classes, how many frames did you label to get the first usable model, and how did you choose those frames out of the daily scans?</a:t>
            </a:r>
          </a:p>
          <a:p>
            <a:pPr algn="l">
              <a:spcAft>
                <a:spcPts val="1000"/>
              </a:spcAft>
            </a:pPr>
            <a:r>
              <a:rPr sz="1400" b="0">
                <a:solidFill>
                  <a:srgbClr val="171A33"/>
                </a:solidFill>
                <a:latin typeface="Calibri"/>
              </a:rPr>
              <a:t>•  Across a week of scans at one site, what proportion do you actually keep for training, and what decides that today?</a:t>
            </a:r>
          </a:p>
          <a:p>
            <a:pPr algn="l">
              <a:spcAft>
                <a:spcPts val="1000"/>
              </a:spcAft>
            </a:pPr>
            <a:r>
              <a:rPr sz="1400" b="0">
                <a:solidFill>
                  <a:srgbClr val="171A33"/>
                </a:solidFill>
                <a:latin typeface="Calibri"/>
              </a:rPr>
              <a:t>•  When a site misses its perception accuracy SLA, how long does it take to find out whether it is lighting, blur, obstruction, rack type or a genuine model gap?</a:t>
            </a:r>
          </a:p>
          <a:p>
            <a:pPr algn="l">
              <a:spcAft>
                <a:spcPts val="1000"/>
              </a:spcAft>
            </a:pPr>
            <a:r>
              <a:rPr sz="1400" b="0">
                <a:solidFill>
                  <a:srgbClr val="171A33"/>
                </a:solidFill>
                <a:latin typeface="Calibri"/>
              </a:rPr>
              <a:t>•  Who labels today: internal ops reviewers, an outsourced vendor, or a tool your team built, and what is the per-class cost of that?</a:t>
            </a:r>
          </a:p>
          <a:p>
            <a:pPr algn="l">
              <a:spcAft>
                <a:spcPts val="1000"/>
              </a:spcAft>
            </a:pPr>
            <a:r>
              <a:rPr sz="1400" b="0">
                <a:solidFill>
                  <a:srgbClr val="171A33"/>
                </a:solidFill>
                <a:latin typeface="Calibri"/>
              </a:rPr>
              <a:t>•  The Senior Data Engineer ad mentions modelling perception accuracy against per-site SLAs in Databricks. Is that metric currently produced by the perception team by hand?</a:t>
            </a:r>
          </a:p>
        </p:txBody>
      </p:sp>
      <p:sp>
        <p:nvSpPr>
          <p:cNvPr id="8" name="Rectangle 7"/>
          <p:cNvSpPr/>
          <p:nvPr/>
        </p:nvSpPr>
        <p:spPr>
          <a:xfrm>
            <a:off x="7680960" y="1737360"/>
            <a:ext cx="3840480" cy="237744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965960"/>
            <a:ext cx="3383280" cy="274320"/>
          </a:xfrm>
          <a:prstGeom prst="rect">
            <a:avLst/>
          </a:prstGeom>
          <a:noFill/>
        </p:spPr>
        <p:txBody>
          <a:bodyPr wrap="square" anchor="t" lIns="0" rIns="0" tIns="0" bIns="0">
            <a:spAutoFit/>
          </a:bodyPr>
          <a:lstStyle/>
          <a:p>
            <a:pPr algn="l">
              <a:spcAft>
                <a:spcPts val="400"/>
              </a:spcAft>
            </a:pPr>
            <a:r>
              <a:rPr sz="1000" b="1">
                <a:solidFill>
                  <a:srgbClr val="B9BCDC"/>
                </a:solidFill>
                <a:latin typeface="Calibri"/>
              </a:rPr>
              <a:t>CONTACT</a:t>
            </a:r>
          </a:p>
        </p:txBody>
      </p:sp>
      <p:sp>
        <p:nvSpPr>
          <p:cNvPr id="10" name="TextBox 9"/>
          <p:cNvSpPr txBox="1"/>
          <p:nvPr/>
        </p:nvSpPr>
        <p:spPr>
          <a:xfrm>
            <a:off x="7955279" y="2286000"/>
            <a:ext cx="3383280" cy="1645920"/>
          </a:xfrm>
          <a:prstGeom prst="rect">
            <a:avLst/>
          </a:prstGeom>
          <a:noFill/>
        </p:spPr>
        <p:txBody>
          <a:bodyPr wrap="square" anchor="t" lIns="0" rIns="0" tIns="0" bIns="0">
            <a:spAutoFit/>
          </a:bodyPr>
          <a:lstStyle/>
          <a:p>
            <a:pPr algn="l">
              <a:spcAft>
                <a:spcPts val="600"/>
              </a:spcAft>
            </a:pPr>
            <a:r>
              <a:rPr sz="1300" b="0">
                <a:solidFill>
                  <a:srgbClr val="FFFFFF"/>
                </a:solidFill>
                <a:latin typeface="Calibri"/>
              </a:rPr>
              <a:t>Qais Al-Azkawi</a:t>
            </a:r>
          </a:p>
          <a:p>
            <a:pPr algn="l">
              <a:spcAft>
                <a:spcPts val="600"/>
              </a:spcAft>
            </a:pPr>
            <a:r>
              <a:rPr sz="1300" b="0">
                <a:solidFill>
                  <a:srgbClr val="FFFFFF"/>
                </a:solidFill>
                <a:latin typeface="Calibri"/>
              </a:rPr>
              <a:t>Commercial Associate, Encord</a:t>
            </a:r>
          </a:p>
          <a:p>
            <a:pPr algn="l">
              <a:spcAft>
                <a:spcPts val="600"/>
              </a:spcAft>
            </a:pPr>
            <a:r>
              <a:rPr sz="1300" b="0">
                <a:solidFill>
                  <a:srgbClr val="FFFFFF"/>
                </a:solidFill>
                <a:latin typeface="Calibri"/>
              </a:rPr>
              <a:t>qaisqas@gmail.com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