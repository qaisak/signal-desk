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Discovery questions to test this:</a:t>
            </a:r>
          </a:p>
          <a:p>
            <a:r>
              <a:t>- How is perception accuracy defined and measured per site today, and who is accountable when a site drifts below the committed SLA?</a:t>
            </a:r>
          </a:p>
          <a:p>
            <a:r>
              <a:t>- When you launched the new Integrity classes for damage and rack compliance, how many frames did you label and how long did it take from decision to deployed model?</a:t>
            </a:r>
          </a:p>
          <a:p>
            <a:r>
              <a:t>- Of the frames a robot captures in a daily scan, roughly what fraction ever reaches an annotator, and how do you choose them?</a:t>
            </a:r>
          </a:p>
          <a:p>
            <a:r>
              <a:t>- What happens operationally when a customer disputes a discrepancy flag: does that frame get back into the training set, and can you find similar frames across other sites?</a:t>
            </a:r>
          </a:p>
          <a:p>
            <a:r>
              <a:t>- Can customer imagery from Iron Mountain or Stellantis sites leave your own cloud storage, and what does that rule out tool-wise?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Confidence: medium</a:t>
            </a:r>
          </a:p>
          <a:p>
            <a:r>
              <a:t>Risks:</a:t>
            </a:r>
          </a:p>
          <a:p>
            <a:r>
              <a:t>- The visible hire is a Founding Data Engineer focused on business and SLA reporting in Databricks, not a perception data lead; our persona may not be hiring or budgeted right now.</a:t>
            </a:r>
          </a:p>
          <a:p>
            <a:r>
              <a:t>- Likely in-house annotation tooling built over several years alongside the robot stack, with sunk cost and an internal argument that shelf scans are simple enough to label cheaply offshore.</a:t>
            </a:r>
          </a:p>
          <a:p>
            <a:r>
              <a:t>- Enterprise customer imagery from logistics and automotive sites may carry contractual restrictions that slow any third-party tool through security review, even with data staying in their bucket.</a:t>
            </a:r>
          </a:p>
          <a:p>
            <a:r>
              <a:t>- Incumbent vendor or open-source stack (CVAT, Roboflow, a managed labelling BPO) already covers basic box labelling, so our wedge has to be curation and model evaluation, not labelling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21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0624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ENCORD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577840"/>
            <a:ext cx="3200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9BCDC"/>
                </a:solidFill>
                <a:latin typeface="Calibri"/>
              </a:rPr>
              <a:t>Prepared 2026-10-05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B9BCDC"/>
                </a:solidFill>
                <a:latin typeface="Calibri"/>
              </a:rPr>
              <a:t>Qais Al-Azkawi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B9BCDC"/>
                </a:solidFill>
                <a:latin typeface="Calibri"/>
              </a:rPr>
              <a:t>DRAFT for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828800"/>
            <a:ext cx="67665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71A33"/>
                </a:solidFill>
                <a:latin typeface="Calibri"/>
              </a:rPr>
              <a:t>Encord x Dexory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3108960"/>
            <a:ext cx="67665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6180"/>
                </a:solidFill>
                <a:latin typeface="Calibri"/>
              </a:rPr>
              <a:t>Dexory now sells perception accuracy as a contracted SLA per site, so the bottleneck is no longer collecting shelf scans but choosing which of the millions of near-identical frames to label and proving the Integrity models hold up site by site.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576072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D6180"/>
                </a:solidFill>
                <a:latin typeface="Calibri"/>
              </a:rPr>
              <a:t>A first-meeting point of view. Everything here is our reading of public information; the questions are where we want to be corrected.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WHAT WE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71A33"/>
                </a:solidFill>
                <a:latin typeface="Calibri"/>
              </a:rPr>
              <a:t>What Dexory builds, and how we think the data 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DRAFT for review  ·  Encord  · 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1206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71A33"/>
                </a:solidFill>
                <a:latin typeface="Calibri"/>
              </a:rPr>
              <a:t>Dexory builds autonomous camera and sensor robots (now up to 18m AMRs) that drive warehouse aisles daily and feed DexoryView, a subscription platform that reconciles what the WMS says should be in a location against what is actually there. The Integrity module flags inventory discrepancies, damage and hygiene risks and rack compliance; Optimise handles slotting and space utilisation. Buyers are 3PL and enterprise logistics operators such as Iron Mountain, Ziegler, Romark and Stellantis sites.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73736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INFERRED PIPELINE (guesses marked)</a:t>
            </a:r>
          </a:p>
        </p:txBody>
      </p:sp>
      <p:sp>
        <p:nvSpPr>
          <p:cNvPr id="9" name="Oval 8"/>
          <p:cNvSpPr/>
          <p:nvPr/>
        </p:nvSpPr>
        <p:spPr>
          <a:xfrm>
            <a:off x="6217920" y="2103120"/>
            <a:ext cx="384048" cy="38404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21031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084831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71A33"/>
                </a:solidFill>
                <a:latin typeface="Calibri"/>
              </a:rPr>
              <a:t>Robots run automated daily scan missions per aisle, capturing high-resolution imagery of every rack face plus (guess) LIDAR or depth for localisation and pallet geometry.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0" y="2761487"/>
            <a:ext cx="384048" cy="38404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2761487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2743199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71A33"/>
                </a:solidFill>
                <a:latin typeface="Calibri"/>
              </a:rPr>
              <a:t>Scans are uploaded per site and per mission into cloud object storage, probably partitioned by customer, site, date and mission, with barcode or location-label reads tied to WMS slot IDs (guess).</a:t>
            </a:r>
          </a:p>
        </p:txBody>
      </p:sp>
      <p:sp>
        <p:nvSpPr>
          <p:cNvPr id="15" name="Oval 14"/>
          <p:cNvSpPr/>
          <p:nvPr/>
        </p:nvSpPr>
        <p:spPr>
          <a:xfrm>
            <a:off x="6217920" y="3419855"/>
            <a:ext cx="384048" cy="38404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3419855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3401567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71A33"/>
                </a:solidFill>
                <a:latin typeface="Calibri"/>
              </a:rPr>
              <a:t>Detection and OCR models produce occupancy, location ID and discrepancy outputs; newer Integrity classes (damage, hygiene, rack compliance) run on top of the same frames (guess).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4078223"/>
            <a:ext cx="384048" cy="38404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4078223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4059935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71A33"/>
                </a:solidFill>
                <a:latin typeface="Calibri"/>
              </a:rPr>
              <a:t>Labelling is likely a mix of in-house tooling, an outsourced vendor and operations staff adjudicating flagged exceptions; we have no direct evidence of the tool used.</a:t>
            </a:r>
          </a:p>
        </p:txBody>
      </p:sp>
      <p:sp>
        <p:nvSpPr>
          <p:cNvPr id="21" name="Oval 20"/>
          <p:cNvSpPr/>
          <p:nvPr/>
        </p:nvSpPr>
        <p:spPr>
          <a:xfrm>
            <a:off x="6217920" y="4736591"/>
            <a:ext cx="384048" cy="38404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473659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4718303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71A33"/>
                </a:solidFill>
                <a:latin typeface="Calibri"/>
              </a:rPr>
              <a:t>Model outputs are aggregated into per-site accuracy, scan coverage and obstruction metrics; the Founding Data Engineer ad says these are being modelled against committed SLAs and KPIs in Databricks.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0" y="5394959"/>
            <a:ext cx="384048" cy="38404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5394959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5376671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71A33"/>
                </a:solidFill>
                <a:latin typeface="Calibri"/>
              </a:rPr>
              <a:t>Failures surface as customer-reported discrepancies, which (guess) are fed back manually as new training examples with no systematic way to find similar frames across sites.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WHERE WE THINK IT HURTS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71A33"/>
                </a:solidFill>
                <a:latin typeface="Calibri"/>
              </a:rPr>
              <a:t>Three hypotheses, ranked by how sure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DRAFT for review  ·  Encord  · 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3520440" cy="4617720"/>
          </a:xfrm>
          <a:prstGeom prst="rect">
            <a:avLst/>
          </a:prstGeom>
          <a:solidFill>
            <a:srgbClr val="EE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3520440" cy="7315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96596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HYPOTHESIS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40280"/>
            <a:ext cx="3063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71A33"/>
                </a:solidFill>
                <a:latin typeface="Calibri"/>
              </a:rPr>
              <a:t>Massive redundancy: the same rack face is scanned daily, so labelling budget is spent on near-duplicate frames while rare damage and compliance events stay under-represented.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204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5D6180"/>
                </a:solidFill>
                <a:latin typeface="Calibri"/>
              </a:rPr>
              <a:t>WHY WE THINK 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39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5D6180"/>
                </a:solidFill>
                <a:latin typeface="Calibri"/>
              </a:rPr>
              <a:t>Daily automated scans across multi-site deployments (Iron Mountain expansion, Stellantis), plus new Integrity classes for damage, hygiene and rack compliance.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6634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5D6180"/>
                </a:solidFill>
                <a:latin typeface="Calibri"/>
              </a:rPr>
              <a:t>WHAT ENCORD DOES ABOUT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892040"/>
            <a:ext cx="3063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171A33"/>
                </a:solidFill>
                <a:latin typeface="Calibri"/>
              </a:rPr>
              <a:t>Index registers frames in their own bucket, computes embeddings and quality metrics, and lets them de-duplicate and diversity-sample into Collections. Our warehouse shelf-scan benchmark cut frames to label by 61% while keeping 95% of racks, and the curated pick beat a random pick of equal size.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1691640"/>
            <a:ext cx="3520440" cy="4617720"/>
          </a:xfrm>
          <a:prstGeom prst="rect">
            <a:avLst/>
          </a:prstGeom>
          <a:solidFill>
            <a:srgbClr val="EE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120" y="1737360"/>
            <a:ext cx="3520440" cy="7315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196596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HYPOTHESIS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240280"/>
            <a:ext cx="3063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71A33"/>
                </a:solidFill>
                <a:latin typeface="Calibri"/>
              </a:rPr>
              <a:t>Perception accuracy is now a contractual SLA per site, but there is no systematic way to show where models fail by site, aisle, lighting or class.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5204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5D6180"/>
                </a:solidFill>
                <a:latin typeface="Calibri"/>
              </a:rPr>
              <a:t>WHY WE THINK SO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749039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5D6180"/>
                </a:solidFill>
                <a:latin typeface="Calibri"/>
              </a:rPr>
              <a:t>Job ad: model perception accuracy, scan and mission performance, obstructions and scan coverage against SLAs and KPIs committed per site.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46634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5D6180"/>
                </a:solidFill>
                <a:latin typeface="Calibri"/>
              </a:rPr>
              <a:t>WHAT ENCORD DOES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892040"/>
            <a:ext cx="3063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171A33"/>
                </a:solidFill>
                <a:latin typeface="Calibri"/>
              </a:rPr>
              <a:t>Active imports their predictions and reports mAP, F1, PR curves and confusion matrix sliced by class, IoU threshold and any data metric. Metric-to-failure correlation then tells them which frames to label next, feeding the per-site SLA story directly.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8159" y="1691640"/>
            <a:ext cx="3520440" cy="4617720"/>
          </a:xfrm>
          <a:prstGeom prst="rect">
            <a:avLst/>
          </a:prstGeom>
          <a:solidFill>
            <a:srgbClr val="EE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38159" y="1737360"/>
            <a:ext cx="3520440" cy="7315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59" y="196596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HYPOTHESIS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59" y="2240280"/>
            <a:ext cx="3063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71A33"/>
                </a:solidFill>
                <a:latin typeface="Calibri"/>
              </a:rPr>
              <a:t>New Integrity classes (damage, leaning pallets, hygiene risks) need fresh labels fast, and each new enterprise site brings new racking, lighting and pallet types that break the previous ontology.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59" y="35204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5D6180"/>
                </a:solidFill>
                <a:latin typeface="Calibri"/>
              </a:rPr>
              <a:t>WHY WE THINK 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59" y="3749039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5D6180"/>
                </a:solidFill>
                <a:latin typeface="Calibri"/>
              </a:rPr>
              <a:t>Site text on Integrity module ML models; Storage Health launch Feb 2026; rapid multi-site expansion with Iron Mountain and Stellantis.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59" y="46634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5D6180"/>
                </a:solidFill>
                <a:latin typeface="Calibri"/>
              </a:rPr>
              <a:t>WHAT ENCORD DOES ABOUT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59" y="4892040"/>
            <a:ext cx="3063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171A33"/>
                </a:solidFill>
                <a:latin typeface="Calibri"/>
              </a:rPr>
              <a:t>Annotate gives one ontology across images, native video and point clouds with SAM 3 auto-segmentation, tracking and interpolation, plus review workflows. Agents run their own detector as a pre-labelling stage so annotators correct rather than draw.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A STARTING ONTOLOGY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71A33"/>
                </a:solidFill>
                <a:latin typeface="Calibri"/>
              </a:rPr>
              <a:t>What we would label for Dexory, and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DRAFT for review  ·  Encord  · 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D6180"/>
                </a:solidFill>
                <a:latin typeface="Calibri"/>
              </a:rPr>
              <a:t>A proposal to argue with. The shapes matter: they decide what the model can learn and what the labellers spend time on.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194560"/>
          <a:ext cx="10881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828800"/>
                <a:gridCol w="612648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Shape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Why this shape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1A33"/>
                          </a:solidFill>
                          <a:latin typeface="Calibri"/>
                        </a:rPr>
                        <a:t>Pallet in location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bounding box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Core occupancy signal reconciled against the WMS slot record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1A33"/>
                          </a:solidFill>
                          <a:latin typeface="Calibri"/>
                        </a:rPr>
                        <a:t>Empty or partially filled location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bounding box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Drives inventory discrepancy and space utilisation outputs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1A33"/>
                          </a:solidFill>
                          <a:latin typeface="Calibri"/>
                        </a:rPr>
                        <a:t>Location or product barcode region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bounding box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OCR region tying each detection to a WMS location 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1A33"/>
                          </a:solidFill>
                          <a:latin typeface="Calibri"/>
                        </a:rPr>
                        <a:t>Damaged rack beam or upright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polygon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Rack compliance and safety flags need tight shape, not loose boxes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1A33"/>
                          </a:solidFill>
                          <a:latin typeface="Calibri"/>
                        </a:rPr>
                        <a:t>Leaning or overhanging pallet corners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keypoint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Lean and overhang angle is geometric, keypoints measure it directly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1A33"/>
                          </a:solidFill>
                          <a:latin typeface="Calibri"/>
                        </a:rPr>
                        <a:t>Damaged or spilled stock, shrink wrap tear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bitmask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Irregular damage extent for Integrity damage and hygiene risk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1A33"/>
                          </a:solidFill>
                          <a:latin typeface="Calibri"/>
                        </a:rPr>
                        <a:t>Aisle obstruction: debris, forklift, person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3D cuboid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If LIDAR is used, obstruction and scan coverage metrics need 3D extent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1A33"/>
                          </a:solidFill>
                          <a:latin typeface="Calibri"/>
                        </a:rPr>
                        <a:t>Scan quality: motion blur, dark aisle, occluded face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frame classification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Explains coverage gaps and filters frames before they reach annotators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WHERE ENCORD 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71A33"/>
                </a:solidFill>
                <a:latin typeface="Calibri"/>
              </a:rPr>
              <a:t>Lead with Index then Active, the rest follows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DRAFT for review  ·  Encord  · 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91440" cy="8229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3736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71A33"/>
                </a:solidFill>
                <a:latin typeface="Calibri"/>
              </a:rPr>
              <a:t>Index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029967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D6180"/>
                </a:solidFill>
                <a:latin typeface="Calibri"/>
              </a:rPr>
              <a:t>Register the data where it already lives. Embeddings and quality metrics on every frame. Find the frames worth labelling; drop the repeats.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43200"/>
            <a:ext cx="91440" cy="8229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432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71A33"/>
                </a:solidFill>
                <a:latin typeface="Calibri"/>
              </a:rPr>
              <a:t>Active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035808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D6180"/>
                </a:solidFill>
                <a:latin typeface="Calibri"/>
              </a:rPr>
              <a:t>Import predictions. Accuracy by class, site and condition. Find label errors. Know exactly what to label next.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49039"/>
            <a:ext cx="91440" cy="822960"/>
          </a:xfrm>
          <a:prstGeom prst="rect">
            <a:avLst/>
          </a:prstGeom>
          <a:solidFill>
            <a:srgbClr val="DF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749039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71A33"/>
                </a:solidFill>
                <a:latin typeface="Calibri"/>
              </a:rPr>
              <a:t>Annotate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041648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D6180"/>
                </a:solidFill>
                <a:latin typeface="Calibri"/>
              </a:rPr>
              <a:t>Label video, 3D and images with SAM auto-segmentation and tracking. Ontology, review workflow, managed workforce if needed.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754879"/>
            <a:ext cx="91440" cy="822960"/>
          </a:xfrm>
          <a:prstGeom prst="rect">
            <a:avLst/>
          </a:prstGeom>
          <a:solidFill>
            <a:srgbClr val="DF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754879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71A33"/>
                </a:solidFill>
                <a:latin typeface="Calibri"/>
              </a:rPr>
              <a:t>Agents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047488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D6180"/>
                </a:solidFill>
                <a:latin typeface="Calibri"/>
              </a:rPr>
              <a:t>Run your own model as a workflow stage to pre-label and QA, so people adjudicate rather than draw.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737360"/>
            <a:ext cx="4937760" cy="4023360"/>
          </a:xfrm>
          <a:prstGeom prst="rect">
            <a:avLst/>
          </a:prstGeom>
          <a:solidFill>
            <a:srgbClr val="EE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1737360"/>
            <a:ext cx="4937760" cy="7315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196596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CLOSEST CASE STUDY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224028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71A33"/>
                </a:solidFill>
                <a:latin typeface="Calibri"/>
              </a:rPr>
              <a:t>Automotus, plus Encord's own warehouse shelf-scan benchmark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2743200"/>
            <a:ext cx="4572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Automotus: +20% mAP, 35% smaller dataset, 33% lower labelling cost after curating with Encord. Warehouse benchmark: 61% fewer frames to label keeping 95% of racks, YOLOv8n at 0.48 mAP50 curated versus 0.43 random at equal size.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3566160"/>
            <a:ext cx="45720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71A33"/>
                </a:solidFill>
                <a:latin typeface="Calibri"/>
              </a:rPr>
              <a:t>Automotus runs fixed street cameras producing huge volumes of repetitive footage, the same redundancy problem as a daily rack scan. Our internal warehouse benchmark is closer still: public shelf images, three passes per rack, 10% degraded frames, exactly the shape of a Dexory mission.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D6180"/>
                </a:solidFill>
                <a:latin typeface="Calibri"/>
              </a:rPr>
              <a:t>Data stays in your bucket. SOC2 Type II, HIPAA, GDPR. Everything the UI does, the SDK does.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PROPOSED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71A33"/>
                </a:solidFill>
                <a:latin typeface="Calibri"/>
              </a:rPr>
              <a:t>A two-week proof of value on one site's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DRAFT for review  ·  Encord  · 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457200" cy="4572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783080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71A33"/>
                </a:solidFill>
                <a:latin typeface="Calibri"/>
              </a:rPr>
              <a:t>Week 1, day 1 to 2: register one site's scans from their existing S3 or Azure bucket into Index; no data movement, SOC2 Type II and GDPR in place. Success: embeddings and quality metrics on one week of missions from one site.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51760"/>
            <a:ext cx="457200" cy="4572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606040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71A33"/>
                </a:solidFill>
                <a:latin typeface="Calibri"/>
              </a:rPr>
              <a:t>Week 1, day 3 to 5: de-duplicate near-identical rack passes and build a diversity Collection. Success metric: percentage reduction in candidate frames while retaining coverage of every rack face, target 50% or better.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474720"/>
            <a:ext cx="457200" cy="4572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747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429000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71A33"/>
                </a:solidFill>
                <a:latin typeface="Calibri"/>
              </a:rPr>
              <a:t>Week 2, day 1 to 2: import their current Integrity model predictions into Active and slice performance by class, site, aisle and brightness or sharpness. Success: a named list of the three worst-performing slices tied to SLA risk.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297680"/>
            <a:ext cx="457200" cy="4572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2976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251960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71A33"/>
                </a:solidFill>
                <a:latin typeface="Calibri"/>
              </a:rPr>
              <a:t>Week 2, day 3 to 4: label the Active-recommended slice in Annotate with SAM 3 and an Agents pre-labelling stage using their own detector. Success: time per frame for damage polygons versus their current baseline.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120640"/>
            <a:ext cx="457200" cy="4572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120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074920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71A33"/>
                </a:solidFill>
                <a:latin typeface="Calibri"/>
              </a:rPr>
              <a:t>Week 2, day 5: retrain or fine-tune on curated versus random picks of equal size and compare in Active. Success: measurable mAP or recall gain on damaged and leaning pallet classes, plus a cost-per-labelled-frame figure for the business case.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LET'S TEST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71A33"/>
                </a:solidFill>
                <a:latin typeface="Calibri"/>
              </a:rPr>
              <a:t>What we'd like to learn from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DRAFT for review  ·  Encord  · 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65836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171A33"/>
                </a:solidFill>
                <a:latin typeface="Calibri"/>
              </a:rPr>
              <a:t>•  How is perception accuracy defined and measured per site today, and who is accountable when a site drifts below the committed SLA?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71A33"/>
                </a:solidFill>
                <a:latin typeface="Calibri"/>
              </a:rPr>
              <a:t>•  When you launched the new Integrity classes for damage and rack compliance, how many frames did you label and how long did it take from decision to deployed model?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71A33"/>
                </a:solidFill>
                <a:latin typeface="Calibri"/>
              </a:rPr>
              <a:t>•  Of the frames a robot captures in a daily scan, roughly what fraction ever reaches an annotator, and how do you choose them?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71A33"/>
                </a:solidFill>
                <a:latin typeface="Calibri"/>
              </a:rPr>
              <a:t>•  What happens operationally when a customer disputes a discrepancy flag: does that frame get back into the training set, and can you find similar frames across other sites?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71A33"/>
                </a:solidFill>
                <a:latin typeface="Calibri"/>
              </a:rPr>
              <a:t>•  Can customer imagery from Iron Mountain or Stellantis sites leave your own cloud storage, and what does that rule out tool-wise?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737360"/>
            <a:ext cx="3840480" cy="2377440"/>
          </a:xfrm>
          <a:prstGeom prst="rect">
            <a:avLst/>
          </a:prstGeom>
          <a:solidFill>
            <a:srgbClr val="121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196596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B9BCDC"/>
                </a:solidFill>
                <a:latin typeface="Calibri"/>
              </a:rPr>
              <a:t>CONTACT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2286000"/>
            <a:ext cx="33832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Qais Al-Azkawi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Commercial Associate, Encord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qaisqas@gmail.com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