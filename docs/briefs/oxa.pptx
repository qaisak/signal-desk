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Discovery questions to test this:</a:t>
            </a:r>
          </a:p>
          <a:p>
            <a:r>
              <a:t>- Your October 2025 post talked about multimodal search speeding up development. What does that cover today, and where does it stop being enough?</a:t>
            </a:r>
          </a:p>
          <a:p>
            <a:r>
              <a:t>- When you stand up a new site like Dubai, roughly how many labelled frames do you need before perception is signed off, and how much of that is genuinely new versus a repeat of Heathrow or Tyne?</a:t>
            </a:r>
          </a:p>
          <a:p>
            <a:r>
              <a:t>- Are 3D point cloud and camera labelled on the same synced clip today, and who does the 3D work, internal team or vendor?</a:t>
            </a:r>
          </a:p>
          <a:p>
            <a:r>
              <a:t>- How do you currently decide which clips from a week of repeated route runs actually get sent for labelling?</a:t>
            </a:r>
          </a:p>
          <a:p>
            <a:r>
              <a:t>- What does Oxa Foundry own that you would never outsource, and where would you rather buy than build?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Confidence: medium</a:t>
            </a:r>
          </a:p>
          <a:p>
            <a:r>
              <a:t>Risks:</a:t>
            </a:r>
          </a:p>
          <a:p>
            <a:r>
              <a:t>- Oxa Foundry is an internal toolchain and they have already invested in multimodal search, so this is a build-versus-buy fight, not a greenfield one.</a:t>
            </a:r>
          </a:p>
          <a:p>
            <a:r>
              <a:t>- No open ML/CV job ads found and no contact identified, so we have no direct evidence of a hiring or tooling gap. The pain is inferred.</a:t>
            </a:r>
          </a:p>
          <a:p>
            <a:r>
              <a:t>- Fresh capital ($103m Series D first close, March 2026) and the SHIFFT launch means attention is on commercial rollout in Dubai, not on internal tooling procurement.</a:t>
            </a:r>
          </a:p>
          <a:p>
            <a:r>
              <a:t>- Likely NVIDIA ecosystem ties (their September 2025 note on NVIDIA technology expansion) could pull them toward an NVIDIA-aligned data stack instead.</a:t>
            </a:r>
          </a:p>
          <a:p>
            <a:r>
              <a:t>- Automotive-grade AV teams often have incumbent 3D labelling vendors on long contracts.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4206240" cy="6858000"/>
          </a:xfrm>
          <a:prstGeom prst="rect">
            <a:avLst/>
          </a:prstGeom>
          <a:solidFill>
            <a:srgbClr val="121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206240" y="0"/>
            <a:ext cx="109728" cy="685800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548640"/>
            <a:ext cx="3200400" cy="365760"/>
          </a:xfrm>
          <a:prstGeom prst="rect">
            <a:avLst/>
          </a:prstGeom>
          <a:noFill/>
        </p:spPr>
        <p:txBody>
          <a:bodyPr wrap="square" anchor="t" lIns="0" rIns="0" tIns="0" bIns="0">
            <a:spAutoFit/>
          </a:bodyPr>
          <a:lstStyle/>
          <a:p>
            <a:pPr algn="l">
              <a:spcAft>
                <a:spcPts val="400"/>
              </a:spcAft>
            </a:pPr>
            <a:r>
              <a:rPr sz="1200" b="1">
                <a:solidFill>
                  <a:srgbClr val="FFFFFF"/>
                </a:solidFill>
                <a:latin typeface="Calibri"/>
              </a:rPr>
              <a:t>ENCORD</a:t>
            </a:r>
          </a:p>
        </p:txBody>
      </p:sp>
      <p:sp>
        <p:nvSpPr>
          <p:cNvPr id="5" name="TextBox 4"/>
          <p:cNvSpPr txBox="1"/>
          <p:nvPr/>
        </p:nvSpPr>
        <p:spPr>
          <a:xfrm>
            <a:off x="548640" y="5577840"/>
            <a:ext cx="3200400" cy="914400"/>
          </a:xfrm>
          <a:prstGeom prst="rect">
            <a:avLst/>
          </a:prstGeom>
          <a:noFill/>
        </p:spPr>
        <p:txBody>
          <a:bodyPr wrap="square" anchor="t" lIns="0" rIns="0" tIns="0" bIns="0">
            <a:spAutoFit/>
          </a:bodyPr>
          <a:lstStyle/>
          <a:p>
            <a:pPr algn="l">
              <a:spcAft>
                <a:spcPts val="400"/>
              </a:spcAft>
            </a:pPr>
            <a:r>
              <a:rPr sz="1000" b="0">
                <a:solidFill>
                  <a:srgbClr val="B9BCDC"/>
                </a:solidFill>
                <a:latin typeface="Calibri"/>
              </a:rPr>
              <a:t>Prepared 2026-09-29</a:t>
            </a:r>
          </a:p>
          <a:p>
            <a:pPr algn="l">
              <a:spcAft>
                <a:spcPts val="400"/>
              </a:spcAft>
            </a:pPr>
            <a:r>
              <a:rPr sz="1000" b="0">
                <a:solidFill>
                  <a:srgbClr val="B9BCDC"/>
                </a:solidFill>
                <a:latin typeface="Calibri"/>
              </a:rPr>
              <a:t>Qais Al-Azkawi</a:t>
            </a:r>
          </a:p>
          <a:p>
            <a:pPr algn="l">
              <a:spcAft>
                <a:spcPts val="400"/>
              </a:spcAft>
            </a:pPr>
            <a:r>
              <a:rPr sz="1000" b="0">
                <a:solidFill>
                  <a:srgbClr val="B9BCDC"/>
                </a:solidFill>
                <a:latin typeface="Calibri"/>
              </a:rPr>
              <a:t>DRAFT for review</a:t>
            </a:r>
          </a:p>
        </p:txBody>
      </p:sp>
      <p:sp>
        <p:nvSpPr>
          <p:cNvPr id="6" name="TextBox 5"/>
          <p:cNvSpPr txBox="1"/>
          <p:nvPr/>
        </p:nvSpPr>
        <p:spPr>
          <a:xfrm>
            <a:off x="4846320" y="1828800"/>
            <a:ext cx="6766560" cy="1280160"/>
          </a:xfrm>
          <a:prstGeom prst="rect">
            <a:avLst/>
          </a:prstGeom>
          <a:noFill/>
        </p:spPr>
        <p:txBody>
          <a:bodyPr wrap="square" anchor="t" lIns="0" rIns="0" tIns="0" bIns="0">
            <a:spAutoFit/>
          </a:bodyPr>
          <a:lstStyle/>
          <a:p>
            <a:pPr algn="l">
              <a:spcAft>
                <a:spcPts val="400"/>
              </a:spcAft>
            </a:pPr>
            <a:r>
              <a:rPr sz="4000" b="1">
                <a:solidFill>
                  <a:srgbClr val="171A33"/>
                </a:solidFill>
                <a:latin typeface="Calibri"/>
              </a:rPr>
              <a:t>Encord x Oxa</a:t>
            </a:r>
          </a:p>
        </p:txBody>
      </p:sp>
      <p:sp>
        <p:nvSpPr>
          <p:cNvPr id="7" name="TextBox 6"/>
          <p:cNvSpPr txBox="1"/>
          <p:nvPr/>
        </p:nvSpPr>
        <p:spPr>
          <a:xfrm>
            <a:off x="4846320" y="3108960"/>
            <a:ext cx="6766560" cy="2011680"/>
          </a:xfrm>
          <a:prstGeom prst="rect">
            <a:avLst/>
          </a:prstGeom>
          <a:noFill/>
        </p:spPr>
        <p:txBody>
          <a:bodyPr wrap="square" anchor="t" lIns="0" rIns="0" tIns="0" bIns="0">
            <a:spAutoFit/>
          </a:bodyPr>
          <a:lstStyle/>
          <a:p>
            <a:pPr algn="l">
              <a:spcAft>
                <a:spcPts val="400"/>
              </a:spcAft>
            </a:pPr>
            <a:r>
              <a:rPr sz="1800" b="0">
                <a:solidFill>
                  <a:srgbClr val="5D6180"/>
                </a:solidFill>
                <a:latin typeface="Calibri"/>
              </a:rPr>
              <a:t>Oxa's new Dubai and port deployments mean the same rack of sensor logs gets driven again and again, so the bottleneck is choosing which of those near-identical frames to label in 3D and 2D, not labelling capacity itself.</a:t>
            </a:r>
          </a:p>
        </p:txBody>
      </p:sp>
      <p:sp>
        <p:nvSpPr>
          <p:cNvPr id="8" name="TextBox 7"/>
          <p:cNvSpPr txBox="1"/>
          <p:nvPr/>
        </p:nvSpPr>
        <p:spPr>
          <a:xfrm>
            <a:off x="4846320" y="5760720"/>
            <a:ext cx="6766560" cy="457200"/>
          </a:xfrm>
          <a:prstGeom prst="rect">
            <a:avLst/>
          </a:prstGeom>
          <a:noFill/>
        </p:spPr>
        <p:txBody>
          <a:bodyPr wrap="square" anchor="t" lIns="0" rIns="0" tIns="0" bIns="0">
            <a:spAutoFit/>
          </a:bodyPr>
          <a:lstStyle/>
          <a:p>
            <a:pPr algn="l">
              <a:spcAft>
                <a:spcPts val="400"/>
              </a:spcAft>
            </a:pPr>
            <a:r>
              <a:rPr sz="1000" b="0">
                <a:solidFill>
                  <a:srgbClr val="5D6180"/>
                </a:solidFill>
                <a:latin typeface="Calibri"/>
              </a:rPr>
              <a:t>A first-meeting point of view. Everything here is our reading of public information; the questions are where we want to be corrected.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10972800" cy="274320"/>
          </a:xfrm>
          <a:prstGeom prst="rect">
            <a:avLst/>
          </a:prstGeom>
          <a:noFill/>
        </p:spPr>
        <p:txBody>
          <a:bodyPr wrap="square" anchor="t" lIns="0" rIns="0" tIns="0" bIns="0">
            <a:spAutoFit/>
          </a:bodyPr>
          <a:lstStyle/>
          <a:p>
            <a:pPr algn="l">
              <a:spcAft>
                <a:spcPts val="400"/>
              </a:spcAft>
            </a:pPr>
            <a:r>
              <a:rPr sz="1000" b="1">
                <a:solidFill>
                  <a:srgbClr val="4F46E5"/>
                </a:solidFill>
                <a:latin typeface="Calibri"/>
              </a:rPr>
              <a:t>WHAT WE UNDERSTAND</a:t>
            </a:r>
          </a:p>
        </p:txBody>
      </p:sp>
      <p:sp>
        <p:nvSpPr>
          <p:cNvPr id="4" name="TextBox 3"/>
          <p:cNvSpPr txBox="1"/>
          <p:nvPr/>
        </p:nvSpPr>
        <p:spPr>
          <a:xfrm>
            <a:off x="640080" y="685800"/>
            <a:ext cx="10881360" cy="914400"/>
          </a:xfrm>
          <a:prstGeom prst="rect">
            <a:avLst/>
          </a:prstGeom>
          <a:noFill/>
        </p:spPr>
        <p:txBody>
          <a:bodyPr wrap="square" anchor="t" lIns="0" rIns="0" tIns="0" bIns="0">
            <a:spAutoFit/>
          </a:bodyPr>
          <a:lstStyle/>
          <a:p>
            <a:pPr algn="l">
              <a:spcAft>
                <a:spcPts val="400"/>
              </a:spcAft>
            </a:pPr>
            <a:r>
              <a:rPr sz="2600" b="1">
                <a:solidFill>
                  <a:srgbClr val="171A33"/>
                </a:solidFill>
                <a:latin typeface="Calibri"/>
              </a:rPr>
              <a:t>What Oxa builds, and how we think the data flows</a:t>
            </a:r>
          </a:p>
        </p:txBody>
      </p:sp>
      <p:sp>
        <p:nvSpPr>
          <p:cNvPr id="5" name="TextBox 4"/>
          <p:cNvSpPr txBox="1"/>
          <p:nvPr/>
        </p:nvSpPr>
        <p:spPr>
          <a:xfrm>
            <a:off x="640080" y="6446520"/>
            <a:ext cx="7315200" cy="274320"/>
          </a:xfrm>
          <a:prstGeom prst="rect">
            <a:avLst/>
          </a:prstGeom>
          <a:noFill/>
        </p:spPr>
        <p:txBody>
          <a:bodyPr wrap="square" anchor="t" lIns="0" rIns="0" tIns="0" bIns="0">
            <a:spAutoFit/>
          </a:bodyPr>
          <a:lstStyle/>
          <a:p>
            <a:pPr algn="l">
              <a:spcAft>
                <a:spcPts val="400"/>
              </a:spcAft>
            </a:pPr>
            <a:r>
              <a:rPr sz="900" b="0">
                <a:solidFill>
                  <a:srgbClr val="5D6180"/>
                </a:solidFill>
                <a:latin typeface="Calibri"/>
              </a:rPr>
              <a:t>DRAFT for review  ·  Encord  ·  confidential</a:t>
            </a:r>
          </a:p>
        </p:txBody>
      </p:sp>
      <p:sp>
        <p:nvSpPr>
          <p:cNvPr id="6" name="TextBox 5"/>
          <p:cNvSpPr txBox="1"/>
          <p:nvPr/>
        </p:nvSpPr>
        <p:spPr>
          <a:xfrm>
            <a:off x="11094415" y="6446520"/>
            <a:ext cx="457200" cy="274320"/>
          </a:xfrm>
          <a:prstGeom prst="rect">
            <a:avLst/>
          </a:prstGeom>
          <a:noFill/>
        </p:spPr>
        <p:txBody>
          <a:bodyPr wrap="square" anchor="t" lIns="0" rIns="0" tIns="0" bIns="0">
            <a:spAutoFit/>
          </a:bodyPr>
          <a:lstStyle/>
          <a:p>
            <a:pPr algn="r">
              <a:spcAft>
                <a:spcPts val="400"/>
              </a:spcAft>
            </a:pPr>
            <a:r>
              <a:rPr sz="900" b="0">
                <a:solidFill>
                  <a:srgbClr val="5D6180"/>
                </a:solidFill>
                <a:latin typeface="Calibri"/>
              </a:rPr>
              <a:t>2</a:t>
            </a:r>
          </a:p>
        </p:txBody>
      </p:sp>
      <p:sp>
        <p:nvSpPr>
          <p:cNvPr id="7" name="TextBox 6"/>
          <p:cNvSpPr txBox="1"/>
          <p:nvPr/>
        </p:nvSpPr>
        <p:spPr>
          <a:xfrm>
            <a:off x="640080" y="1737360"/>
            <a:ext cx="5120640" cy="4114800"/>
          </a:xfrm>
          <a:prstGeom prst="rect">
            <a:avLst/>
          </a:prstGeom>
          <a:noFill/>
        </p:spPr>
        <p:txBody>
          <a:bodyPr wrap="square" anchor="t" lIns="0" rIns="0" tIns="0" bIns="0">
            <a:spAutoFit/>
          </a:bodyPr>
          <a:lstStyle/>
          <a:p>
            <a:pPr algn="l">
              <a:spcAft>
                <a:spcPts val="800"/>
              </a:spcAft>
            </a:pPr>
            <a:r>
              <a:rPr sz="1400" b="0">
                <a:solidFill>
                  <a:srgbClr val="171A33"/>
                </a:solidFill>
                <a:latin typeface="Calibri"/>
              </a:rPr>
              <a:t>Oxa sells a universal AI driver for industrial vehicles: self-driving software, modular up-fit hardware and fleet management for ports, airports, yards and factories. Buyers are logistics and infrastructure operators such as DHL (Heathrow), bp and Port of Tyne, plus the new SHIFFT joint venture with Dubai Future Foundation. Revenue comes from site deployments and fleet software, so perception quality per site is the product.</a:t>
            </a:r>
          </a:p>
        </p:txBody>
      </p:sp>
      <p:sp>
        <p:nvSpPr>
          <p:cNvPr id="8" name="TextBox 7"/>
          <p:cNvSpPr txBox="1"/>
          <p:nvPr/>
        </p:nvSpPr>
        <p:spPr>
          <a:xfrm>
            <a:off x="6217920" y="1737360"/>
            <a:ext cx="5303520" cy="274320"/>
          </a:xfrm>
          <a:prstGeom prst="rect">
            <a:avLst/>
          </a:prstGeom>
          <a:noFill/>
        </p:spPr>
        <p:txBody>
          <a:bodyPr wrap="square" anchor="t" lIns="0" rIns="0" tIns="0" bIns="0">
            <a:spAutoFit/>
          </a:bodyPr>
          <a:lstStyle/>
          <a:p>
            <a:pPr algn="l">
              <a:spcAft>
                <a:spcPts val="400"/>
              </a:spcAft>
            </a:pPr>
            <a:r>
              <a:rPr sz="1000" b="1">
                <a:solidFill>
                  <a:srgbClr val="4F46E5"/>
                </a:solidFill>
                <a:latin typeface="Calibri"/>
              </a:rPr>
              <a:t>INFERRED PIPELINE (guesses marked)</a:t>
            </a:r>
          </a:p>
        </p:txBody>
      </p:sp>
      <p:sp>
        <p:nvSpPr>
          <p:cNvPr id="9" name="Oval 8"/>
          <p:cNvSpPr/>
          <p:nvPr/>
        </p:nvSpPr>
        <p:spPr>
          <a:xfrm>
            <a:off x="6217920" y="2103120"/>
            <a:ext cx="384048" cy="384048"/>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217920" y="2103120"/>
            <a:ext cx="384048" cy="384048"/>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1</a:t>
            </a:r>
          </a:p>
        </p:txBody>
      </p:sp>
      <p:sp>
        <p:nvSpPr>
          <p:cNvPr id="11" name="TextBox 10"/>
          <p:cNvSpPr txBox="1"/>
          <p:nvPr/>
        </p:nvSpPr>
        <p:spPr>
          <a:xfrm>
            <a:off x="6766560" y="2084831"/>
            <a:ext cx="4754880" cy="640080"/>
          </a:xfrm>
          <a:prstGeom prst="rect">
            <a:avLst/>
          </a:prstGeom>
          <a:noFill/>
        </p:spPr>
        <p:txBody>
          <a:bodyPr wrap="square" anchor="t" lIns="0" rIns="0" tIns="0" bIns="0">
            <a:spAutoFit/>
          </a:bodyPr>
          <a:lstStyle/>
          <a:p>
            <a:pPr algn="l">
              <a:spcAft>
                <a:spcPts val="400"/>
              </a:spcAft>
            </a:pPr>
            <a:r>
              <a:rPr sz="1050" b="0">
                <a:solidFill>
                  <a:srgbClr val="171A33"/>
                </a:solidFill>
                <a:latin typeface="Calibri"/>
              </a:rPr>
              <a:t>Multi-camera plus LIDAR (and likely radar, GNSS/IMU) logged from up-fitted industrial vehicles running repetitive fixed routes at customer sites. Guess: ROS-style bags or a proprietary log format in cloud object storage.</a:t>
            </a:r>
          </a:p>
        </p:txBody>
      </p:sp>
      <p:sp>
        <p:nvSpPr>
          <p:cNvPr id="12" name="Oval 11"/>
          <p:cNvSpPr/>
          <p:nvPr/>
        </p:nvSpPr>
        <p:spPr>
          <a:xfrm>
            <a:off x="6217920" y="2761487"/>
            <a:ext cx="384048" cy="384048"/>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217920" y="2761487"/>
            <a:ext cx="384048" cy="384048"/>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2</a:t>
            </a:r>
          </a:p>
        </p:txBody>
      </p:sp>
      <p:sp>
        <p:nvSpPr>
          <p:cNvPr id="14" name="TextBox 13"/>
          <p:cNvSpPr txBox="1"/>
          <p:nvPr/>
        </p:nvSpPr>
        <p:spPr>
          <a:xfrm>
            <a:off x="6766560" y="2743199"/>
            <a:ext cx="4754880" cy="640080"/>
          </a:xfrm>
          <a:prstGeom prst="rect">
            <a:avLst/>
          </a:prstGeom>
          <a:noFill/>
        </p:spPr>
        <p:txBody>
          <a:bodyPr wrap="square" anchor="t" lIns="0" rIns="0" tIns="0" bIns="0">
            <a:spAutoFit/>
          </a:bodyPr>
          <a:lstStyle/>
          <a:p>
            <a:pPr algn="l">
              <a:spcAft>
                <a:spcPts val="400"/>
              </a:spcAft>
            </a:pPr>
            <a:r>
              <a:rPr sz="1050" b="0">
                <a:solidFill>
                  <a:srgbClr val="171A33"/>
                </a:solidFill>
                <a:latin typeface="Calibri"/>
              </a:rPr>
              <a:t>Ingest into Oxa Foundry, their internal toolchain, with some multimodal search over clips, based on their October 2025 post 'Accelerating self-driving software development with multimodal search'. Guess: embedding search exists but curation is still engineer-driven.</a:t>
            </a:r>
          </a:p>
        </p:txBody>
      </p:sp>
      <p:sp>
        <p:nvSpPr>
          <p:cNvPr id="15" name="Oval 14"/>
          <p:cNvSpPr/>
          <p:nvPr/>
        </p:nvSpPr>
        <p:spPr>
          <a:xfrm>
            <a:off x="6217920" y="3419855"/>
            <a:ext cx="384048" cy="384048"/>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217920" y="3419855"/>
            <a:ext cx="384048" cy="384048"/>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3</a:t>
            </a:r>
          </a:p>
        </p:txBody>
      </p:sp>
      <p:sp>
        <p:nvSpPr>
          <p:cNvPr id="17" name="TextBox 16"/>
          <p:cNvSpPr txBox="1"/>
          <p:nvPr/>
        </p:nvSpPr>
        <p:spPr>
          <a:xfrm>
            <a:off x="6766560" y="3401567"/>
            <a:ext cx="4754880" cy="640080"/>
          </a:xfrm>
          <a:prstGeom prst="rect">
            <a:avLst/>
          </a:prstGeom>
          <a:noFill/>
        </p:spPr>
        <p:txBody>
          <a:bodyPr wrap="square" anchor="t" lIns="0" rIns="0" tIns="0" bIns="0">
            <a:spAutoFit/>
          </a:bodyPr>
          <a:lstStyle/>
          <a:p>
            <a:pPr algn="l">
              <a:spcAft>
                <a:spcPts val="400"/>
              </a:spcAft>
            </a:pPr>
            <a:r>
              <a:rPr sz="1050" b="0">
                <a:solidFill>
                  <a:srgbClr val="171A33"/>
                </a:solidFill>
                <a:latin typeface="Calibri"/>
              </a:rPr>
              <a:t>Triage by scenario or trigger (disengagements, safety driver interventions, near misses) to pick clips for labelling. Guess.</a:t>
            </a:r>
          </a:p>
        </p:txBody>
      </p:sp>
      <p:sp>
        <p:nvSpPr>
          <p:cNvPr id="18" name="Oval 17"/>
          <p:cNvSpPr/>
          <p:nvPr/>
        </p:nvSpPr>
        <p:spPr>
          <a:xfrm>
            <a:off x="6217920" y="4078223"/>
            <a:ext cx="384048" cy="384048"/>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217920" y="4078223"/>
            <a:ext cx="384048" cy="384048"/>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4</a:t>
            </a:r>
          </a:p>
        </p:txBody>
      </p:sp>
      <p:sp>
        <p:nvSpPr>
          <p:cNvPr id="20" name="TextBox 19"/>
          <p:cNvSpPr txBox="1"/>
          <p:nvPr/>
        </p:nvSpPr>
        <p:spPr>
          <a:xfrm>
            <a:off x="6766560" y="4059935"/>
            <a:ext cx="4754880" cy="640080"/>
          </a:xfrm>
          <a:prstGeom prst="rect">
            <a:avLst/>
          </a:prstGeom>
          <a:noFill/>
        </p:spPr>
        <p:txBody>
          <a:bodyPr wrap="square" anchor="t" lIns="0" rIns="0" tIns="0" bIns="0">
            <a:spAutoFit/>
          </a:bodyPr>
          <a:lstStyle/>
          <a:p>
            <a:pPr algn="l">
              <a:spcAft>
                <a:spcPts val="400"/>
              </a:spcAft>
            </a:pPr>
            <a:r>
              <a:rPr sz="1050" b="0">
                <a:solidFill>
                  <a:srgbClr val="171A33"/>
                </a:solidFill>
                <a:latin typeface="Calibri"/>
              </a:rPr>
              <a:t>Labelling split between 3D cuboids on point clouds and 2D boxes/masks on camera, likely via an external vendor or mixed internal/outsourced teams. Guess: 2D and 3D are not always labelled on the same synced clip.</a:t>
            </a:r>
          </a:p>
        </p:txBody>
      </p:sp>
      <p:sp>
        <p:nvSpPr>
          <p:cNvPr id="21" name="Oval 20"/>
          <p:cNvSpPr/>
          <p:nvPr/>
        </p:nvSpPr>
        <p:spPr>
          <a:xfrm>
            <a:off x="6217920" y="4736591"/>
            <a:ext cx="384048" cy="384048"/>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217920" y="4736591"/>
            <a:ext cx="384048" cy="384048"/>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5</a:t>
            </a:r>
          </a:p>
        </p:txBody>
      </p:sp>
      <p:sp>
        <p:nvSpPr>
          <p:cNvPr id="23" name="TextBox 22"/>
          <p:cNvSpPr txBox="1"/>
          <p:nvPr/>
        </p:nvSpPr>
        <p:spPr>
          <a:xfrm>
            <a:off x="6766560" y="4718303"/>
            <a:ext cx="4754880" cy="640080"/>
          </a:xfrm>
          <a:prstGeom prst="rect">
            <a:avLst/>
          </a:prstGeom>
          <a:noFill/>
        </p:spPr>
        <p:txBody>
          <a:bodyPr wrap="square" anchor="t" lIns="0" rIns="0" tIns="0" bIns="0">
            <a:spAutoFit/>
          </a:bodyPr>
          <a:lstStyle/>
          <a:p>
            <a:pPr algn="l">
              <a:spcAft>
                <a:spcPts val="400"/>
              </a:spcAft>
            </a:pPr>
            <a:r>
              <a:rPr sz="1050" b="0">
                <a:solidFill>
                  <a:srgbClr val="171A33"/>
                </a:solidFill>
                <a:latin typeface="Calibri"/>
              </a:rPr>
              <a:t>Train and validate perception models, then site-specific validation and safety case evidence before deployment.</a:t>
            </a:r>
          </a:p>
        </p:txBody>
      </p:sp>
      <p:sp>
        <p:nvSpPr>
          <p:cNvPr id="24" name="Oval 23"/>
          <p:cNvSpPr/>
          <p:nvPr/>
        </p:nvSpPr>
        <p:spPr>
          <a:xfrm>
            <a:off x="6217920" y="5394959"/>
            <a:ext cx="384048" cy="384048"/>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217920" y="5394959"/>
            <a:ext cx="384048" cy="384048"/>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6</a:t>
            </a:r>
          </a:p>
        </p:txBody>
      </p:sp>
      <p:sp>
        <p:nvSpPr>
          <p:cNvPr id="26" name="TextBox 25"/>
          <p:cNvSpPr txBox="1"/>
          <p:nvPr/>
        </p:nvSpPr>
        <p:spPr>
          <a:xfrm>
            <a:off x="6766560" y="5376671"/>
            <a:ext cx="4754880" cy="640080"/>
          </a:xfrm>
          <a:prstGeom prst="rect">
            <a:avLst/>
          </a:prstGeom>
          <a:noFill/>
        </p:spPr>
        <p:txBody>
          <a:bodyPr wrap="square" anchor="t" lIns="0" rIns="0" tIns="0" bIns="0">
            <a:spAutoFit/>
          </a:bodyPr>
          <a:lstStyle/>
          <a:p>
            <a:pPr algn="l">
              <a:spcAft>
                <a:spcPts val="400"/>
              </a:spcAft>
            </a:pPr>
            <a:r>
              <a:rPr sz="1050" b="0">
                <a:solidFill>
                  <a:srgbClr val="171A33"/>
                </a:solidFill>
                <a:latin typeface="Calibri"/>
              </a:rPr>
              <a:t>Redeploy to a new site (Dubai, a new port) and repeat much of the cycle because of domain shift. Guess, but strongly implied by the SHIFFT and Port of Tyne news.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10972800" cy="274320"/>
          </a:xfrm>
          <a:prstGeom prst="rect">
            <a:avLst/>
          </a:prstGeom>
          <a:noFill/>
        </p:spPr>
        <p:txBody>
          <a:bodyPr wrap="square" anchor="t" lIns="0" rIns="0" tIns="0" bIns="0">
            <a:spAutoFit/>
          </a:bodyPr>
          <a:lstStyle/>
          <a:p>
            <a:pPr algn="l">
              <a:spcAft>
                <a:spcPts val="400"/>
              </a:spcAft>
            </a:pPr>
            <a:r>
              <a:rPr sz="1000" b="1">
                <a:solidFill>
                  <a:srgbClr val="4F46E5"/>
                </a:solidFill>
                <a:latin typeface="Calibri"/>
              </a:rPr>
              <a:t>WHERE WE THINK IT HURTS</a:t>
            </a:r>
          </a:p>
        </p:txBody>
      </p:sp>
      <p:sp>
        <p:nvSpPr>
          <p:cNvPr id="4" name="TextBox 3"/>
          <p:cNvSpPr txBox="1"/>
          <p:nvPr/>
        </p:nvSpPr>
        <p:spPr>
          <a:xfrm>
            <a:off x="640080" y="685800"/>
            <a:ext cx="10881360" cy="914400"/>
          </a:xfrm>
          <a:prstGeom prst="rect">
            <a:avLst/>
          </a:prstGeom>
          <a:noFill/>
        </p:spPr>
        <p:txBody>
          <a:bodyPr wrap="square" anchor="t" lIns="0" rIns="0" tIns="0" bIns="0">
            <a:spAutoFit/>
          </a:bodyPr>
          <a:lstStyle/>
          <a:p>
            <a:pPr algn="l">
              <a:spcAft>
                <a:spcPts val="400"/>
              </a:spcAft>
            </a:pPr>
            <a:r>
              <a:rPr sz="2600" b="1">
                <a:solidFill>
                  <a:srgbClr val="171A33"/>
                </a:solidFill>
                <a:latin typeface="Calibri"/>
              </a:rPr>
              <a:t>Three hypotheses, ranked by how sure we are</a:t>
            </a:r>
          </a:p>
        </p:txBody>
      </p:sp>
      <p:sp>
        <p:nvSpPr>
          <p:cNvPr id="5" name="TextBox 4"/>
          <p:cNvSpPr txBox="1"/>
          <p:nvPr/>
        </p:nvSpPr>
        <p:spPr>
          <a:xfrm>
            <a:off x="640080" y="6446520"/>
            <a:ext cx="7315200" cy="274320"/>
          </a:xfrm>
          <a:prstGeom prst="rect">
            <a:avLst/>
          </a:prstGeom>
          <a:noFill/>
        </p:spPr>
        <p:txBody>
          <a:bodyPr wrap="square" anchor="t" lIns="0" rIns="0" tIns="0" bIns="0">
            <a:spAutoFit/>
          </a:bodyPr>
          <a:lstStyle/>
          <a:p>
            <a:pPr algn="l">
              <a:spcAft>
                <a:spcPts val="400"/>
              </a:spcAft>
            </a:pPr>
            <a:r>
              <a:rPr sz="900" b="0">
                <a:solidFill>
                  <a:srgbClr val="5D6180"/>
                </a:solidFill>
                <a:latin typeface="Calibri"/>
              </a:rPr>
              <a:t>DRAFT for review  ·  Encord  ·  confidential</a:t>
            </a:r>
          </a:p>
        </p:txBody>
      </p:sp>
      <p:sp>
        <p:nvSpPr>
          <p:cNvPr id="6" name="TextBox 5"/>
          <p:cNvSpPr txBox="1"/>
          <p:nvPr/>
        </p:nvSpPr>
        <p:spPr>
          <a:xfrm>
            <a:off x="11094415" y="6446520"/>
            <a:ext cx="457200" cy="274320"/>
          </a:xfrm>
          <a:prstGeom prst="rect">
            <a:avLst/>
          </a:prstGeom>
          <a:noFill/>
        </p:spPr>
        <p:txBody>
          <a:bodyPr wrap="square" anchor="t" lIns="0" rIns="0" tIns="0" bIns="0">
            <a:spAutoFit/>
          </a:bodyPr>
          <a:lstStyle/>
          <a:p>
            <a:pPr algn="r">
              <a:spcAft>
                <a:spcPts val="400"/>
              </a:spcAft>
            </a:pPr>
            <a:r>
              <a:rPr sz="900" b="0">
                <a:solidFill>
                  <a:srgbClr val="5D6180"/>
                </a:solidFill>
                <a:latin typeface="Calibri"/>
              </a:rPr>
              <a:t>3</a:t>
            </a:r>
          </a:p>
        </p:txBody>
      </p:sp>
      <p:sp>
        <p:nvSpPr>
          <p:cNvPr id="7" name="Rectangle 6"/>
          <p:cNvSpPr/>
          <p:nvPr/>
        </p:nvSpPr>
        <p:spPr>
          <a:xfrm>
            <a:off x="640080" y="1691640"/>
            <a:ext cx="3520440" cy="4617720"/>
          </a:xfrm>
          <a:prstGeom prst="rect">
            <a:avLst/>
          </a:prstGeom>
          <a:solidFill>
            <a:srgbClr val="EEED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1737360"/>
            <a:ext cx="3520440" cy="73152"/>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8680" y="1965960"/>
            <a:ext cx="3063240" cy="274320"/>
          </a:xfrm>
          <a:prstGeom prst="rect">
            <a:avLst/>
          </a:prstGeom>
          <a:noFill/>
        </p:spPr>
        <p:txBody>
          <a:bodyPr wrap="square" anchor="t" lIns="0" rIns="0" tIns="0" bIns="0">
            <a:spAutoFit/>
          </a:bodyPr>
          <a:lstStyle/>
          <a:p>
            <a:pPr algn="l">
              <a:spcAft>
                <a:spcPts val="400"/>
              </a:spcAft>
            </a:pPr>
            <a:r>
              <a:rPr sz="1000" b="1">
                <a:solidFill>
                  <a:srgbClr val="4F46E5"/>
                </a:solidFill>
                <a:latin typeface="Calibri"/>
              </a:rPr>
              <a:t>HYPOTHESIS 1</a:t>
            </a:r>
          </a:p>
        </p:txBody>
      </p:sp>
      <p:sp>
        <p:nvSpPr>
          <p:cNvPr id="10" name="TextBox 9"/>
          <p:cNvSpPr txBox="1"/>
          <p:nvPr/>
        </p:nvSpPr>
        <p:spPr>
          <a:xfrm>
            <a:off x="868680" y="2240280"/>
            <a:ext cx="3063240" cy="1280160"/>
          </a:xfrm>
          <a:prstGeom prst="rect">
            <a:avLst/>
          </a:prstGeom>
          <a:noFill/>
        </p:spPr>
        <p:txBody>
          <a:bodyPr wrap="square" anchor="t" lIns="0" rIns="0" tIns="0" bIns="0">
            <a:spAutoFit/>
          </a:bodyPr>
          <a:lstStyle/>
          <a:p>
            <a:pPr algn="l">
              <a:spcAft>
                <a:spcPts val="400"/>
              </a:spcAft>
            </a:pPr>
            <a:r>
              <a:rPr sz="1200" b="1">
                <a:solidFill>
                  <a:srgbClr val="171A33"/>
                </a:solidFill>
                <a:latin typeface="Calibri"/>
              </a:rPr>
              <a:t>Repetitive fixed routes generate huge volumes of near-duplicate frames; teams pay to label redundancy and models plateau because rare edge cases are buried.</a:t>
            </a:r>
          </a:p>
        </p:txBody>
      </p:sp>
      <p:sp>
        <p:nvSpPr>
          <p:cNvPr id="11" name="TextBox 10"/>
          <p:cNvSpPr txBox="1"/>
          <p:nvPr/>
        </p:nvSpPr>
        <p:spPr>
          <a:xfrm>
            <a:off x="868680" y="3520440"/>
            <a:ext cx="3063240" cy="274320"/>
          </a:xfrm>
          <a:prstGeom prst="rect">
            <a:avLst/>
          </a:prstGeom>
          <a:noFill/>
        </p:spPr>
        <p:txBody>
          <a:bodyPr wrap="square" anchor="t" lIns="0" rIns="0" tIns="0" bIns="0">
            <a:spAutoFit/>
          </a:bodyPr>
          <a:lstStyle/>
          <a:p>
            <a:pPr algn="l">
              <a:spcAft>
                <a:spcPts val="400"/>
              </a:spcAft>
            </a:pPr>
            <a:r>
              <a:rPr sz="900" b="1">
                <a:solidFill>
                  <a:srgbClr val="5D6180"/>
                </a:solidFill>
                <a:latin typeface="Calibri"/>
              </a:rPr>
              <a:t>WHY WE THINK SO</a:t>
            </a:r>
          </a:p>
        </p:txBody>
      </p:sp>
      <p:sp>
        <p:nvSpPr>
          <p:cNvPr id="12" name="TextBox 11"/>
          <p:cNvSpPr txBox="1"/>
          <p:nvPr/>
        </p:nvSpPr>
        <p:spPr>
          <a:xfrm>
            <a:off x="868680" y="3749039"/>
            <a:ext cx="3063240" cy="914400"/>
          </a:xfrm>
          <a:prstGeom prst="rect">
            <a:avLst/>
          </a:prstGeom>
          <a:noFill/>
        </p:spPr>
        <p:txBody>
          <a:bodyPr wrap="square" anchor="t" lIns="0" rIns="0" tIns="0" bIns="0">
            <a:spAutoFit/>
          </a:bodyPr>
          <a:lstStyle/>
          <a:p>
            <a:pPr algn="l">
              <a:spcAft>
                <a:spcPts val="400"/>
              </a:spcAft>
            </a:pPr>
            <a:r>
              <a:rPr sz="950" b="0">
                <a:solidFill>
                  <a:srgbClr val="5D6180"/>
                </a:solidFill>
                <a:latin typeface="Calibri"/>
              </a:rPr>
              <a:t>Site-based operation in ports, airports and yards on repeated routes, plus their own post on multimodal search to accelerate development.</a:t>
            </a:r>
          </a:p>
        </p:txBody>
      </p:sp>
      <p:sp>
        <p:nvSpPr>
          <p:cNvPr id="13" name="TextBox 12"/>
          <p:cNvSpPr txBox="1"/>
          <p:nvPr/>
        </p:nvSpPr>
        <p:spPr>
          <a:xfrm>
            <a:off x="868680" y="4663440"/>
            <a:ext cx="3063240" cy="274320"/>
          </a:xfrm>
          <a:prstGeom prst="rect">
            <a:avLst/>
          </a:prstGeom>
          <a:noFill/>
        </p:spPr>
        <p:txBody>
          <a:bodyPr wrap="square" anchor="t" lIns="0" rIns="0" tIns="0" bIns="0">
            <a:spAutoFit/>
          </a:bodyPr>
          <a:lstStyle/>
          <a:p>
            <a:pPr algn="l">
              <a:spcAft>
                <a:spcPts val="400"/>
              </a:spcAft>
            </a:pPr>
            <a:r>
              <a:rPr sz="900" b="1">
                <a:solidFill>
                  <a:srgbClr val="5D6180"/>
                </a:solidFill>
                <a:latin typeface="Calibri"/>
              </a:rPr>
              <a:t>WHAT ENCORD DOES ABOUT IT</a:t>
            </a:r>
          </a:p>
        </p:txBody>
      </p:sp>
      <p:sp>
        <p:nvSpPr>
          <p:cNvPr id="14" name="TextBox 13"/>
          <p:cNvSpPr txBox="1"/>
          <p:nvPr/>
        </p:nvSpPr>
        <p:spPr>
          <a:xfrm>
            <a:off x="868680" y="4892040"/>
            <a:ext cx="3063240" cy="1371600"/>
          </a:xfrm>
          <a:prstGeom prst="rect">
            <a:avLst/>
          </a:prstGeom>
          <a:noFill/>
        </p:spPr>
        <p:txBody>
          <a:bodyPr wrap="square" anchor="t" lIns="0" rIns="0" tIns="0" bIns="0">
            <a:spAutoFit/>
          </a:bodyPr>
          <a:lstStyle/>
          <a:p>
            <a:pPr algn="l">
              <a:spcAft>
                <a:spcPts val="400"/>
              </a:spcAft>
            </a:pPr>
            <a:r>
              <a:rPr sz="950" b="0">
                <a:solidFill>
                  <a:srgbClr val="171A33"/>
                </a:solidFill>
                <a:latin typeface="Calibri"/>
              </a:rPr>
              <a:t>Index registers data in their own bucket, computes embeddings and quality metrics per frame, and supports similarity search and diversity Collections. Our warehouse-robot test cut frames to label by 61% keeping 95% of racks, with higher mAP than a random pick of equal size.</a:t>
            </a:r>
          </a:p>
        </p:txBody>
      </p:sp>
      <p:sp>
        <p:nvSpPr>
          <p:cNvPr id="15" name="Rectangle 14"/>
          <p:cNvSpPr/>
          <p:nvPr/>
        </p:nvSpPr>
        <p:spPr>
          <a:xfrm>
            <a:off x="4389120" y="1691640"/>
            <a:ext cx="3520440" cy="4617720"/>
          </a:xfrm>
          <a:prstGeom prst="rect">
            <a:avLst/>
          </a:prstGeom>
          <a:solidFill>
            <a:srgbClr val="EEED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89120" y="1737360"/>
            <a:ext cx="3520440" cy="73152"/>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17720" y="1965960"/>
            <a:ext cx="3063240" cy="274320"/>
          </a:xfrm>
          <a:prstGeom prst="rect">
            <a:avLst/>
          </a:prstGeom>
          <a:noFill/>
        </p:spPr>
        <p:txBody>
          <a:bodyPr wrap="square" anchor="t" lIns="0" rIns="0" tIns="0" bIns="0">
            <a:spAutoFit/>
          </a:bodyPr>
          <a:lstStyle/>
          <a:p>
            <a:pPr algn="l">
              <a:spcAft>
                <a:spcPts val="400"/>
              </a:spcAft>
            </a:pPr>
            <a:r>
              <a:rPr sz="1000" b="1">
                <a:solidFill>
                  <a:srgbClr val="4F46E5"/>
                </a:solidFill>
                <a:latin typeface="Calibri"/>
              </a:rPr>
              <a:t>HYPOTHESIS 2</a:t>
            </a:r>
          </a:p>
        </p:txBody>
      </p:sp>
      <p:sp>
        <p:nvSpPr>
          <p:cNvPr id="18" name="TextBox 17"/>
          <p:cNvSpPr txBox="1"/>
          <p:nvPr/>
        </p:nvSpPr>
        <p:spPr>
          <a:xfrm>
            <a:off x="4617720" y="2240280"/>
            <a:ext cx="3063240" cy="1280160"/>
          </a:xfrm>
          <a:prstGeom prst="rect">
            <a:avLst/>
          </a:prstGeom>
          <a:noFill/>
        </p:spPr>
        <p:txBody>
          <a:bodyPr wrap="square" anchor="t" lIns="0" rIns="0" tIns="0" bIns="0">
            <a:spAutoFit/>
          </a:bodyPr>
          <a:lstStyle/>
          <a:p>
            <a:pPr algn="l">
              <a:spcAft>
                <a:spcPts val="400"/>
              </a:spcAft>
            </a:pPr>
            <a:r>
              <a:rPr sz="1200" b="1">
                <a:solidFill>
                  <a:srgbClr val="171A33"/>
                </a:solidFill>
                <a:latin typeface="Calibri"/>
              </a:rPr>
              <a:t>Each new site (Dubai, a new port) is a fresh domain: new vehicle types, ground markings, weather and lighting, so labelled data does not transfer and the cold start repeats.</a:t>
            </a:r>
          </a:p>
        </p:txBody>
      </p:sp>
      <p:sp>
        <p:nvSpPr>
          <p:cNvPr id="19" name="TextBox 18"/>
          <p:cNvSpPr txBox="1"/>
          <p:nvPr/>
        </p:nvSpPr>
        <p:spPr>
          <a:xfrm>
            <a:off x="4617720" y="3520440"/>
            <a:ext cx="3063240" cy="274320"/>
          </a:xfrm>
          <a:prstGeom prst="rect">
            <a:avLst/>
          </a:prstGeom>
          <a:noFill/>
        </p:spPr>
        <p:txBody>
          <a:bodyPr wrap="square" anchor="t" lIns="0" rIns="0" tIns="0" bIns="0">
            <a:spAutoFit/>
          </a:bodyPr>
          <a:lstStyle/>
          <a:p>
            <a:pPr algn="l">
              <a:spcAft>
                <a:spcPts val="400"/>
              </a:spcAft>
            </a:pPr>
            <a:r>
              <a:rPr sz="900" b="1">
                <a:solidFill>
                  <a:srgbClr val="5D6180"/>
                </a:solidFill>
                <a:latin typeface="Calibri"/>
              </a:rPr>
              <a:t>WHY WE THINK SO</a:t>
            </a:r>
          </a:p>
        </p:txBody>
      </p:sp>
      <p:sp>
        <p:nvSpPr>
          <p:cNvPr id="20" name="TextBox 19"/>
          <p:cNvSpPr txBox="1"/>
          <p:nvPr/>
        </p:nvSpPr>
        <p:spPr>
          <a:xfrm>
            <a:off x="4617720" y="3749039"/>
            <a:ext cx="3063240" cy="914400"/>
          </a:xfrm>
          <a:prstGeom prst="rect">
            <a:avLst/>
          </a:prstGeom>
          <a:noFill/>
        </p:spPr>
        <p:txBody>
          <a:bodyPr wrap="square" anchor="t" lIns="0" rIns="0" tIns="0" bIns="0">
            <a:spAutoFit/>
          </a:bodyPr>
          <a:lstStyle/>
          <a:p>
            <a:pPr algn="l">
              <a:spcAft>
                <a:spcPts val="400"/>
              </a:spcAft>
            </a:pPr>
            <a:r>
              <a:rPr sz="950" b="0">
                <a:solidFill>
                  <a:srgbClr val="5D6180"/>
                </a:solidFill>
                <a:latin typeface="Calibri"/>
              </a:rPr>
              <a:t>SHIFFT joint venture with Dubai Future Foundation, Port of Tyne project and Heathrow via DHL, all announced within months of each other.</a:t>
            </a:r>
          </a:p>
        </p:txBody>
      </p:sp>
      <p:sp>
        <p:nvSpPr>
          <p:cNvPr id="21" name="TextBox 20"/>
          <p:cNvSpPr txBox="1"/>
          <p:nvPr/>
        </p:nvSpPr>
        <p:spPr>
          <a:xfrm>
            <a:off x="4617720" y="4663440"/>
            <a:ext cx="3063240" cy="274320"/>
          </a:xfrm>
          <a:prstGeom prst="rect">
            <a:avLst/>
          </a:prstGeom>
          <a:noFill/>
        </p:spPr>
        <p:txBody>
          <a:bodyPr wrap="square" anchor="t" lIns="0" rIns="0" tIns="0" bIns="0">
            <a:spAutoFit/>
          </a:bodyPr>
          <a:lstStyle/>
          <a:p>
            <a:pPr algn="l">
              <a:spcAft>
                <a:spcPts val="400"/>
              </a:spcAft>
            </a:pPr>
            <a:r>
              <a:rPr sz="900" b="1">
                <a:solidFill>
                  <a:srgbClr val="5D6180"/>
                </a:solidFill>
                <a:latin typeface="Calibri"/>
              </a:rPr>
              <a:t>WHAT ENCORD DOES ABOUT IT</a:t>
            </a:r>
          </a:p>
        </p:txBody>
      </p:sp>
      <p:sp>
        <p:nvSpPr>
          <p:cNvPr id="22" name="TextBox 21"/>
          <p:cNvSpPr txBox="1"/>
          <p:nvPr/>
        </p:nvSpPr>
        <p:spPr>
          <a:xfrm>
            <a:off x="4617720" y="4892040"/>
            <a:ext cx="3063240" cy="1371600"/>
          </a:xfrm>
          <a:prstGeom prst="rect">
            <a:avLst/>
          </a:prstGeom>
          <a:noFill/>
        </p:spPr>
        <p:txBody>
          <a:bodyPr wrap="square" anchor="t" lIns="0" rIns="0" tIns="0" bIns="0">
            <a:spAutoFit/>
          </a:bodyPr>
          <a:lstStyle/>
          <a:p>
            <a:pPr algn="l">
              <a:spcAft>
                <a:spcPts val="400"/>
              </a:spcAft>
            </a:pPr>
            <a:r>
              <a:rPr sz="950" b="0">
                <a:solidFill>
                  <a:srgbClr val="171A33"/>
                </a:solidFill>
                <a:latin typeface="Calibri"/>
              </a:rPr>
              <a:t>Active correlates data metrics with model failures to show which slices break at the new site, so you label only the gap. Agents can run an existing Oxa model as a pre-labelling stage so site two starts from predictions, not blank frames.</a:t>
            </a:r>
          </a:p>
        </p:txBody>
      </p:sp>
      <p:sp>
        <p:nvSpPr>
          <p:cNvPr id="23" name="Rectangle 22"/>
          <p:cNvSpPr/>
          <p:nvPr/>
        </p:nvSpPr>
        <p:spPr>
          <a:xfrm>
            <a:off x="8138159" y="1691640"/>
            <a:ext cx="3520440" cy="4617720"/>
          </a:xfrm>
          <a:prstGeom prst="rect">
            <a:avLst/>
          </a:prstGeom>
          <a:solidFill>
            <a:srgbClr val="EEED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8138159" y="1737360"/>
            <a:ext cx="3520440" cy="73152"/>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366759" y="1965960"/>
            <a:ext cx="3063240" cy="274320"/>
          </a:xfrm>
          <a:prstGeom prst="rect">
            <a:avLst/>
          </a:prstGeom>
          <a:noFill/>
        </p:spPr>
        <p:txBody>
          <a:bodyPr wrap="square" anchor="t" lIns="0" rIns="0" tIns="0" bIns="0">
            <a:spAutoFit/>
          </a:bodyPr>
          <a:lstStyle/>
          <a:p>
            <a:pPr algn="l">
              <a:spcAft>
                <a:spcPts val="400"/>
              </a:spcAft>
            </a:pPr>
            <a:r>
              <a:rPr sz="1000" b="1">
                <a:solidFill>
                  <a:srgbClr val="4F46E5"/>
                </a:solidFill>
                <a:latin typeface="Calibri"/>
              </a:rPr>
              <a:t>HYPOTHESIS 3</a:t>
            </a:r>
          </a:p>
        </p:txBody>
      </p:sp>
      <p:sp>
        <p:nvSpPr>
          <p:cNvPr id="26" name="TextBox 25"/>
          <p:cNvSpPr txBox="1"/>
          <p:nvPr/>
        </p:nvSpPr>
        <p:spPr>
          <a:xfrm>
            <a:off x="8366759" y="2240280"/>
            <a:ext cx="3063240" cy="1280160"/>
          </a:xfrm>
          <a:prstGeom prst="rect">
            <a:avLst/>
          </a:prstGeom>
          <a:noFill/>
        </p:spPr>
        <p:txBody>
          <a:bodyPr wrap="square" anchor="t" lIns="0" rIns="0" tIns="0" bIns="0">
            <a:spAutoFit/>
          </a:bodyPr>
          <a:lstStyle/>
          <a:p>
            <a:pPr algn="l">
              <a:spcAft>
                <a:spcPts val="400"/>
              </a:spcAft>
            </a:pPr>
            <a:r>
              <a:rPr sz="1200" b="1">
                <a:solidFill>
                  <a:srgbClr val="171A33"/>
                </a:solidFill>
                <a:latin typeface="Calibri"/>
              </a:rPr>
              <a:t>Synced 3D point cloud and multi-camera labelling is handled in separate tools or vendor pipelines, so cross-modal consistency and QA cost engineering time.</a:t>
            </a:r>
          </a:p>
        </p:txBody>
      </p:sp>
      <p:sp>
        <p:nvSpPr>
          <p:cNvPr id="27" name="TextBox 26"/>
          <p:cNvSpPr txBox="1"/>
          <p:nvPr/>
        </p:nvSpPr>
        <p:spPr>
          <a:xfrm>
            <a:off x="8366759" y="3520440"/>
            <a:ext cx="3063240" cy="274320"/>
          </a:xfrm>
          <a:prstGeom prst="rect">
            <a:avLst/>
          </a:prstGeom>
          <a:noFill/>
        </p:spPr>
        <p:txBody>
          <a:bodyPr wrap="square" anchor="t" lIns="0" rIns="0" tIns="0" bIns="0">
            <a:spAutoFit/>
          </a:bodyPr>
          <a:lstStyle/>
          <a:p>
            <a:pPr algn="l">
              <a:spcAft>
                <a:spcPts val="400"/>
              </a:spcAft>
            </a:pPr>
            <a:r>
              <a:rPr sz="900" b="1">
                <a:solidFill>
                  <a:srgbClr val="5D6180"/>
                </a:solidFill>
                <a:latin typeface="Calibri"/>
              </a:rPr>
              <a:t>WHY WE THINK SO</a:t>
            </a:r>
          </a:p>
        </p:txBody>
      </p:sp>
      <p:sp>
        <p:nvSpPr>
          <p:cNvPr id="28" name="TextBox 27"/>
          <p:cNvSpPr txBox="1"/>
          <p:nvPr/>
        </p:nvSpPr>
        <p:spPr>
          <a:xfrm>
            <a:off x="8366759" y="3749039"/>
            <a:ext cx="3063240" cy="914400"/>
          </a:xfrm>
          <a:prstGeom prst="rect">
            <a:avLst/>
          </a:prstGeom>
          <a:noFill/>
        </p:spPr>
        <p:txBody>
          <a:bodyPr wrap="square" anchor="t" lIns="0" rIns="0" tIns="0" bIns="0">
            <a:spAutoFit/>
          </a:bodyPr>
          <a:lstStyle/>
          <a:p>
            <a:pPr algn="l">
              <a:spcAft>
                <a:spcPts val="400"/>
              </a:spcAft>
            </a:pPr>
            <a:r>
              <a:rPr sz="950" b="0">
                <a:solidFill>
                  <a:srgbClr val="5D6180"/>
                </a:solidFill>
                <a:latin typeface="Calibri"/>
              </a:rPr>
              <a:t>Inferred from the sensor stack rather than stated. Their site mentions safety, validation and monitoring but nothing about annotation tooling. Flagging this as a guess.</a:t>
            </a:r>
          </a:p>
        </p:txBody>
      </p:sp>
      <p:sp>
        <p:nvSpPr>
          <p:cNvPr id="29" name="TextBox 28"/>
          <p:cNvSpPr txBox="1"/>
          <p:nvPr/>
        </p:nvSpPr>
        <p:spPr>
          <a:xfrm>
            <a:off x="8366759" y="4663440"/>
            <a:ext cx="3063240" cy="274320"/>
          </a:xfrm>
          <a:prstGeom prst="rect">
            <a:avLst/>
          </a:prstGeom>
          <a:noFill/>
        </p:spPr>
        <p:txBody>
          <a:bodyPr wrap="square" anchor="t" lIns="0" rIns="0" tIns="0" bIns="0">
            <a:spAutoFit/>
          </a:bodyPr>
          <a:lstStyle/>
          <a:p>
            <a:pPr algn="l">
              <a:spcAft>
                <a:spcPts val="400"/>
              </a:spcAft>
            </a:pPr>
            <a:r>
              <a:rPr sz="900" b="1">
                <a:solidFill>
                  <a:srgbClr val="5D6180"/>
                </a:solidFill>
                <a:latin typeface="Calibri"/>
              </a:rPr>
              <a:t>WHAT ENCORD DOES ABOUT IT</a:t>
            </a:r>
          </a:p>
        </p:txBody>
      </p:sp>
      <p:sp>
        <p:nvSpPr>
          <p:cNvPr id="30" name="TextBox 29"/>
          <p:cNvSpPr txBox="1"/>
          <p:nvPr/>
        </p:nvSpPr>
        <p:spPr>
          <a:xfrm>
            <a:off x="8366759" y="4892040"/>
            <a:ext cx="3063240" cy="1371600"/>
          </a:xfrm>
          <a:prstGeom prst="rect">
            <a:avLst/>
          </a:prstGeom>
          <a:noFill/>
        </p:spPr>
        <p:txBody>
          <a:bodyPr wrap="square" anchor="t" lIns="0" rIns="0" tIns="0" bIns="0">
            <a:spAutoFit/>
          </a:bodyPr>
          <a:lstStyle/>
          <a:p>
            <a:pPr algn="l">
              <a:spcAft>
                <a:spcPts val="400"/>
              </a:spcAft>
            </a:pPr>
            <a:r>
              <a:rPr sz="950" b="0">
                <a:solidFill>
                  <a:srgbClr val="171A33"/>
                </a:solidFill>
                <a:latin typeface="Calibri"/>
              </a:rPr>
              <a:t>Annotate supports 3D point clouds/LIDAR and native video in one ontology with object tracking and interpolation, plus annotate to review to complete workflows with sampled review. Active then finds label errors before they reach training.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10972800" cy="274320"/>
          </a:xfrm>
          <a:prstGeom prst="rect">
            <a:avLst/>
          </a:prstGeom>
          <a:noFill/>
        </p:spPr>
        <p:txBody>
          <a:bodyPr wrap="square" anchor="t" lIns="0" rIns="0" tIns="0" bIns="0">
            <a:spAutoFit/>
          </a:bodyPr>
          <a:lstStyle/>
          <a:p>
            <a:pPr algn="l">
              <a:spcAft>
                <a:spcPts val="400"/>
              </a:spcAft>
            </a:pPr>
            <a:r>
              <a:rPr sz="1000" b="1">
                <a:solidFill>
                  <a:srgbClr val="4F46E5"/>
                </a:solidFill>
                <a:latin typeface="Calibri"/>
              </a:rPr>
              <a:t>A STARTING ONTOLOGY</a:t>
            </a:r>
          </a:p>
        </p:txBody>
      </p:sp>
      <p:sp>
        <p:nvSpPr>
          <p:cNvPr id="4" name="TextBox 3"/>
          <p:cNvSpPr txBox="1"/>
          <p:nvPr/>
        </p:nvSpPr>
        <p:spPr>
          <a:xfrm>
            <a:off x="640080" y="685800"/>
            <a:ext cx="10881360" cy="914400"/>
          </a:xfrm>
          <a:prstGeom prst="rect">
            <a:avLst/>
          </a:prstGeom>
          <a:noFill/>
        </p:spPr>
        <p:txBody>
          <a:bodyPr wrap="square" anchor="t" lIns="0" rIns="0" tIns="0" bIns="0">
            <a:spAutoFit/>
          </a:bodyPr>
          <a:lstStyle/>
          <a:p>
            <a:pPr algn="l">
              <a:spcAft>
                <a:spcPts val="400"/>
              </a:spcAft>
            </a:pPr>
            <a:r>
              <a:rPr sz="2600" b="1">
                <a:solidFill>
                  <a:srgbClr val="171A33"/>
                </a:solidFill>
                <a:latin typeface="Calibri"/>
              </a:rPr>
              <a:t>What we would label for Oxa, and how</a:t>
            </a:r>
          </a:p>
        </p:txBody>
      </p:sp>
      <p:sp>
        <p:nvSpPr>
          <p:cNvPr id="5" name="TextBox 4"/>
          <p:cNvSpPr txBox="1"/>
          <p:nvPr/>
        </p:nvSpPr>
        <p:spPr>
          <a:xfrm>
            <a:off x="640080" y="6446520"/>
            <a:ext cx="7315200" cy="274320"/>
          </a:xfrm>
          <a:prstGeom prst="rect">
            <a:avLst/>
          </a:prstGeom>
          <a:noFill/>
        </p:spPr>
        <p:txBody>
          <a:bodyPr wrap="square" anchor="t" lIns="0" rIns="0" tIns="0" bIns="0">
            <a:spAutoFit/>
          </a:bodyPr>
          <a:lstStyle/>
          <a:p>
            <a:pPr algn="l">
              <a:spcAft>
                <a:spcPts val="400"/>
              </a:spcAft>
            </a:pPr>
            <a:r>
              <a:rPr sz="900" b="0">
                <a:solidFill>
                  <a:srgbClr val="5D6180"/>
                </a:solidFill>
                <a:latin typeface="Calibri"/>
              </a:rPr>
              <a:t>DRAFT for review  ·  Encord  ·  confidential</a:t>
            </a:r>
          </a:p>
        </p:txBody>
      </p:sp>
      <p:sp>
        <p:nvSpPr>
          <p:cNvPr id="6" name="TextBox 5"/>
          <p:cNvSpPr txBox="1"/>
          <p:nvPr/>
        </p:nvSpPr>
        <p:spPr>
          <a:xfrm>
            <a:off x="11094415" y="6446520"/>
            <a:ext cx="457200" cy="274320"/>
          </a:xfrm>
          <a:prstGeom prst="rect">
            <a:avLst/>
          </a:prstGeom>
          <a:noFill/>
        </p:spPr>
        <p:txBody>
          <a:bodyPr wrap="square" anchor="t" lIns="0" rIns="0" tIns="0" bIns="0">
            <a:spAutoFit/>
          </a:bodyPr>
          <a:lstStyle/>
          <a:p>
            <a:pPr algn="r">
              <a:spcAft>
                <a:spcPts val="400"/>
              </a:spcAft>
            </a:pPr>
            <a:r>
              <a:rPr sz="900" b="0">
                <a:solidFill>
                  <a:srgbClr val="5D6180"/>
                </a:solidFill>
                <a:latin typeface="Calibri"/>
              </a:rPr>
              <a:t>4</a:t>
            </a:r>
          </a:p>
        </p:txBody>
      </p:sp>
      <p:sp>
        <p:nvSpPr>
          <p:cNvPr id="7" name="TextBox 6"/>
          <p:cNvSpPr txBox="1"/>
          <p:nvPr/>
        </p:nvSpPr>
        <p:spPr>
          <a:xfrm>
            <a:off x="640080" y="1691640"/>
            <a:ext cx="10972800" cy="365760"/>
          </a:xfrm>
          <a:prstGeom prst="rect">
            <a:avLst/>
          </a:prstGeom>
          <a:noFill/>
        </p:spPr>
        <p:txBody>
          <a:bodyPr wrap="square" anchor="t" lIns="0" rIns="0" tIns="0" bIns="0">
            <a:spAutoFit/>
          </a:bodyPr>
          <a:lstStyle/>
          <a:p>
            <a:pPr algn="l">
              <a:spcAft>
                <a:spcPts val="400"/>
              </a:spcAft>
            </a:pPr>
            <a:r>
              <a:rPr sz="1200" b="0">
                <a:solidFill>
                  <a:srgbClr val="5D6180"/>
                </a:solidFill>
                <a:latin typeface="Calibri"/>
              </a:rPr>
              <a:t>A proposal to argue with. The shapes matter: they decide what the model can learn and what the labellers spend time on.</a:t>
            </a:r>
          </a:p>
        </p:txBody>
      </p:sp>
      <p:graphicFrame>
        <p:nvGraphicFramePr>
          <p:cNvPr id="8" name="Table 7"/>
          <p:cNvGraphicFramePr>
            <a:graphicFrameLocks noGrp="1"/>
          </p:cNvGraphicFramePr>
          <p:nvPr/>
        </p:nvGraphicFramePr>
        <p:xfrm>
          <a:off x="640080" y="2194560"/>
          <a:ext cx="10881360" cy="3291840"/>
        </p:xfrm>
        <a:graphic>
          <a:graphicData uri="http://schemas.openxmlformats.org/drawingml/2006/table">
            <a:tbl>
              <a:tblPr firstRow="1" bandRow="1">
                <a:tableStyleId>{5C22544A-7EE6-4342-B048-85BDC9FD1C3A}</a:tableStyleId>
              </a:tblPr>
              <a:tblGrid>
                <a:gridCol w="2926080"/>
                <a:gridCol w="1828800"/>
                <a:gridCol w="6126480"/>
              </a:tblGrid>
              <a:tr h="365760">
                <a:tc>
                  <a:txBody>
                    <a:bodyPr/>
                    <a:lstStyle/>
                    <a:p>
                      <a:r>
                        <a:rPr sz="1100" b="1">
                          <a:solidFill>
                            <a:srgbClr val="FFFFFF"/>
                          </a:solidFill>
                          <a:latin typeface="Calibri"/>
                        </a:rPr>
                        <a:t>Class</a:t>
                      </a:r>
                    </a:p>
                  </a:txBody>
                  <a:tcPr>
                    <a:solidFill>
                      <a:srgbClr val="4F46E5"/>
                    </a:solidFill>
                  </a:tcPr>
                </a:tc>
                <a:tc>
                  <a:txBody>
                    <a:bodyPr/>
                    <a:lstStyle/>
                    <a:p>
                      <a:r>
                        <a:rPr sz="1100" b="1">
                          <a:solidFill>
                            <a:srgbClr val="FFFFFF"/>
                          </a:solidFill>
                          <a:latin typeface="Calibri"/>
                        </a:rPr>
                        <a:t>Shape</a:t>
                      </a:r>
                    </a:p>
                  </a:txBody>
                  <a:tcPr>
                    <a:solidFill>
                      <a:srgbClr val="4F46E5"/>
                    </a:solidFill>
                  </a:tcPr>
                </a:tc>
                <a:tc>
                  <a:txBody>
                    <a:bodyPr/>
                    <a:lstStyle/>
                    <a:p>
                      <a:r>
                        <a:rPr sz="1100" b="1">
                          <a:solidFill>
                            <a:srgbClr val="FFFFFF"/>
                          </a:solidFill>
                          <a:latin typeface="Calibri"/>
                        </a:rPr>
                        <a:t>Why this shape</a:t>
                      </a:r>
                    </a:p>
                  </a:txBody>
                  <a:tcPr>
                    <a:solidFill>
                      <a:srgbClr val="4F46E5"/>
                    </a:solidFill>
                  </a:tcPr>
                </a:tc>
              </a:tr>
              <a:tr h="365760">
                <a:tc>
                  <a:txBody>
                    <a:bodyPr/>
                    <a:lstStyle/>
                    <a:p>
                      <a:r>
                        <a:rPr sz="1050" b="1">
                          <a:solidFill>
                            <a:srgbClr val="171A33"/>
                          </a:solidFill>
                          <a:latin typeface="Calibri"/>
                        </a:rPr>
                        <a:t>Vehicle (tug, forklift, truck, dolly, GSE)</a:t>
                      </a:r>
                    </a:p>
                  </a:txBody>
                  <a:tcPr>
                    <a:solidFill>
                      <a:srgbClr val="FFFFFF"/>
                    </a:solidFill>
                  </a:tcPr>
                </a:tc>
                <a:tc>
                  <a:txBody>
                    <a:bodyPr/>
                    <a:lstStyle/>
                    <a:p>
                      <a:r>
                        <a:rPr sz="1050" b="0">
                          <a:solidFill>
                            <a:srgbClr val="171A33"/>
                          </a:solidFill>
                          <a:latin typeface="Calibri"/>
                        </a:rPr>
                        <a:t>3D cuboid</a:t>
                      </a:r>
                    </a:p>
                  </a:txBody>
                  <a:tcPr>
                    <a:solidFill>
                      <a:srgbClr val="FFFFFF"/>
                    </a:solidFill>
                  </a:tcPr>
                </a:tc>
                <a:tc>
                  <a:txBody>
                    <a:bodyPr/>
                    <a:lstStyle/>
                    <a:p>
                      <a:r>
                        <a:rPr sz="1050" b="0">
                          <a:solidFill>
                            <a:srgbClr val="171A33"/>
                          </a:solidFill>
                          <a:latin typeface="Calibri"/>
                        </a:rPr>
                        <a:t>Primary dynamic obstacle in yards and airside; needs metric position for planning</a:t>
                      </a:r>
                    </a:p>
                  </a:txBody>
                  <a:tcPr>
                    <a:solidFill>
                      <a:srgbClr val="FFFFFF"/>
                    </a:solidFill>
                  </a:tcPr>
                </a:tc>
              </a:tr>
              <a:tr h="365760">
                <a:tc>
                  <a:txBody>
                    <a:bodyPr/>
                    <a:lstStyle/>
                    <a:p>
                      <a:r>
                        <a:rPr sz="1050" b="1">
                          <a:solidFill>
                            <a:srgbClr val="171A33"/>
                          </a:solidFill>
                          <a:latin typeface="Calibri"/>
                        </a:rPr>
                        <a:t>Person / ground crew</a:t>
                      </a:r>
                    </a:p>
                  </a:txBody>
                  <a:tcPr>
                    <a:solidFill>
                      <a:srgbClr val="EEEDFB"/>
                    </a:solidFill>
                  </a:tcPr>
                </a:tc>
                <a:tc>
                  <a:txBody>
                    <a:bodyPr/>
                    <a:lstStyle/>
                    <a:p>
                      <a:r>
                        <a:rPr sz="1050" b="0">
                          <a:solidFill>
                            <a:srgbClr val="171A33"/>
                          </a:solidFill>
                          <a:latin typeface="Calibri"/>
                        </a:rPr>
                        <a:t>bitmask</a:t>
                      </a:r>
                    </a:p>
                  </a:txBody>
                  <a:tcPr>
                    <a:solidFill>
                      <a:srgbClr val="EEEDFB"/>
                    </a:solidFill>
                  </a:tcPr>
                </a:tc>
                <a:tc>
                  <a:txBody>
                    <a:bodyPr/>
                    <a:lstStyle/>
                    <a:p>
                      <a:r>
                        <a:rPr sz="1050" b="0">
                          <a:solidFill>
                            <a:srgbClr val="171A33"/>
                          </a:solidFill>
                          <a:latin typeface="Calibri"/>
                        </a:rPr>
                        <a:t>Highest safety class; needs precise boundary at range and partial occlusion</a:t>
                      </a:r>
                    </a:p>
                  </a:txBody>
                  <a:tcPr>
                    <a:solidFill>
                      <a:srgbClr val="EEEDFB"/>
                    </a:solidFill>
                  </a:tcPr>
                </a:tc>
              </a:tr>
              <a:tr h="365760">
                <a:tc>
                  <a:txBody>
                    <a:bodyPr/>
                    <a:lstStyle/>
                    <a:p>
                      <a:r>
                        <a:rPr sz="1050" b="1">
                          <a:solidFill>
                            <a:srgbClr val="171A33"/>
                          </a:solidFill>
                          <a:latin typeface="Calibri"/>
                        </a:rPr>
                        <a:t>Container, ULD, pallet or trailer</a:t>
                      </a:r>
                    </a:p>
                  </a:txBody>
                  <a:tcPr>
                    <a:solidFill>
                      <a:srgbClr val="FFFFFF"/>
                    </a:solidFill>
                  </a:tcPr>
                </a:tc>
                <a:tc>
                  <a:txBody>
                    <a:bodyPr/>
                    <a:lstStyle/>
                    <a:p>
                      <a:r>
                        <a:rPr sz="1050" b="0">
                          <a:solidFill>
                            <a:srgbClr val="171A33"/>
                          </a:solidFill>
                          <a:latin typeface="Calibri"/>
                        </a:rPr>
                        <a:t>3D cuboid</a:t>
                      </a:r>
                    </a:p>
                  </a:txBody>
                  <a:tcPr>
                    <a:solidFill>
                      <a:srgbClr val="FFFFFF"/>
                    </a:solidFill>
                  </a:tcPr>
                </a:tc>
                <a:tc>
                  <a:txBody>
                    <a:bodyPr/>
                    <a:lstStyle/>
                    <a:p>
                      <a:r>
                        <a:rPr sz="1050" b="0">
                          <a:solidFill>
                            <a:srgbClr val="171A33"/>
                          </a:solidFill>
                          <a:latin typeface="Calibri"/>
                        </a:rPr>
                        <a:t>Static-but-movable load objects that define drivable space at a terminal</a:t>
                      </a:r>
                    </a:p>
                  </a:txBody>
                  <a:tcPr>
                    <a:solidFill>
                      <a:srgbClr val="FFFFFF"/>
                    </a:solidFill>
                  </a:tcPr>
                </a:tc>
              </a:tr>
              <a:tr h="365760">
                <a:tc>
                  <a:txBody>
                    <a:bodyPr/>
                    <a:lstStyle/>
                    <a:p>
                      <a:r>
                        <a:rPr sz="1050" b="1">
                          <a:solidFill>
                            <a:srgbClr val="171A33"/>
                          </a:solidFill>
                          <a:latin typeface="Calibri"/>
                        </a:rPr>
                        <a:t>Drivable surface and restricted zone</a:t>
                      </a:r>
                    </a:p>
                  </a:txBody>
                  <a:tcPr>
                    <a:solidFill>
                      <a:srgbClr val="EEEDFB"/>
                    </a:solidFill>
                  </a:tcPr>
                </a:tc>
                <a:tc>
                  <a:txBody>
                    <a:bodyPr/>
                    <a:lstStyle/>
                    <a:p>
                      <a:r>
                        <a:rPr sz="1050" b="0">
                          <a:solidFill>
                            <a:srgbClr val="171A33"/>
                          </a:solidFill>
                          <a:latin typeface="Calibri"/>
                        </a:rPr>
                        <a:t>polygon</a:t>
                      </a:r>
                    </a:p>
                  </a:txBody>
                  <a:tcPr>
                    <a:solidFill>
                      <a:srgbClr val="EEEDFB"/>
                    </a:solidFill>
                  </a:tcPr>
                </a:tc>
                <a:tc>
                  <a:txBody>
                    <a:bodyPr/>
                    <a:lstStyle/>
                    <a:p>
                      <a:r>
                        <a:rPr sz="1050" b="0">
                          <a:solidFill>
                            <a:srgbClr val="171A33"/>
                          </a:solidFill>
                          <a:latin typeface="Calibri"/>
                        </a:rPr>
                        <a:t>Yards lack lanes; free space and keep-out areas drive path planning</a:t>
                      </a:r>
                    </a:p>
                  </a:txBody>
                  <a:tcPr>
                    <a:solidFill>
                      <a:srgbClr val="EEEDFB"/>
                    </a:solidFill>
                  </a:tcPr>
                </a:tc>
              </a:tr>
              <a:tr h="365760">
                <a:tc>
                  <a:txBody>
                    <a:bodyPr/>
                    <a:lstStyle/>
                    <a:p>
                      <a:r>
                        <a:rPr sz="1050" b="1">
                          <a:solidFill>
                            <a:srgbClr val="171A33"/>
                          </a:solidFill>
                          <a:latin typeface="Calibri"/>
                        </a:rPr>
                        <a:t>Painted marking, kerb, stop line</a:t>
                      </a:r>
                    </a:p>
                  </a:txBody>
                  <a:tcPr>
                    <a:solidFill>
                      <a:srgbClr val="FFFFFF"/>
                    </a:solidFill>
                  </a:tcPr>
                </a:tc>
                <a:tc>
                  <a:txBody>
                    <a:bodyPr/>
                    <a:lstStyle/>
                    <a:p>
                      <a:r>
                        <a:rPr sz="1050" b="0">
                          <a:solidFill>
                            <a:srgbClr val="171A33"/>
                          </a:solidFill>
                          <a:latin typeface="Calibri"/>
                        </a:rPr>
                        <a:t>polyline</a:t>
                      </a:r>
                    </a:p>
                  </a:txBody>
                  <a:tcPr>
                    <a:solidFill>
                      <a:srgbClr val="FFFFFF"/>
                    </a:solidFill>
                  </a:tcPr>
                </a:tc>
                <a:tc>
                  <a:txBody>
                    <a:bodyPr/>
                    <a:lstStyle/>
                    <a:p>
                      <a:r>
                        <a:rPr sz="1050" b="0">
                          <a:solidFill>
                            <a:srgbClr val="171A33"/>
                          </a:solidFill>
                          <a:latin typeface="Calibri"/>
                        </a:rPr>
                        <a:t>Site-specific ground infrastructure that varies by port and airport</a:t>
                      </a:r>
                    </a:p>
                  </a:txBody>
                  <a:tcPr>
                    <a:solidFill>
                      <a:srgbClr val="FFFFFF"/>
                    </a:solidFill>
                  </a:tcPr>
                </a:tc>
              </a:tr>
              <a:tr h="365760">
                <a:tc>
                  <a:txBody>
                    <a:bodyPr/>
                    <a:lstStyle/>
                    <a:p>
                      <a:r>
                        <a:rPr sz="1050" b="1">
                          <a:solidFill>
                            <a:srgbClr val="171A33"/>
                          </a:solidFill>
                          <a:latin typeface="Calibri"/>
                        </a:rPr>
                        <a:t>Dock, charger or trailer coupling point</a:t>
                      </a:r>
                    </a:p>
                  </a:txBody>
                  <a:tcPr>
                    <a:solidFill>
                      <a:srgbClr val="EEEDFB"/>
                    </a:solidFill>
                  </a:tcPr>
                </a:tc>
                <a:tc>
                  <a:txBody>
                    <a:bodyPr/>
                    <a:lstStyle/>
                    <a:p>
                      <a:r>
                        <a:rPr sz="1050" b="0">
                          <a:solidFill>
                            <a:srgbClr val="171A33"/>
                          </a:solidFill>
                          <a:latin typeface="Calibri"/>
                        </a:rPr>
                        <a:t>keypoint</a:t>
                      </a:r>
                    </a:p>
                  </a:txBody>
                  <a:tcPr>
                    <a:solidFill>
                      <a:srgbClr val="EEEDFB"/>
                    </a:solidFill>
                  </a:tcPr>
                </a:tc>
                <a:tc>
                  <a:txBody>
                    <a:bodyPr/>
                    <a:lstStyle/>
                    <a:p>
                      <a:r>
                        <a:rPr sz="1050" b="0">
                          <a:solidFill>
                            <a:srgbClr val="171A33"/>
                          </a:solidFill>
                          <a:latin typeface="Calibri"/>
                        </a:rPr>
                        <a:t>Precise docking and hitching manoeuvres need a single anchor point</a:t>
                      </a:r>
                    </a:p>
                  </a:txBody>
                  <a:tcPr>
                    <a:solidFill>
                      <a:srgbClr val="EEEDFB"/>
                    </a:solidFill>
                  </a:tcPr>
                </a:tc>
              </a:tr>
              <a:tr h="365760">
                <a:tc>
                  <a:txBody>
                    <a:bodyPr/>
                    <a:lstStyle/>
                    <a:p>
                      <a:r>
                        <a:rPr sz="1050" b="1">
                          <a:solidFill>
                            <a:srgbClr val="171A33"/>
                          </a:solidFill>
                          <a:latin typeface="Calibri"/>
                        </a:rPr>
                        <a:t>Scene condition (site, weather, lighting, surface)</a:t>
                      </a:r>
                    </a:p>
                  </a:txBody>
                  <a:tcPr>
                    <a:solidFill>
                      <a:srgbClr val="FFFFFF"/>
                    </a:solidFill>
                  </a:tcPr>
                </a:tc>
                <a:tc>
                  <a:txBody>
                    <a:bodyPr/>
                    <a:lstStyle/>
                    <a:p>
                      <a:r>
                        <a:rPr sz="1050" b="0">
                          <a:solidFill>
                            <a:srgbClr val="171A33"/>
                          </a:solidFill>
                          <a:latin typeface="Calibri"/>
                        </a:rPr>
                        <a:t>frame classification</a:t>
                      </a:r>
                    </a:p>
                  </a:txBody>
                  <a:tcPr>
                    <a:solidFill>
                      <a:srgbClr val="FFFFFF"/>
                    </a:solidFill>
                  </a:tcPr>
                </a:tc>
                <a:tc>
                  <a:txBody>
                    <a:bodyPr/>
                    <a:lstStyle/>
                    <a:p>
                      <a:r>
                        <a:rPr sz="1050" b="0">
                          <a:solidFill>
                            <a:srgbClr val="171A33"/>
                          </a:solidFill>
                          <a:latin typeface="Calibri"/>
                        </a:rPr>
                        <a:t>Enables slicing model performance by site and condition in Active</a:t>
                      </a:r>
                    </a:p>
                  </a:txBody>
                  <a:tcPr>
                    <a:solidFill>
                      <a:srgbClr val="FFFFFF"/>
                    </a:solidFill>
                  </a:tcPr>
                </a:tc>
              </a:tr>
              <a:tr h="365760">
                <a:tc>
                  <a:txBody>
                    <a:bodyPr/>
                    <a:lstStyle/>
                    <a:p>
                      <a:r>
                        <a:rPr sz="1050" b="1">
                          <a:solidFill>
                            <a:srgbClr val="171A33"/>
                          </a:solidFill>
                          <a:latin typeface="Calibri"/>
                        </a:rPr>
                        <a:t>Signal, sign or barrier state</a:t>
                      </a:r>
                    </a:p>
                  </a:txBody>
                  <a:tcPr>
                    <a:solidFill>
                      <a:srgbClr val="EEEDFB"/>
                    </a:solidFill>
                  </a:tcPr>
                </a:tc>
                <a:tc>
                  <a:txBody>
                    <a:bodyPr/>
                    <a:lstStyle/>
                    <a:p>
                      <a:r>
                        <a:rPr sz="1050" b="0">
                          <a:solidFill>
                            <a:srgbClr val="171A33"/>
                          </a:solidFill>
                          <a:latin typeface="Calibri"/>
                        </a:rPr>
                        <a:t>bounding box</a:t>
                      </a:r>
                    </a:p>
                  </a:txBody>
                  <a:tcPr>
                    <a:solidFill>
                      <a:srgbClr val="EEEDFB"/>
                    </a:solidFill>
                  </a:tcPr>
                </a:tc>
                <a:tc>
                  <a:txBody>
                    <a:bodyPr/>
                    <a:lstStyle/>
                    <a:p>
                      <a:r>
                        <a:rPr sz="1050" b="0">
                          <a:solidFill>
                            <a:srgbClr val="171A33"/>
                          </a:solidFill>
                          <a:latin typeface="Calibri"/>
                        </a:rPr>
                        <a:t>Gate and barrier state changes behaviour; cheap to label as 2D box</a:t>
                      </a:r>
                    </a:p>
                  </a:txBody>
                  <a:tcPr>
                    <a:solidFill>
                      <a:srgbClr val="EEEDFB"/>
                    </a:solidFill>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10972800" cy="274320"/>
          </a:xfrm>
          <a:prstGeom prst="rect">
            <a:avLst/>
          </a:prstGeom>
          <a:noFill/>
        </p:spPr>
        <p:txBody>
          <a:bodyPr wrap="square" anchor="t" lIns="0" rIns="0" tIns="0" bIns="0">
            <a:spAutoFit/>
          </a:bodyPr>
          <a:lstStyle/>
          <a:p>
            <a:pPr algn="l">
              <a:spcAft>
                <a:spcPts val="400"/>
              </a:spcAft>
            </a:pPr>
            <a:r>
              <a:rPr sz="1000" b="1">
                <a:solidFill>
                  <a:srgbClr val="4F46E5"/>
                </a:solidFill>
                <a:latin typeface="Calibri"/>
              </a:rPr>
              <a:t>WHERE ENCORD FITS</a:t>
            </a:r>
          </a:p>
        </p:txBody>
      </p:sp>
      <p:sp>
        <p:nvSpPr>
          <p:cNvPr id="4" name="TextBox 3"/>
          <p:cNvSpPr txBox="1"/>
          <p:nvPr/>
        </p:nvSpPr>
        <p:spPr>
          <a:xfrm>
            <a:off x="640080" y="685800"/>
            <a:ext cx="10881360" cy="914400"/>
          </a:xfrm>
          <a:prstGeom prst="rect">
            <a:avLst/>
          </a:prstGeom>
          <a:noFill/>
        </p:spPr>
        <p:txBody>
          <a:bodyPr wrap="square" anchor="t" lIns="0" rIns="0" tIns="0" bIns="0">
            <a:spAutoFit/>
          </a:bodyPr>
          <a:lstStyle/>
          <a:p>
            <a:pPr algn="l">
              <a:spcAft>
                <a:spcPts val="400"/>
              </a:spcAft>
            </a:pPr>
            <a:r>
              <a:rPr sz="2600" b="1">
                <a:solidFill>
                  <a:srgbClr val="171A33"/>
                </a:solidFill>
                <a:latin typeface="Calibri"/>
              </a:rPr>
              <a:t>Lead with Index then Active, the rest follows</a:t>
            </a:r>
          </a:p>
        </p:txBody>
      </p:sp>
      <p:sp>
        <p:nvSpPr>
          <p:cNvPr id="5" name="TextBox 4"/>
          <p:cNvSpPr txBox="1"/>
          <p:nvPr/>
        </p:nvSpPr>
        <p:spPr>
          <a:xfrm>
            <a:off x="640080" y="6446520"/>
            <a:ext cx="7315200" cy="274320"/>
          </a:xfrm>
          <a:prstGeom prst="rect">
            <a:avLst/>
          </a:prstGeom>
          <a:noFill/>
        </p:spPr>
        <p:txBody>
          <a:bodyPr wrap="square" anchor="t" lIns="0" rIns="0" tIns="0" bIns="0">
            <a:spAutoFit/>
          </a:bodyPr>
          <a:lstStyle/>
          <a:p>
            <a:pPr algn="l">
              <a:spcAft>
                <a:spcPts val="400"/>
              </a:spcAft>
            </a:pPr>
            <a:r>
              <a:rPr sz="900" b="0">
                <a:solidFill>
                  <a:srgbClr val="5D6180"/>
                </a:solidFill>
                <a:latin typeface="Calibri"/>
              </a:rPr>
              <a:t>DRAFT for review  ·  Encord  ·  confidential</a:t>
            </a:r>
          </a:p>
        </p:txBody>
      </p:sp>
      <p:sp>
        <p:nvSpPr>
          <p:cNvPr id="6" name="TextBox 5"/>
          <p:cNvSpPr txBox="1"/>
          <p:nvPr/>
        </p:nvSpPr>
        <p:spPr>
          <a:xfrm>
            <a:off x="11094415" y="6446520"/>
            <a:ext cx="457200" cy="274320"/>
          </a:xfrm>
          <a:prstGeom prst="rect">
            <a:avLst/>
          </a:prstGeom>
          <a:noFill/>
        </p:spPr>
        <p:txBody>
          <a:bodyPr wrap="square" anchor="t" lIns="0" rIns="0" tIns="0" bIns="0">
            <a:spAutoFit/>
          </a:bodyPr>
          <a:lstStyle/>
          <a:p>
            <a:pPr algn="r">
              <a:spcAft>
                <a:spcPts val="400"/>
              </a:spcAft>
            </a:pPr>
            <a:r>
              <a:rPr sz="900" b="0">
                <a:solidFill>
                  <a:srgbClr val="5D6180"/>
                </a:solidFill>
                <a:latin typeface="Calibri"/>
              </a:rPr>
              <a:t>5</a:t>
            </a:r>
          </a:p>
        </p:txBody>
      </p:sp>
      <p:sp>
        <p:nvSpPr>
          <p:cNvPr id="7" name="Rectangle 6"/>
          <p:cNvSpPr/>
          <p:nvPr/>
        </p:nvSpPr>
        <p:spPr>
          <a:xfrm>
            <a:off x="640080" y="1737360"/>
            <a:ext cx="91440" cy="82296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1737360"/>
            <a:ext cx="1280160" cy="274320"/>
          </a:xfrm>
          <a:prstGeom prst="rect">
            <a:avLst/>
          </a:prstGeom>
          <a:noFill/>
        </p:spPr>
        <p:txBody>
          <a:bodyPr wrap="square" anchor="t" lIns="0" rIns="0" tIns="0" bIns="0">
            <a:spAutoFit/>
          </a:bodyPr>
          <a:lstStyle/>
          <a:p>
            <a:pPr algn="l">
              <a:spcAft>
                <a:spcPts val="400"/>
              </a:spcAft>
            </a:pPr>
            <a:r>
              <a:rPr sz="1400" b="1">
                <a:solidFill>
                  <a:srgbClr val="171A33"/>
                </a:solidFill>
                <a:latin typeface="Calibri"/>
              </a:rPr>
              <a:t>Index</a:t>
            </a:r>
          </a:p>
        </p:txBody>
      </p:sp>
      <p:sp>
        <p:nvSpPr>
          <p:cNvPr id="9" name="TextBox 8"/>
          <p:cNvSpPr txBox="1"/>
          <p:nvPr/>
        </p:nvSpPr>
        <p:spPr>
          <a:xfrm>
            <a:off x="868680" y="2029967"/>
            <a:ext cx="5120640" cy="640080"/>
          </a:xfrm>
          <a:prstGeom prst="rect">
            <a:avLst/>
          </a:prstGeom>
          <a:noFill/>
        </p:spPr>
        <p:txBody>
          <a:bodyPr wrap="square" anchor="t" lIns="0" rIns="0" tIns="0" bIns="0">
            <a:spAutoFit/>
          </a:bodyPr>
          <a:lstStyle/>
          <a:p>
            <a:pPr algn="l">
              <a:spcAft>
                <a:spcPts val="400"/>
              </a:spcAft>
            </a:pPr>
            <a:r>
              <a:rPr sz="1050" b="0">
                <a:solidFill>
                  <a:srgbClr val="5D6180"/>
                </a:solidFill>
                <a:latin typeface="Calibri"/>
              </a:rPr>
              <a:t>Register the data where it already lives. Embeddings and quality metrics on every frame. Find the frames worth labelling; drop the repeats.</a:t>
            </a:r>
          </a:p>
        </p:txBody>
      </p:sp>
      <p:sp>
        <p:nvSpPr>
          <p:cNvPr id="10" name="Rectangle 9"/>
          <p:cNvSpPr/>
          <p:nvPr/>
        </p:nvSpPr>
        <p:spPr>
          <a:xfrm>
            <a:off x="640080" y="2743200"/>
            <a:ext cx="91440" cy="82296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8680" y="2743200"/>
            <a:ext cx="1280160" cy="274320"/>
          </a:xfrm>
          <a:prstGeom prst="rect">
            <a:avLst/>
          </a:prstGeom>
          <a:noFill/>
        </p:spPr>
        <p:txBody>
          <a:bodyPr wrap="square" anchor="t" lIns="0" rIns="0" tIns="0" bIns="0">
            <a:spAutoFit/>
          </a:bodyPr>
          <a:lstStyle/>
          <a:p>
            <a:pPr algn="l">
              <a:spcAft>
                <a:spcPts val="400"/>
              </a:spcAft>
            </a:pPr>
            <a:r>
              <a:rPr sz="1400" b="1">
                <a:solidFill>
                  <a:srgbClr val="171A33"/>
                </a:solidFill>
                <a:latin typeface="Calibri"/>
              </a:rPr>
              <a:t>Active</a:t>
            </a:r>
          </a:p>
        </p:txBody>
      </p:sp>
      <p:sp>
        <p:nvSpPr>
          <p:cNvPr id="12" name="TextBox 11"/>
          <p:cNvSpPr txBox="1"/>
          <p:nvPr/>
        </p:nvSpPr>
        <p:spPr>
          <a:xfrm>
            <a:off x="868680" y="3035808"/>
            <a:ext cx="5120640" cy="640080"/>
          </a:xfrm>
          <a:prstGeom prst="rect">
            <a:avLst/>
          </a:prstGeom>
          <a:noFill/>
        </p:spPr>
        <p:txBody>
          <a:bodyPr wrap="square" anchor="t" lIns="0" rIns="0" tIns="0" bIns="0">
            <a:spAutoFit/>
          </a:bodyPr>
          <a:lstStyle/>
          <a:p>
            <a:pPr algn="l">
              <a:spcAft>
                <a:spcPts val="400"/>
              </a:spcAft>
            </a:pPr>
            <a:r>
              <a:rPr sz="1050" b="0">
                <a:solidFill>
                  <a:srgbClr val="5D6180"/>
                </a:solidFill>
                <a:latin typeface="Calibri"/>
              </a:rPr>
              <a:t>Import predictions. Accuracy by class, site and condition. Find label errors. Know exactly what to label next.</a:t>
            </a:r>
          </a:p>
        </p:txBody>
      </p:sp>
      <p:sp>
        <p:nvSpPr>
          <p:cNvPr id="13" name="Rectangle 12"/>
          <p:cNvSpPr/>
          <p:nvPr/>
        </p:nvSpPr>
        <p:spPr>
          <a:xfrm>
            <a:off x="640080" y="3749039"/>
            <a:ext cx="91440" cy="822960"/>
          </a:xfrm>
          <a:prstGeom prst="rect">
            <a:avLst/>
          </a:prstGeom>
          <a:solidFill>
            <a:srgbClr val="DFE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68680" y="3749039"/>
            <a:ext cx="1280160" cy="274320"/>
          </a:xfrm>
          <a:prstGeom prst="rect">
            <a:avLst/>
          </a:prstGeom>
          <a:noFill/>
        </p:spPr>
        <p:txBody>
          <a:bodyPr wrap="square" anchor="t" lIns="0" rIns="0" tIns="0" bIns="0">
            <a:spAutoFit/>
          </a:bodyPr>
          <a:lstStyle/>
          <a:p>
            <a:pPr algn="l">
              <a:spcAft>
                <a:spcPts val="400"/>
              </a:spcAft>
            </a:pPr>
            <a:r>
              <a:rPr sz="1400" b="1">
                <a:solidFill>
                  <a:srgbClr val="171A33"/>
                </a:solidFill>
                <a:latin typeface="Calibri"/>
              </a:rPr>
              <a:t>Annotate</a:t>
            </a:r>
          </a:p>
        </p:txBody>
      </p:sp>
      <p:sp>
        <p:nvSpPr>
          <p:cNvPr id="15" name="TextBox 14"/>
          <p:cNvSpPr txBox="1"/>
          <p:nvPr/>
        </p:nvSpPr>
        <p:spPr>
          <a:xfrm>
            <a:off x="868680" y="4041648"/>
            <a:ext cx="5120640" cy="640080"/>
          </a:xfrm>
          <a:prstGeom prst="rect">
            <a:avLst/>
          </a:prstGeom>
          <a:noFill/>
        </p:spPr>
        <p:txBody>
          <a:bodyPr wrap="square" anchor="t" lIns="0" rIns="0" tIns="0" bIns="0">
            <a:spAutoFit/>
          </a:bodyPr>
          <a:lstStyle/>
          <a:p>
            <a:pPr algn="l">
              <a:spcAft>
                <a:spcPts val="400"/>
              </a:spcAft>
            </a:pPr>
            <a:r>
              <a:rPr sz="1050" b="0">
                <a:solidFill>
                  <a:srgbClr val="5D6180"/>
                </a:solidFill>
                <a:latin typeface="Calibri"/>
              </a:rPr>
              <a:t>Label video, 3D and images with SAM auto-segmentation and tracking. Ontology, review workflow, managed workforce if needed.</a:t>
            </a:r>
          </a:p>
        </p:txBody>
      </p:sp>
      <p:sp>
        <p:nvSpPr>
          <p:cNvPr id="16" name="Rectangle 15"/>
          <p:cNvSpPr/>
          <p:nvPr/>
        </p:nvSpPr>
        <p:spPr>
          <a:xfrm>
            <a:off x="640080" y="4754879"/>
            <a:ext cx="91440" cy="822960"/>
          </a:xfrm>
          <a:prstGeom prst="rect">
            <a:avLst/>
          </a:prstGeom>
          <a:solidFill>
            <a:srgbClr val="DFE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68680" y="4754879"/>
            <a:ext cx="1280160" cy="274320"/>
          </a:xfrm>
          <a:prstGeom prst="rect">
            <a:avLst/>
          </a:prstGeom>
          <a:noFill/>
        </p:spPr>
        <p:txBody>
          <a:bodyPr wrap="square" anchor="t" lIns="0" rIns="0" tIns="0" bIns="0">
            <a:spAutoFit/>
          </a:bodyPr>
          <a:lstStyle/>
          <a:p>
            <a:pPr algn="l">
              <a:spcAft>
                <a:spcPts val="400"/>
              </a:spcAft>
            </a:pPr>
            <a:r>
              <a:rPr sz="1400" b="1">
                <a:solidFill>
                  <a:srgbClr val="171A33"/>
                </a:solidFill>
                <a:latin typeface="Calibri"/>
              </a:rPr>
              <a:t>Agents</a:t>
            </a:r>
          </a:p>
        </p:txBody>
      </p:sp>
      <p:sp>
        <p:nvSpPr>
          <p:cNvPr id="18" name="TextBox 17"/>
          <p:cNvSpPr txBox="1"/>
          <p:nvPr/>
        </p:nvSpPr>
        <p:spPr>
          <a:xfrm>
            <a:off x="868680" y="5047488"/>
            <a:ext cx="5120640" cy="640080"/>
          </a:xfrm>
          <a:prstGeom prst="rect">
            <a:avLst/>
          </a:prstGeom>
          <a:noFill/>
        </p:spPr>
        <p:txBody>
          <a:bodyPr wrap="square" anchor="t" lIns="0" rIns="0" tIns="0" bIns="0">
            <a:spAutoFit/>
          </a:bodyPr>
          <a:lstStyle/>
          <a:p>
            <a:pPr algn="l">
              <a:spcAft>
                <a:spcPts val="400"/>
              </a:spcAft>
            </a:pPr>
            <a:r>
              <a:rPr sz="1050" b="0">
                <a:solidFill>
                  <a:srgbClr val="5D6180"/>
                </a:solidFill>
                <a:latin typeface="Calibri"/>
              </a:rPr>
              <a:t>Run your own model as a workflow stage to pre-label and QA, so people adjudicate rather than draw.</a:t>
            </a:r>
          </a:p>
        </p:txBody>
      </p:sp>
      <p:sp>
        <p:nvSpPr>
          <p:cNvPr id="19" name="Rectangle 18"/>
          <p:cNvSpPr/>
          <p:nvPr/>
        </p:nvSpPr>
        <p:spPr>
          <a:xfrm>
            <a:off x="6583680" y="1737360"/>
            <a:ext cx="4937760" cy="4023360"/>
          </a:xfrm>
          <a:prstGeom prst="rect">
            <a:avLst/>
          </a:prstGeom>
          <a:solidFill>
            <a:srgbClr val="EEED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583680" y="1737360"/>
            <a:ext cx="4937760" cy="73152"/>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12280" y="1965960"/>
            <a:ext cx="4572000" cy="274320"/>
          </a:xfrm>
          <a:prstGeom prst="rect">
            <a:avLst/>
          </a:prstGeom>
          <a:noFill/>
        </p:spPr>
        <p:txBody>
          <a:bodyPr wrap="square" anchor="t" lIns="0" rIns="0" tIns="0" bIns="0">
            <a:spAutoFit/>
          </a:bodyPr>
          <a:lstStyle/>
          <a:p>
            <a:pPr algn="l">
              <a:spcAft>
                <a:spcPts val="400"/>
              </a:spcAft>
            </a:pPr>
            <a:r>
              <a:rPr sz="1000" b="1">
                <a:solidFill>
                  <a:srgbClr val="4F46E5"/>
                </a:solidFill>
                <a:latin typeface="Calibri"/>
              </a:rPr>
              <a:t>CLOSEST CASE STUDY</a:t>
            </a:r>
          </a:p>
        </p:txBody>
      </p:sp>
      <p:sp>
        <p:nvSpPr>
          <p:cNvPr id="22" name="TextBox 21"/>
          <p:cNvSpPr txBox="1"/>
          <p:nvPr/>
        </p:nvSpPr>
        <p:spPr>
          <a:xfrm>
            <a:off x="6812280" y="2240280"/>
            <a:ext cx="4572000" cy="457200"/>
          </a:xfrm>
          <a:prstGeom prst="rect">
            <a:avLst/>
          </a:prstGeom>
          <a:noFill/>
        </p:spPr>
        <p:txBody>
          <a:bodyPr wrap="square" anchor="t" lIns="0" rIns="0" tIns="0" bIns="0">
            <a:spAutoFit/>
          </a:bodyPr>
          <a:lstStyle/>
          <a:p>
            <a:pPr algn="l">
              <a:spcAft>
                <a:spcPts val="400"/>
              </a:spcAft>
            </a:pPr>
            <a:r>
              <a:rPr sz="2000" b="1">
                <a:solidFill>
                  <a:srgbClr val="171A33"/>
                </a:solidFill>
                <a:latin typeface="Calibri"/>
              </a:rPr>
              <a:t>Automotus</a:t>
            </a:r>
          </a:p>
        </p:txBody>
      </p:sp>
      <p:sp>
        <p:nvSpPr>
          <p:cNvPr id="23" name="TextBox 22"/>
          <p:cNvSpPr txBox="1"/>
          <p:nvPr/>
        </p:nvSpPr>
        <p:spPr>
          <a:xfrm>
            <a:off x="6812280" y="2743200"/>
            <a:ext cx="4572000" cy="822960"/>
          </a:xfrm>
          <a:prstGeom prst="rect">
            <a:avLst/>
          </a:prstGeom>
          <a:noFill/>
        </p:spPr>
        <p:txBody>
          <a:bodyPr wrap="square" anchor="t" lIns="0" rIns="0" tIns="0" bIns="0">
            <a:spAutoFit/>
          </a:bodyPr>
          <a:lstStyle/>
          <a:p>
            <a:pPr algn="l">
              <a:spcAft>
                <a:spcPts val="400"/>
              </a:spcAft>
            </a:pPr>
            <a:r>
              <a:rPr sz="1400" b="1">
                <a:solidFill>
                  <a:srgbClr val="4F46E5"/>
                </a:solidFill>
                <a:latin typeface="Calibri"/>
              </a:rPr>
              <a:t>+20% mAP, 35% smaller dataset, 33% lower labelling cost after curating with Encord.</a:t>
            </a:r>
          </a:p>
        </p:txBody>
      </p:sp>
      <p:sp>
        <p:nvSpPr>
          <p:cNvPr id="24" name="TextBox 23"/>
          <p:cNvSpPr txBox="1"/>
          <p:nvPr/>
        </p:nvSpPr>
        <p:spPr>
          <a:xfrm>
            <a:off x="6812280" y="3566160"/>
            <a:ext cx="4572000" cy="2103120"/>
          </a:xfrm>
          <a:prstGeom prst="rect">
            <a:avLst/>
          </a:prstGeom>
          <a:noFill/>
        </p:spPr>
        <p:txBody>
          <a:bodyPr wrap="square" anchor="t" lIns="0" rIns="0" tIns="0" bIns="0">
            <a:spAutoFit/>
          </a:bodyPr>
          <a:lstStyle/>
          <a:p>
            <a:pPr algn="l">
              <a:spcAft>
                <a:spcPts val="400"/>
              </a:spcAft>
            </a:pPr>
            <a:r>
              <a:rPr sz="1100" b="0">
                <a:solidFill>
                  <a:srgbClr val="171A33"/>
                </a:solidFill>
                <a:latin typeface="Calibri"/>
              </a:rPr>
              <a:t>Fixed-position cameras watching the same kerb over and over, which is the closest public analogue to Oxa's repeated fixed routes at a port or airside. The win came from curating the redundancy out, not from labelling faster.</a:t>
            </a:r>
          </a:p>
        </p:txBody>
      </p:sp>
      <p:sp>
        <p:nvSpPr>
          <p:cNvPr id="25" name="TextBox 24"/>
          <p:cNvSpPr txBox="1"/>
          <p:nvPr/>
        </p:nvSpPr>
        <p:spPr>
          <a:xfrm>
            <a:off x="640080" y="5943600"/>
            <a:ext cx="10972800" cy="365760"/>
          </a:xfrm>
          <a:prstGeom prst="rect">
            <a:avLst/>
          </a:prstGeom>
          <a:noFill/>
        </p:spPr>
        <p:txBody>
          <a:bodyPr wrap="square" anchor="t" lIns="0" rIns="0" tIns="0" bIns="0">
            <a:spAutoFit/>
          </a:bodyPr>
          <a:lstStyle/>
          <a:p>
            <a:pPr algn="l">
              <a:spcAft>
                <a:spcPts val="400"/>
              </a:spcAft>
            </a:pPr>
            <a:r>
              <a:rPr sz="1000" b="0">
                <a:solidFill>
                  <a:srgbClr val="5D6180"/>
                </a:solidFill>
                <a:latin typeface="Calibri"/>
              </a:rPr>
              <a:t>Data stays in your bucket. SOC2 Type II, HIPAA, GDPR. Everything the UI does, the SDK does.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10972800" cy="274320"/>
          </a:xfrm>
          <a:prstGeom prst="rect">
            <a:avLst/>
          </a:prstGeom>
          <a:noFill/>
        </p:spPr>
        <p:txBody>
          <a:bodyPr wrap="square" anchor="t" lIns="0" rIns="0" tIns="0" bIns="0">
            <a:spAutoFit/>
          </a:bodyPr>
          <a:lstStyle/>
          <a:p>
            <a:pPr algn="l">
              <a:spcAft>
                <a:spcPts val="400"/>
              </a:spcAft>
            </a:pPr>
            <a:r>
              <a:rPr sz="1000" b="1">
                <a:solidFill>
                  <a:srgbClr val="4F46E5"/>
                </a:solidFill>
                <a:latin typeface="Calibri"/>
              </a:rPr>
              <a:t>PROPOSED NEXT STEP</a:t>
            </a:r>
          </a:p>
        </p:txBody>
      </p:sp>
      <p:sp>
        <p:nvSpPr>
          <p:cNvPr id="4" name="TextBox 3"/>
          <p:cNvSpPr txBox="1"/>
          <p:nvPr/>
        </p:nvSpPr>
        <p:spPr>
          <a:xfrm>
            <a:off x="640080" y="685800"/>
            <a:ext cx="10881360" cy="914400"/>
          </a:xfrm>
          <a:prstGeom prst="rect">
            <a:avLst/>
          </a:prstGeom>
          <a:noFill/>
        </p:spPr>
        <p:txBody>
          <a:bodyPr wrap="square" anchor="t" lIns="0" rIns="0" tIns="0" bIns="0">
            <a:spAutoFit/>
          </a:bodyPr>
          <a:lstStyle/>
          <a:p>
            <a:pPr algn="l">
              <a:spcAft>
                <a:spcPts val="400"/>
              </a:spcAft>
            </a:pPr>
            <a:r>
              <a:rPr sz="2600" b="1">
                <a:solidFill>
                  <a:srgbClr val="171A33"/>
                </a:solidFill>
                <a:latin typeface="Calibri"/>
              </a:rPr>
              <a:t>A two-week proof of value on one site's data</a:t>
            </a:r>
          </a:p>
        </p:txBody>
      </p:sp>
      <p:sp>
        <p:nvSpPr>
          <p:cNvPr id="5" name="TextBox 4"/>
          <p:cNvSpPr txBox="1"/>
          <p:nvPr/>
        </p:nvSpPr>
        <p:spPr>
          <a:xfrm>
            <a:off x="640080" y="6446520"/>
            <a:ext cx="7315200" cy="274320"/>
          </a:xfrm>
          <a:prstGeom prst="rect">
            <a:avLst/>
          </a:prstGeom>
          <a:noFill/>
        </p:spPr>
        <p:txBody>
          <a:bodyPr wrap="square" anchor="t" lIns="0" rIns="0" tIns="0" bIns="0">
            <a:spAutoFit/>
          </a:bodyPr>
          <a:lstStyle/>
          <a:p>
            <a:pPr algn="l">
              <a:spcAft>
                <a:spcPts val="400"/>
              </a:spcAft>
            </a:pPr>
            <a:r>
              <a:rPr sz="900" b="0">
                <a:solidFill>
                  <a:srgbClr val="5D6180"/>
                </a:solidFill>
                <a:latin typeface="Calibri"/>
              </a:rPr>
              <a:t>DRAFT for review  ·  Encord  ·  confidential</a:t>
            </a:r>
          </a:p>
        </p:txBody>
      </p:sp>
      <p:sp>
        <p:nvSpPr>
          <p:cNvPr id="6" name="TextBox 5"/>
          <p:cNvSpPr txBox="1"/>
          <p:nvPr/>
        </p:nvSpPr>
        <p:spPr>
          <a:xfrm>
            <a:off x="11094415" y="6446520"/>
            <a:ext cx="457200" cy="274320"/>
          </a:xfrm>
          <a:prstGeom prst="rect">
            <a:avLst/>
          </a:prstGeom>
          <a:noFill/>
        </p:spPr>
        <p:txBody>
          <a:bodyPr wrap="square" anchor="t" lIns="0" rIns="0" tIns="0" bIns="0">
            <a:spAutoFit/>
          </a:bodyPr>
          <a:lstStyle/>
          <a:p>
            <a:pPr algn="r">
              <a:spcAft>
                <a:spcPts val="400"/>
              </a:spcAft>
            </a:pPr>
            <a:r>
              <a:rPr sz="900" b="0">
                <a:solidFill>
                  <a:srgbClr val="5D6180"/>
                </a:solidFill>
                <a:latin typeface="Calibri"/>
              </a:rPr>
              <a:t>6</a:t>
            </a:r>
          </a:p>
        </p:txBody>
      </p:sp>
      <p:sp>
        <p:nvSpPr>
          <p:cNvPr id="7" name="Rounded Rectangle 6"/>
          <p:cNvSpPr/>
          <p:nvPr/>
        </p:nvSpPr>
        <p:spPr>
          <a:xfrm>
            <a:off x="640080" y="1828800"/>
            <a:ext cx="457200" cy="45720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1828800"/>
            <a:ext cx="457200" cy="457200"/>
          </a:xfrm>
          <a:prstGeom prst="rect">
            <a:avLst/>
          </a:prstGeom>
          <a:noFill/>
        </p:spPr>
        <p:txBody>
          <a:bodyPr wrap="square" anchor="ctr" lIns="0" rIns="0" tIns="0" bIns="0">
            <a:spAutoFit/>
          </a:bodyPr>
          <a:lstStyle/>
          <a:p>
            <a:pPr algn="ctr">
              <a:spcAft>
                <a:spcPts val="400"/>
              </a:spcAft>
            </a:pPr>
            <a:r>
              <a:rPr sz="1300" b="1">
                <a:solidFill>
                  <a:srgbClr val="FFFFFF"/>
                </a:solidFill>
                <a:latin typeface="Calibri"/>
              </a:rPr>
              <a:t>1</a:t>
            </a:r>
          </a:p>
        </p:txBody>
      </p:sp>
      <p:sp>
        <p:nvSpPr>
          <p:cNvPr id="9" name="TextBox 8"/>
          <p:cNvSpPr txBox="1"/>
          <p:nvPr/>
        </p:nvSpPr>
        <p:spPr>
          <a:xfrm>
            <a:off x="1280160" y="1783080"/>
            <a:ext cx="10241280" cy="777240"/>
          </a:xfrm>
          <a:prstGeom prst="rect">
            <a:avLst/>
          </a:prstGeom>
          <a:noFill/>
        </p:spPr>
        <p:txBody>
          <a:bodyPr wrap="square" anchor="t" lIns="0" rIns="0" tIns="0" bIns="0">
            <a:spAutoFit/>
          </a:bodyPr>
          <a:lstStyle/>
          <a:p>
            <a:pPr algn="l">
              <a:spcAft>
                <a:spcPts val="400"/>
              </a:spcAft>
            </a:pPr>
            <a:r>
              <a:rPr sz="1150" b="0">
                <a:solidFill>
                  <a:srgbClr val="171A33"/>
                </a:solidFill>
                <a:latin typeface="Calibri"/>
              </a:rPr>
              <a:t>Week 1, day 1-2: register one site's logs (say Port of Tyne or a Heathrow yard) from Oxa's own S3/GCS via Index. No data movement, read-only credentials. Success: embeddings and quality metrics on 100k+ frames without a copy.</a:t>
            </a:r>
          </a:p>
        </p:txBody>
      </p:sp>
      <p:sp>
        <p:nvSpPr>
          <p:cNvPr id="10" name="Rounded Rectangle 9"/>
          <p:cNvSpPr/>
          <p:nvPr/>
        </p:nvSpPr>
        <p:spPr>
          <a:xfrm>
            <a:off x="640080" y="2651760"/>
            <a:ext cx="457200" cy="45720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2651760"/>
            <a:ext cx="457200" cy="457200"/>
          </a:xfrm>
          <a:prstGeom prst="rect">
            <a:avLst/>
          </a:prstGeom>
          <a:noFill/>
        </p:spPr>
        <p:txBody>
          <a:bodyPr wrap="square" anchor="ctr" lIns="0" rIns="0" tIns="0" bIns="0">
            <a:spAutoFit/>
          </a:bodyPr>
          <a:lstStyle/>
          <a:p>
            <a:pPr algn="ctr">
              <a:spcAft>
                <a:spcPts val="400"/>
              </a:spcAft>
            </a:pPr>
            <a:r>
              <a:rPr sz="1300" b="1">
                <a:solidFill>
                  <a:srgbClr val="FFFFFF"/>
                </a:solidFill>
                <a:latin typeface="Calibri"/>
              </a:rPr>
              <a:t>2</a:t>
            </a:r>
          </a:p>
        </p:txBody>
      </p:sp>
      <p:sp>
        <p:nvSpPr>
          <p:cNvPr id="12" name="TextBox 11"/>
          <p:cNvSpPr txBox="1"/>
          <p:nvPr/>
        </p:nvSpPr>
        <p:spPr>
          <a:xfrm>
            <a:off x="1280160" y="2606040"/>
            <a:ext cx="10241280" cy="777240"/>
          </a:xfrm>
          <a:prstGeom prst="rect">
            <a:avLst/>
          </a:prstGeom>
          <a:noFill/>
        </p:spPr>
        <p:txBody>
          <a:bodyPr wrap="square" anchor="t" lIns="0" rIns="0" tIns="0" bIns="0">
            <a:spAutoFit/>
          </a:bodyPr>
          <a:lstStyle/>
          <a:p>
            <a:pPr algn="l">
              <a:spcAft>
                <a:spcPts val="400"/>
              </a:spcAft>
            </a:pPr>
            <a:r>
              <a:rPr sz="1150" b="0">
                <a:solidFill>
                  <a:srgbClr val="171A33"/>
                </a:solidFill>
                <a:latin typeface="Calibri"/>
              </a:rPr>
              <a:t>Week 1, day 3-5: build Collections by similarity and diversity across one month of repeated runs. Success: show what percentage of frames are near-duplicates and produce a curated pick that Oxa's perception lead agrees covers the route.</a:t>
            </a:r>
          </a:p>
        </p:txBody>
      </p:sp>
      <p:sp>
        <p:nvSpPr>
          <p:cNvPr id="13" name="Rounded Rectangle 12"/>
          <p:cNvSpPr/>
          <p:nvPr/>
        </p:nvSpPr>
        <p:spPr>
          <a:xfrm>
            <a:off x="640080" y="3474720"/>
            <a:ext cx="457200" cy="45720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080" y="3474720"/>
            <a:ext cx="457200" cy="457200"/>
          </a:xfrm>
          <a:prstGeom prst="rect">
            <a:avLst/>
          </a:prstGeom>
          <a:noFill/>
        </p:spPr>
        <p:txBody>
          <a:bodyPr wrap="square" anchor="ctr" lIns="0" rIns="0" tIns="0" bIns="0">
            <a:spAutoFit/>
          </a:bodyPr>
          <a:lstStyle/>
          <a:p>
            <a:pPr algn="ctr">
              <a:spcAft>
                <a:spcPts val="400"/>
              </a:spcAft>
            </a:pPr>
            <a:r>
              <a:rPr sz="1300" b="1">
                <a:solidFill>
                  <a:srgbClr val="FFFFFF"/>
                </a:solidFill>
                <a:latin typeface="Calibri"/>
              </a:rPr>
              <a:t>3</a:t>
            </a:r>
          </a:p>
        </p:txBody>
      </p:sp>
      <p:sp>
        <p:nvSpPr>
          <p:cNvPr id="15" name="TextBox 14"/>
          <p:cNvSpPr txBox="1"/>
          <p:nvPr/>
        </p:nvSpPr>
        <p:spPr>
          <a:xfrm>
            <a:off x="1280160" y="3429000"/>
            <a:ext cx="10241280" cy="777240"/>
          </a:xfrm>
          <a:prstGeom prst="rect">
            <a:avLst/>
          </a:prstGeom>
          <a:noFill/>
        </p:spPr>
        <p:txBody>
          <a:bodyPr wrap="square" anchor="t" lIns="0" rIns="0" tIns="0" bIns="0">
            <a:spAutoFit/>
          </a:bodyPr>
          <a:lstStyle/>
          <a:p>
            <a:pPr algn="l">
              <a:spcAft>
                <a:spcPts val="400"/>
              </a:spcAft>
            </a:pPr>
            <a:r>
              <a:rPr sz="1150" b="0">
                <a:solidFill>
                  <a:srgbClr val="171A33"/>
                </a:solidFill>
                <a:latin typeface="Calibri"/>
              </a:rPr>
              <a:t>Week 2, day 1-2: label a synced 2D/3D slice in Annotate with Oxa's ontology, using SAM 3 and object tracking, plus one Agents stage running an existing Oxa detector as pre-labelling. Success: time per clip versus their current baseline.</a:t>
            </a:r>
          </a:p>
        </p:txBody>
      </p:sp>
      <p:sp>
        <p:nvSpPr>
          <p:cNvPr id="16" name="Rounded Rectangle 15"/>
          <p:cNvSpPr/>
          <p:nvPr/>
        </p:nvSpPr>
        <p:spPr>
          <a:xfrm>
            <a:off x="640080" y="4297680"/>
            <a:ext cx="457200" cy="45720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0080" y="4297680"/>
            <a:ext cx="457200" cy="457200"/>
          </a:xfrm>
          <a:prstGeom prst="rect">
            <a:avLst/>
          </a:prstGeom>
          <a:noFill/>
        </p:spPr>
        <p:txBody>
          <a:bodyPr wrap="square" anchor="ctr" lIns="0" rIns="0" tIns="0" bIns="0">
            <a:spAutoFit/>
          </a:bodyPr>
          <a:lstStyle/>
          <a:p>
            <a:pPr algn="ctr">
              <a:spcAft>
                <a:spcPts val="400"/>
              </a:spcAft>
            </a:pPr>
            <a:r>
              <a:rPr sz="1300" b="1">
                <a:solidFill>
                  <a:srgbClr val="FFFFFF"/>
                </a:solidFill>
                <a:latin typeface="Calibri"/>
              </a:rPr>
              <a:t>4</a:t>
            </a:r>
          </a:p>
        </p:txBody>
      </p:sp>
      <p:sp>
        <p:nvSpPr>
          <p:cNvPr id="18" name="TextBox 17"/>
          <p:cNvSpPr txBox="1"/>
          <p:nvPr/>
        </p:nvSpPr>
        <p:spPr>
          <a:xfrm>
            <a:off x="1280160" y="4251960"/>
            <a:ext cx="10241280" cy="777240"/>
          </a:xfrm>
          <a:prstGeom prst="rect">
            <a:avLst/>
          </a:prstGeom>
          <a:noFill/>
        </p:spPr>
        <p:txBody>
          <a:bodyPr wrap="square" anchor="t" lIns="0" rIns="0" tIns="0" bIns="0">
            <a:spAutoFit/>
          </a:bodyPr>
          <a:lstStyle/>
          <a:p>
            <a:pPr algn="l">
              <a:spcAft>
                <a:spcPts val="400"/>
              </a:spcAft>
            </a:pPr>
            <a:r>
              <a:rPr sz="1150" b="0">
                <a:solidFill>
                  <a:srgbClr val="171A33"/>
                </a:solidFill>
                <a:latin typeface="Calibri"/>
              </a:rPr>
              <a:t>Week 2, day 3-4: import Oxa predictions into Active and slice mAP/F1 by class, distance, weather and site. Success: name the three data slices that correlate with failure and the label errors found in the existing set.</a:t>
            </a:r>
          </a:p>
        </p:txBody>
      </p:sp>
      <p:sp>
        <p:nvSpPr>
          <p:cNvPr id="19" name="Rounded Rectangle 18"/>
          <p:cNvSpPr/>
          <p:nvPr/>
        </p:nvSpPr>
        <p:spPr>
          <a:xfrm>
            <a:off x="640080" y="5120640"/>
            <a:ext cx="457200" cy="45720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5120640"/>
            <a:ext cx="457200" cy="457200"/>
          </a:xfrm>
          <a:prstGeom prst="rect">
            <a:avLst/>
          </a:prstGeom>
          <a:noFill/>
        </p:spPr>
        <p:txBody>
          <a:bodyPr wrap="square" anchor="ctr" lIns="0" rIns="0" tIns="0" bIns="0">
            <a:spAutoFit/>
          </a:bodyPr>
          <a:lstStyle/>
          <a:p>
            <a:pPr algn="ctr">
              <a:spcAft>
                <a:spcPts val="400"/>
              </a:spcAft>
            </a:pPr>
            <a:r>
              <a:rPr sz="1300" b="1">
                <a:solidFill>
                  <a:srgbClr val="FFFFFF"/>
                </a:solidFill>
                <a:latin typeface="Calibri"/>
              </a:rPr>
              <a:t>5</a:t>
            </a:r>
          </a:p>
        </p:txBody>
      </p:sp>
      <p:sp>
        <p:nvSpPr>
          <p:cNvPr id="21" name="TextBox 20"/>
          <p:cNvSpPr txBox="1"/>
          <p:nvPr/>
        </p:nvSpPr>
        <p:spPr>
          <a:xfrm>
            <a:off x="1280160" y="5074920"/>
            <a:ext cx="10241280" cy="777240"/>
          </a:xfrm>
          <a:prstGeom prst="rect">
            <a:avLst/>
          </a:prstGeom>
          <a:noFill/>
        </p:spPr>
        <p:txBody>
          <a:bodyPr wrap="square" anchor="t" lIns="0" rIns="0" tIns="0" bIns="0">
            <a:spAutoFit/>
          </a:bodyPr>
          <a:lstStyle/>
          <a:p>
            <a:pPr algn="l">
              <a:spcAft>
                <a:spcPts val="400"/>
              </a:spcAft>
            </a:pPr>
            <a:r>
              <a:rPr sz="1150" b="0">
                <a:solidFill>
                  <a:srgbClr val="171A33"/>
                </a:solidFill>
                <a:latin typeface="Calibri"/>
              </a:rPr>
              <a:t>Week 2, day 5: train or evaluate on curated versus random picks of equal size. Success metric agreed up front, for example equal or better mAP at 40% fewer labelled frames, plus a cost per site figure for the Dubai rollout.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10972800" cy="274320"/>
          </a:xfrm>
          <a:prstGeom prst="rect">
            <a:avLst/>
          </a:prstGeom>
          <a:noFill/>
        </p:spPr>
        <p:txBody>
          <a:bodyPr wrap="square" anchor="t" lIns="0" rIns="0" tIns="0" bIns="0">
            <a:spAutoFit/>
          </a:bodyPr>
          <a:lstStyle/>
          <a:p>
            <a:pPr algn="l">
              <a:spcAft>
                <a:spcPts val="400"/>
              </a:spcAft>
            </a:pPr>
            <a:r>
              <a:rPr sz="1000" b="1">
                <a:solidFill>
                  <a:srgbClr val="4F46E5"/>
                </a:solidFill>
                <a:latin typeface="Calibri"/>
              </a:rPr>
              <a:t>LET'S TEST IT</a:t>
            </a:r>
          </a:p>
        </p:txBody>
      </p:sp>
      <p:sp>
        <p:nvSpPr>
          <p:cNvPr id="4" name="TextBox 3"/>
          <p:cNvSpPr txBox="1"/>
          <p:nvPr/>
        </p:nvSpPr>
        <p:spPr>
          <a:xfrm>
            <a:off x="640080" y="685800"/>
            <a:ext cx="10881360" cy="914400"/>
          </a:xfrm>
          <a:prstGeom prst="rect">
            <a:avLst/>
          </a:prstGeom>
          <a:noFill/>
        </p:spPr>
        <p:txBody>
          <a:bodyPr wrap="square" anchor="t" lIns="0" rIns="0" tIns="0" bIns="0">
            <a:spAutoFit/>
          </a:bodyPr>
          <a:lstStyle/>
          <a:p>
            <a:pPr algn="l">
              <a:spcAft>
                <a:spcPts val="400"/>
              </a:spcAft>
            </a:pPr>
            <a:r>
              <a:rPr sz="2600" b="1">
                <a:solidFill>
                  <a:srgbClr val="171A33"/>
                </a:solidFill>
                <a:latin typeface="Calibri"/>
              </a:rPr>
              <a:t>What we'd like to learn from you</a:t>
            </a:r>
          </a:p>
        </p:txBody>
      </p:sp>
      <p:sp>
        <p:nvSpPr>
          <p:cNvPr id="5" name="TextBox 4"/>
          <p:cNvSpPr txBox="1"/>
          <p:nvPr/>
        </p:nvSpPr>
        <p:spPr>
          <a:xfrm>
            <a:off x="640080" y="6446520"/>
            <a:ext cx="7315200" cy="274320"/>
          </a:xfrm>
          <a:prstGeom prst="rect">
            <a:avLst/>
          </a:prstGeom>
          <a:noFill/>
        </p:spPr>
        <p:txBody>
          <a:bodyPr wrap="square" anchor="t" lIns="0" rIns="0" tIns="0" bIns="0">
            <a:spAutoFit/>
          </a:bodyPr>
          <a:lstStyle/>
          <a:p>
            <a:pPr algn="l">
              <a:spcAft>
                <a:spcPts val="400"/>
              </a:spcAft>
            </a:pPr>
            <a:r>
              <a:rPr sz="900" b="0">
                <a:solidFill>
                  <a:srgbClr val="5D6180"/>
                </a:solidFill>
                <a:latin typeface="Calibri"/>
              </a:rPr>
              <a:t>DRAFT for review  ·  Encord  ·  confidential</a:t>
            </a:r>
          </a:p>
        </p:txBody>
      </p:sp>
      <p:sp>
        <p:nvSpPr>
          <p:cNvPr id="6" name="TextBox 5"/>
          <p:cNvSpPr txBox="1"/>
          <p:nvPr/>
        </p:nvSpPr>
        <p:spPr>
          <a:xfrm>
            <a:off x="11094415" y="6446520"/>
            <a:ext cx="457200" cy="274320"/>
          </a:xfrm>
          <a:prstGeom prst="rect">
            <a:avLst/>
          </a:prstGeom>
          <a:noFill/>
        </p:spPr>
        <p:txBody>
          <a:bodyPr wrap="square" anchor="t" lIns="0" rIns="0" tIns="0" bIns="0">
            <a:spAutoFit/>
          </a:bodyPr>
          <a:lstStyle/>
          <a:p>
            <a:pPr algn="r">
              <a:spcAft>
                <a:spcPts val="400"/>
              </a:spcAft>
            </a:pPr>
            <a:r>
              <a:rPr sz="900" b="0">
                <a:solidFill>
                  <a:srgbClr val="5D6180"/>
                </a:solidFill>
                <a:latin typeface="Calibri"/>
              </a:rPr>
              <a:t>7</a:t>
            </a:r>
          </a:p>
        </p:txBody>
      </p:sp>
      <p:sp>
        <p:nvSpPr>
          <p:cNvPr id="7" name="TextBox 6"/>
          <p:cNvSpPr txBox="1"/>
          <p:nvPr/>
        </p:nvSpPr>
        <p:spPr>
          <a:xfrm>
            <a:off x="640080" y="1737360"/>
            <a:ext cx="6583680" cy="4114800"/>
          </a:xfrm>
          <a:prstGeom prst="rect">
            <a:avLst/>
          </a:prstGeom>
          <a:noFill/>
        </p:spPr>
        <p:txBody>
          <a:bodyPr wrap="square" anchor="t" lIns="0" rIns="0" tIns="0" bIns="0">
            <a:spAutoFit/>
          </a:bodyPr>
          <a:lstStyle/>
          <a:p>
            <a:pPr algn="l">
              <a:spcAft>
                <a:spcPts val="1000"/>
              </a:spcAft>
            </a:pPr>
            <a:r>
              <a:rPr sz="1400" b="0">
                <a:solidFill>
                  <a:srgbClr val="171A33"/>
                </a:solidFill>
                <a:latin typeface="Calibri"/>
              </a:rPr>
              <a:t>•  Your October 2025 post talked about multimodal search speeding up development. What does that cover today, and where does it stop being enough?</a:t>
            </a:r>
          </a:p>
          <a:p>
            <a:pPr algn="l">
              <a:spcAft>
                <a:spcPts val="1000"/>
              </a:spcAft>
            </a:pPr>
            <a:r>
              <a:rPr sz="1400" b="0">
                <a:solidFill>
                  <a:srgbClr val="171A33"/>
                </a:solidFill>
                <a:latin typeface="Calibri"/>
              </a:rPr>
              <a:t>•  When you stand up a new site like Dubai, roughly how many labelled frames do you need before perception is signed off, and how much of that is genuinely new versus a repeat of Heathrow or Tyne?</a:t>
            </a:r>
          </a:p>
          <a:p>
            <a:pPr algn="l">
              <a:spcAft>
                <a:spcPts val="1000"/>
              </a:spcAft>
            </a:pPr>
            <a:r>
              <a:rPr sz="1400" b="0">
                <a:solidFill>
                  <a:srgbClr val="171A33"/>
                </a:solidFill>
                <a:latin typeface="Calibri"/>
              </a:rPr>
              <a:t>•  Are 3D point cloud and camera labelled on the same synced clip today, and who does the 3D work, internal team or vendor?</a:t>
            </a:r>
          </a:p>
          <a:p>
            <a:pPr algn="l">
              <a:spcAft>
                <a:spcPts val="1000"/>
              </a:spcAft>
            </a:pPr>
            <a:r>
              <a:rPr sz="1400" b="0">
                <a:solidFill>
                  <a:srgbClr val="171A33"/>
                </a:solidFill>
                <a:latin typeface="Calibri"/>
              </a:rPr>
              <a:t>•  How do you currently decide which clips from a week of repeated route runs actually get sent for labelling?</a:t>
            </a:r>
          </a:p>
          <a:p>
            <a:pPr algn="l">
              <a:spcAft>
                <a:spcPts val="1000"/>
              </a:spcAft>
            </a:pPr>
            <a:r>
              <a:rPr sz="1400" b="0">
                <a:solidFill>
                  <a:srgbClr val="171A33"/>
                </a:solidFill>
                <a:latin typeface="Calibri"/>
              </a:rPr>
              <a:t>•  What does Oxa Foundry own that you would never outsource, and where would you rather buy than build?</a:t>
            </a:r>
          </a:p>
        </p:txBody>
      </p:sp>
      <p:sp>
        <p:nvSpPr>
          <p:cNvPr id="8" name="Rectangle 7"/>
          <p:cNvSpPr/>
          <p:nvPr/>
        </p:nvSpPr>
        <p:spPr>
          <a:xfrm>
            <a:off x="7680960" y="1737360"/>
            <a:ext cx="3840480" cy="2377440"/>
          </a:xfrm>
          <a:prstGeom prst="rect">
            <a:avLst/>
          </a:prstGeom>
          <a:solidFill>
            <a:srgbClr val="121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955279" y="1965960"/>
            <a:ext cx="3383280" cy="274320"/>
          </a:xfrm>
          <a:prstGeom prst="rect">
            <a:avLst/>
          </a:prstGeom>
          <a:noFill/>
        </p:spPr>
        <p:txBody>
          <a:bodyPr wrap="square" anchor="t" lIns="0" rIns="0" tIns="0" bIns="0">
            <a:spAutoFit/>
          </a:bodyPr>
          <a:lstStyle/>
          <a:p>
            <a:pPr algn="l">
              <a:spcAft>
                <a:spcPts val="400"/>
              </a:spcAft>
            </a:pPr>
            <a:r>
              <a:rPr sz="1000" b="1">
                <a:solidFill>
                  <a:srgbClr val="B9BCDC"/>
                </a:solidFill>
                <a:latin typeface="Calibri"/>
              </a:rPr>
              <a:t>CONTACT</a:t>
            </a:r>
          </a:p>
        </p:txBody>
      </p:sp>
      <p:sp>
        <p:nvSpPr>
          <p:cNvPr id="10" name="TextBox 9"/>
          <p:cNvSpPr txBox="1"/>
          <p:nvPr/>
        </p:nvSpPr>
        <p:spPr>
          <a:xfrm>
            <a:off x="7955279" y="2286000"/>
            <a:ext cx="3383280" cy="1645920"/>
          </a:xfrm>
          <a:prstGeom prst="rect">
            <a:avLst/>
          </a:prstGeom>
          <a:noFill/>
        </p:spPr>
        <p:txBody>
          <a:bodyPr wrap="square" anchor="t" lIns="0" rIns="0" tIns="0" bIns="0">
            <a:spAutoFit/>
          </a:bodyPr>
          <a:lstStyle/>
          <a:p>
            <a:pPr algn="l">
              <a:spcAft>
                <a:spcPts val="600"/>
              </a:spcAft>
            </a:pPr>
            <a:r>
              <a:rPr sz="1300" b="0">
                <a:solidFill>
                  <a:srgbClr val="FFFFFF"/>
                </a:solidFill>
                <a:latin typeface="Calibri"/>
              </a:rPr>
              <a:t>Qais Al-Azkawi</a:t>
            </a:r>
          </a:p>
          <a:p>
            <a:pPr algn="l">
              <a:spcAft>
                <a:spcPts val="600"/>
              </a:spcAft>
            </a:pPr>
            <a:r>
              <a:rPr sz="1300" b="0">
                <a:solidFill>
                  <a:srgbClr val="FFFFFF"/>
                </a:solidFill>
                <a:latin typeface="Calibri"/>
              </a:rPr>
              <a:t>Commercial Associate, Encord</a:t>
            </a:r>
          </a:p>
          <a:p>
            <a:pPr algn="l">
              <a:spcAft>
                <a:spcPts val="600"/>
              </a:spcAft>
            </a:pPr>
            <a:r>
              <a:rPr sz="1300" b="0">
                <a:solidFill>
                  <a:srgbClr val="FFFFFF"/>
                </a:solidFill>
                <a:latin typeface="Calibri"/>
              </a:rPr>
              <a:t>qaisqas@gmail.com</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