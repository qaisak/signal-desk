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questions to test this:</a:t>
            </a:r>
          </a:p>
          <a:p>
            <a:r>
              <a:t>- Your Oct 2025 post on multimodal search suggests Foundry already does clip retrieval. Where does Foundry stop today, and where do you hand off to a labelling vendor or tool?</a:t>
            </a:r>
          </a:p>
          <a:p>
            <a:r>
              <a:t>- For the Dubai SHIFFT sites, are you planning to relabel from scratch or transfer from the UK datasets, and how will you decide what is genuinely new?</a:t>
            </a:r>
          </a:p>
          <a:p>
            <a:r>
              <a:t>- How do you currently label camera and LIDAR together, and how much of the annotator time goes on keeping 2D and 3D consistent across frames?</a:t>
            </a:r>
          </a:p>
          <a:p>
            <a:r>
              <a:t>- When a perception regression shows up in shadow running or the safety case, how do you trace it back to a data gap or a label error, and how long does that take?</a:t>
            </a:r>
          </a:p>
          <a:p>
            <a:r>
              <a:t>- Who owns the decision on how many frames get labelled per site per month, and what is the current cost per labelled clip or per sensor-hour?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Confidence: medium</a:t>
            </a:r>
          </a:p>
          <a:p>
            <a:r>
              <a:t>Risks:</a:t>
            </a:r>
          </a:p>
          <a:p>
            <a:r>
              <a:t>- Strong in-house tooling. Oxa Foundry and their published multimodal search work suggest they may already consider curation and search a solved, internal capability, and they are well funded ($103m Series D first close) to keep building it.</a:t>
            </a:r>
          </a:p>
          <a:p>
            <a:r>
              <a:t>- No ML/CV job ads found and no named contact, so we have no direct evidence of a hiring or tooling gap; the pain is inferred from deployment signals only.</a:t>
            </a:r>
          </a:p>
          <a:p>
            <a:r>
              <a:t>- Data access and residency. Port, airport and bp customer data may be under contractual restriction, and the Dubai joint venture may impose UAE residency requirements that complicate a GCP-hosted control plane, even though data stays in their bucket.</a:t>
            </a:r>
          </a:p>
          <a:p>
            <a:r>
              <a:t>- Incumbent AV toolchain. Automotive-grade competitors (Scale, Segments, Foretellix-style scenario tooling) or an NVIDIA-aligned stack may already be embedded via their NVIDIA partnership.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206240" cy="6858000"/>
          </a:xfrm>
          <a:prstGeom prst="rect">
            <a:avLst/>
          </a:prstGeom>
          <a:solidFill>
            <a:srgbClr val="12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206240" y="0"/>
            <a:ext cx="109728" cy="68580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3200400" cy="365760"/>
          </a:xfrm>
          <a:prstGeom prst="rect">
            <a:avLst/>
          </a:prstGeom>
          <a:noFill/>
        </p:spPr>
        <p:txBody>
          <a:bodyPr wrap="square" anchor="t" lIns="0" rIns="0" tIns="0" bIns="0">
            <a:spAutoFit/>
          </a:bodyPr>
          <a:lstStyle/>
          <a:p>
            <a:pPr algn="l">
              <a:spcAft>
                <a:spcPts val="400"/>
              </a:spcAft>
            </a:pPr>
            <a:r>
              <a:rPr sz="1200" b="1">
                <a:solidFill>
                  <a:srgbClr val="FFFFFF"/>
                </a:solidFill>
                <a:latin typeface="Calibri"/>
              </a:rPr>
              <a:t>ENCORD</a:t>
            </a:r>
          </a:p>
        </p:txBody>
      </p:sp>
      <p:sp>
        <p:nvSpPr>
          <p:cNvPr id="5" name="TextBox 4"/>
          <p:cNvSpPr txBox="1"/>
          <p:nvPr/>
        </p:nvSpPr>
        <p:spPr>
          <a:xfrm>
            <a:off x="548640" y="5577840"/>
            <a:ext cx="3200400" cy="914400"/>
          </a:xfrm>
          <a:prstGeom prst="rect">
            <a:avLst/>
          </a:prstGeom>
          <a:noFill/>
        </p:spPr>
        <p:txBody>
          <a:bodyPr wrap="square" anchor="t" lIns="0" rIns="0" tIns="0" bIns="0">
            <a:spAutoFit/>
          </a:bodyPr>
          <a:lstStyle/>
          <a:p>
            <a:pPr algn="l">
              <a:spcAft>
                <a:spcPts val="400"/>
              </a:spcAft>
            </a:pPr>
            <a:r>
              <a:rPr sz="1000" b="0">
                <a:solidFill>
                  <a:srgbClr val="B9BCDC"/>
                </a:solidFill>
                <a:latin typeface="Calibri"/>
              </a:rPr>
              <a:t>Prepared 2026-09-22</a:t>
            </a:r>
          </a:p>
          <a:p>
            <a:pPr algn="l">
              <a:spcAft>
                <a:spcPts val="400"/>
              </a:spcAft>
            </a:pPr>
            <a:r>
              <a:rPr sz="1000" b="0">
                <a:solidFill>
                  <a:srgbClr val="B9BCDC"/>
                </a:solidFill>
                <a:latin typeface="Calibri"/>
              </a:rPr>
              <a:t>Qais Al-Azkawi</a:t>
            </a:r>
          </a:p>
          <a:p>
            <a:pPr algn="l">
              <a:spcAft>
                <a:spcPts val="400"/>
              </a:spcAft>
            </a:pPr>
            <a:r>
              <a:rPr sz="1000" b="0">
                <a:solidFill>
                  <a:srgbClr val="B9BCDC"/>
                </a:solidFill>
                <a:latin typeface="Calibri"/>
              </a:rPr>
              <a:t>DRAFT for review</a:t>
            </a:r>
          </a:p>
        </p:txBody>
      </p:sp>
      <p:sp>
        <p:nvSpPr>
          <p:cNvPr id="6" name="TextBox 5"/>
          <p:cNvSpPr txBox="1"/>
          <p:nvPr/>
        </p:nvSpPr>
        <p:spPr>
          <a:xfrm>
            <a:off x="4846320" y="1828800"/>
            <a:ext cx="6766560" cy="1280160"/>
          </a:xfrm>
          <a:prstGeom prst="rect">
            <a:avLst/>
          </a:prstGeom>
          <a:noFill/>
        </p:spPr>
        <p:txBody>
          <a:bodyPr wrap="square" anchor="t" lIns="0" rIns="0" tIns="0" bIns="0">
            <a:spAutoFit/>
          </a:bodyPr>
          <a:lstStyle/>
          <a:p>
            <a:pPr algn="l">
              <a:spcAft>
                <a:spcPts val="400"/>
              </a:spcAft>
            </a:pPr>
            <a:r>
              <a:rPr sz="4000" b="1">
                <a:solidFill>
                  <a:srgbClr val="171A33"/>
                </a:solidFill>
                <a:latin typeface="Calibri"/>
              </a:rPr>
              <a:t>Encord x Oxa</a:t>
            </a:r>
          </a:p>
        </p:txBody>
      </p:sp>
      <p:sp>
        <p:nvSpPr>
          <p:cNvPr id="7" name="TextBox 6"/>
          <p:cNvSpPr txBox="1"/>
          <p:nvPr/>
        </p:nvSpPr>
        <p:spPr>
          <a:xfrm>
            <a:off x="4846320" y="3108960"/>
            <a:ext cx="6766560" cy="2011680"/>
          </a:xfrm>
          <a:prstGeom prst="rect">
            <a:avLst/>
          </a:prstGeom>
          <a:noFill/>
        </p:spPr>
        <p:txBody>
          <a:bodyPr wrap="square" anchor="t" lIns="0" rIns="0" tIns="0" bIns="0">
            <a:spAutoFit/>
          </a:bodyPr>
          <a:lstStyle/>
          <a:p>
            <a:pPr algn="l">
              <a:spcAft>
                <a:spcPts val="400"/>
              </a:spcAft>
            </a:pPr>
            <a:r>
              <a:rPr sz="1800" b="0">
                <a:solidFill>
                  <a:srgbClr val="5D6180"/>
                </a:solidFill>
                <a:latin typeface="Calibri"/>
              </a:rPr>
              <a:t>Oxa is scaling the same driver software across new sites and geographies (Port of Tyne, Heathrow, now Dubai via SHIFFT), so the bottleneck is finding and labelling the rare, site-specific frames in highly repetitive route data, not collecting more of it.</a:t>
            </a:r>
          </a:p>
        </p:txBody>
      </p:sp>
      <p:sp>
        <p:nvSpPr>
          <p:cNvPr id="8" name="TextBox 7"/>
          <p:cNvSpPr txBox="1"/>
          <p:nvPr/>
        </p:nvSpPr>
        <p:spPr>
          <a:xfrm>
            <a:off x="4846320" y="5760720"/>
            <a:ext cx="6766560" cy="457200"/>
          </a:xfrm>
          <a:prstGeom prst="rect">
            <a:avLst/>
          </a:prstGeom>
          <a:noFill/>
        </p:spPr>
        <p:txBody>
          <a:bodyPr wrap="square" anchor="t" lIns="0" rIns="0" tIns="0" bIns="0">
            <a:spAutoFit/>
          </a:bodyPr>
          <a:lstStyle/>
          <a:p>
            <a:pPr algn="l">
              <a:spcAft>
                <a:spcPts val="400"/>
              </a:spcAft>
            </a:pPr>
            <a:r>
              <a:rPr sz="1000" b="0">
                <a:solidFill>
                  <a:srgbClr val="5D6180"/>
                </a:solidFill>
                <a:latin typeface="Calibri"/>
              </a:rPr>
              <a:t>A first-meeting point of view. Everything here is our reading of public information; the questions are where we want to be corrected.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WHAT WE UNDERSTAND</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Oxa builds, and how we think the data flows</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2</a:t>
            </a:r>
          </a:p>
        </p:txBody>
      </p:sp>
      <p:sp>
        <p:nvSpPr>
          <p:cNvPr id="7" name="TextBox 6"/>
          <p:cNvSpPr txBox="1"/>
          <p:nvPr/>
        </p:nvSpPr>
        <p:spPr>
          <a:xfrm>
            <a:off x="640080" y="1737360"/>
            <a:ext cx="5120640" cy="4114800"/>
          </a:xfrm>
          <a:prstGeom prst="rect">
            <a:avLst/>
          </a:prstGeom>
          <a:noFill/>
        </p:spPr>
        <p:txBody>
          <a:bodyPr wrap="square" anchor="t" lIns="0" rIns="0" tIns="0" bIns="0">
            <a:spAutoFit/>
          </a:bodyPr>
          <a:lstStyle/>
          <a:p>
            <a:pPr algn="l">
              <a:spcAft>
                <a:spcPts val="800"/>
              </a:spcAft>
            </a:pPr>
            <a:r>
              <a:rPr sz="1400" b="0">
                <a:solidFill>
                  <a:srgbClr val="171A33"/>
                </a:solidFill>
                <a:latin typeface="Calibri"/>
              </a:rPr>
              <a:t>Oxa sells a 'universal AI driver' for industrial vehicles: self-driving software plus modular up-fit hardware and fleet management for ports, airports, yards and factories, with customers including DHL (Heathrow), bp and Port of Tyne. Buyers are logistics and infrastructure operators paying for productivity, throughput and safety, which means perception failures are a commercial and safety-case problem, not just a metric. The new Dubai joint venture SHIFFT adds a second geography with different vehicles, weather and site layouts.</a:t>
            </a:r>
          </a:p>
        </p:txBody>
      </p:sp>
      <p:sp>
        <p:nvSpPr>
          <p:cNvPr id="8" name="TextBox 7"/>
          <p:cNvSpPr txBox="1"/>
          <p:nvPr/>
        </p:nvSpPr>
        <p:spPr>
          <a:xfrm>
            <a:off x="6217920" y="1737360"/>
            <a:ext cx="530352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INFERRED PIPELINE (guesses marked)</a:t>
            </a:r>
          </a:p>
        </p:txBody>
      </p:sp>
      <p:sp>
        <p:nvSpPr>
          <p:cNvPr id="9" name="Oval 8"/>
          <p:cNvSpPr/>
          <p:nvPr/>
        </p:nvSpPr>
        <p:spPr>
          <a:xfrm>
            <a:off x="6217920" y="2103120"/>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2103120"/>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1" name="TextBox 10"/>
          <p:cNvSpPr txBox="1"/>
          <p:nvPr/>
        </p:nvSpPr>
        <p:spPr>
          <a:xfrm>
            <a:off x="6766560" y="2084831"/>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Multi-camera plus LIDAR (and likely radar/GNSS/IMU) logged from vehicles on fixed, repetitive site routes; NVIDIA stack referenced in their Sep 2025 release. Guess.</a:t>
            </a:r>
          </a:p>
        </p:txBody>
      </p:sp>
      <p:sp>
        <p:nvSpPr>
          <p:cNvPr id="12" name="Oval 11"/>
          <p:cNvSpPr/>
          <p:nvPr/>
        </p:nvSpPr>
        <p:spPr>
          <a:xfrm>
            <a:off x="6217920" y="2761487"/>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2761487"/>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766560" y="2743199"/>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Logs land in cloud object storage per site and per campaign; triage and search via their own Oxa Foundry toolchain, including the 'multimodal search' work they blogged about in Oct 2025. Partly evidenced.</a:t>
            </a:r>
          </a:p>
        </p:txBody>
      </p:sp>
      <p:sp>
        <p:nvSpPr>
          <p:cNvPr id="15" name="Oval 14"/>
          <p:cNvSpPr/>
          <p:nvPr/>
        </p:nvSpPr>
        <p:spPr>
          <a:xfrm>
            <a:off x="6217920" y="3419855"/>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3419855"/>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7" name="TextBox 16"/>
          <p:cNvSpPr txBox="1"/>
          <p:nvPr/>
        </p:nvSpPr>
        <p:spPr>
          <a:xfrm>
            <a:off x="6766560" y="3401567"/>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Interesting clips selected by engineers for scenario mining, safety-case evidence and regression sets; most of the repetitive route footage is never labelled. Guess.</a:t>
            </a:r>
          </a:p>
        </p:txBody>
      </p:sp>
      <p:sp>
        <p:nvSpPr>
          <p:cNvPr id="18" name="Oval 17"/>
          <p:cNvSpPr/>
          <p:nvPr/>
        </p:nvSpPr>
        <p:spPr>
          <a:xfrm>
            <a:off x="6217920" y="4078223"/>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0" y="4078223"/>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0" name="TextBox 19"/>
          <p:cNvSpPr txBox="1"/>
          <p:nvPr/>
        </p:nvSpPr>
        <p:spPr>
          <a:xfrm>
            <a:off x="6766560" y="4059935"/>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Labelling of 3D cuboids, lanes/driveable surface and 2D boxes, likely outsourced to a BPO vendor plus some in-house tooling, with 2D/3D synchronisation done manually or via a custom sensor fusion viewer. Guess.</a:t>
            </a:r>
          </a:p>
        </p:txBody>
      </p:sp>
      <p:sp>
        <p:nvSpPr>
          <p:cNvPr id="21" name="Oval 20"/>
          <p:cNvSpPr/>
          <p:nvPr/>
        </p:nvSpPr>
        <p:spPr>
          <a:xfrm>
            <a:off x="6217920" y="4736591"/>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0" y="4736591"/>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3" name="TextBox 22"/>
          <p:cNvSpPr txBox="1"/>
          <p:nvPr/>
        </p:nvSpPr>
        <p:spPr>
          <a:xfrm>
            <a:off x="6766560" y="4718303"/>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Perception models trained and validated against scenario suites, then simulation and on-site shadow running before release; failures fed back as new data requests. Guess.</a:t>
            </a:r>
          </a:p>
        </p:txBody>
      </p:sp>
      <p:sp>
        <p:nvSpPr>
          <p:cNvPr id="24" name="Oval 23"/>
          <p:cNvSpPr/>
          <p:nvPr/>
        </p:nvSpPr>
        <p:spPr>
          <a:xfrm>
            <a:off x="6217920" y="5394959"/>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5394959"/>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26" name="TextBox 25"/>
          <p:cNvSpPr txBox="1"/>
          <p:nvPr/>
        </p:nvSpPr>
        <p:spPr>
          <a:xfrm>
            <a:off x="6766560" y="5376671"/>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Each new site (Tyne, Heathrow, Dubai) triggers a fresh collection and relabel cycle to cover domain shift. Inferred from launch signals.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WHERE WE THINK IT HURTS</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Three hypotheses, ranked by how sure we are</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3</a:t>
            </a:r>
          </a:p>
        </p:txBody>
      </p:sp>
      <p:sp>
        <p:nvSpPr>
          <p:cNvPr id="7" name="Rectangle 6"/>
          <p:cNvSpPr/>
          <p:nvPr/>
        </p:nvSpPr>
        <p:spPr>
          <a:xfrm>
            <a:off x="640080"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1</a:t>
            </a:r>
          </a:p>
        </p:txBody>
      </p:sp>
      <p:sp>
        <p:nvSpPr>
          <p:cNvPr id="10" name="TextBox 9"/>
          <p:cNvSpPr txBox="1"/>
          <p:nvPr/>
        </p:nvSpPr>
        <p:spPr>
          <a:xfrm>
            <a:off x="868680"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New sites and a new climate mean re-collecting and relabelling from near zero, because existing labelled data is dominated by a few UK routes and does not transfer to Dubai ports and airports.</a:t>
            </a:r>
          </a:p>
        </p:txBody>
      </p:sp>
      <p:sp>
        <p:nvSpPr>
          <p:cNvPr id="11" name="TextBox 10"/>
          <p:cNvSpPr txBox="1"/>
          <p:nvPr/>
        </p:nvSpPr>
        <p:spPr>
          <a:xfrm>
            <a:off x="868680"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12" name="TextBox 11"/>
          <p:cNvSpPr txBox="1"/>
          <p:nvPr/>
        </p:nvSpPr>
        <p:spPr>
          <a:xfrm>
            <a:off x="868680"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August 2026 SHIFFT launch with Dubai Future Foundation, plus Port of Tyne and Heathrow deployments; a 'universal AI driver' claim across sites.</a:t>
            </a:r>
          </a:p>
        </p:txBody>
      </p:sp>
      <p:sp>
        <p:nvSpPr>
          <p:cNvPr id="13" name="TextBox 12"/>
          <p:cNvSpPr txBox="1"/>
          <p:nvPr/>
        </p:nvSpPr>
        <p:spPr>
          <a:xfrm>
            <a:off x="868680"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14" name="TextBox 13"/>
          <p:cNvSpPr txBox="1"/>
          <p:nvPr/>
        </p:nvSpPr>
        <p:spPr>
          <a:xfrm>
            <a:off x="868680"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Index registers each site's data in Oxa's own bucket and uses embeddings plus similarity search to show what the Dubai set contains that the UK set does not, so only the genuinely novel frames go to Annotate. Active then correlates model failures to site and condition slices.</a:t>
            </a:r>
          </a:p>
        </p:txBody>
      </p:sp>
      <p:sp>
        <p:nvSpPr>
          <p:cNvPr id="15" name="Rectangle 14"/>
          <p:cNvSpPr/>
          <p:nvPr/>
        </p:nvSpPr>
        <p:spPr>
          <a:xfrm>
            <a:off x="4389120"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0"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2</a:t>
            </a:r>
          </a:p>
        </p:txBody>
      </p:sp>
      <p:sp>
        <p:nvSpPr>
          <p:cNvPr id="18" name="TextBox 17"/>
          <p:cNvSpPr txBox="1"/>
          <p:nvPr/>
        </p:nvSpPr>
        <p:spPr>
          <a:xfrm>
            <a:off x="4617720"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Repetitive fixed routes produce enormous near-duplicate volume; labelling budget is spent on frames that add no information while rare events stay under-represented.</a:t>
            </a:r>
          </a:p>
        </p:txBody>
      </p:sp>
      <p:sp>
        <p:nvSpPr>
          <p:cNvPr id="19" name="TextBox 18"/>
          <p:cNvSpPr txBox="1"/>
          <p:nvPr/>
        </p:nvSpPr>
        <p:spPr>
          <a:xfrm>
            <a:off x="4617720"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20" name="TextBox 19"/>
          <p:cNvSpPr txBox="1"/>
          <p:nvPr/>
        </p:nvSpPr>
        <p:spPr>
          <a:xfrm>
            <a:off x="4617720"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Site routes are by nature repetitive; their own Oct 2025 post on multimodal search suggests they already feel the find-the-right-clip problem.</a:t>
            </a:r>
          </a:p>
        </p:txBody>
      </p:sp>
      <p:sp>
        <p:nvSpPr>
          <p:cNvPr id="21" name="TextBox 20"/>
          <p:cNvSpPr txBox="1"/>
          <p:nvPr/>
        </p:nvSpPr>
        <p:spPr>
          <a:xfrm>
            <a:off x="4617720"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22" name="TextBox 21"/>
          <p:cNvSpPr txBox="1"/>
          <p:nvPr/>
        </p:nvSpPr>
        <p:spPr>
          <a:xfrm>
            <a:off x="4617720"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Index quality metrics (uniqueness, brightness, sharpness) plus embedding-based de-duplication and diversity sampling to build Collections. Our own warehouse-robot test cut frames to label by 61% while keeping 95% of racks, and the curated pick beat a random pick of equal size.</a:t>
            </a:r>
          </a:p>
        </p:txBody>
      </p:sp>
      <p:sp>
        <p:nvSpPr>
          <p:cNvPr id="23" name="Rectangle 22"/>
          <p:cNvSpPr/>
          <p:nvPr/>
        </p:nvSpPr>
        <p:spPr>
          <a:xfrm>
            <a:off x="8138159"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8159"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59"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3</a:t>
            </a:r>
          </a:p>
        </p:txBody>
      </p:sp>
      <p:sp>
        <p:nvSpPr>
          <p:cNvPr id="26" name="TextBox 25"/>
          <p:cNvSpPr txBox="1"/>
          <p:nvPr/>
        </p:nvSpPr>
        <p:spPr>
          <a:xfrm>
            <a:off x="8366759"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Synchronised 2D camera and 3D LIDAR labelling is slow and error-prone, and label errors surface late as perception regressions in a safety case.</a:t>
            </a:r>
          </a:p>
        </p:txBody>
      </p:sp>
      <p:sp>
        <p:nvSpPr>
          <p:cNvPr id="27" name="TextBox 26"/>
          <p:cNvSpPr txBox="1"/>
          <p:nvPr/>
        </p:nvSpPr>
        <p:spPr>
          <a:xfrm>
            <a:off x="8366759"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28" name="TextBox 27"/>
          <p:cNvSpPr txBox="1"/>
          <p:nvPr/>
        </p:nvSpPr>
        <p:spPr>
          <a:xfrm>
            <a:off x="8366759"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Our inference from multi-camera plus LIDAR sensor suites; no job ads or docs found to confirm, so treat as unvalidated.</a:t>
            </a:r>
          </a:p>
        </p:txBody>
      </p:sp>
      <p:sp>
        <p:nvSpPr>
          <p:cNvPr id="29" name="TextBox 28"/>
          <p:cNvSpPr txBox="1"/>
          <p:nvPr/>
        </p:nvSpPr>
        <p:spPr>
          <a:xfrm>
            <a:off x="8366759"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30" name="TextBox 29"/>
          <p:cNvSpPr txBox="1"/>
          <p:nvPr/>
        </p:nvSpPr>
        <p:spPr>
          <a:xfrm>
            <a:off x="8366759"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Annotate supports 3D point clouds/LIDAR alongside native video with cuboids, object tracking and interpolation; Active label validation surfaces likely label errors using data, label and model metrics before they reach training.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A STARTING ONTOLOGY</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we would label for Oxa, and how</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4</a:t>
            </a:r>
          </a:p>
        </p:txBody>
      </p:sp>
      <p:sp>
        <p:nvSpPr>
          <p:cNvPr id="7" name="TextBox 6"/>
          <p:cNvSpPr txBox="1"/>
          <p:nvPr/>
        </p:nvSpPr>
        <p:spPr>
          <a:xfrm>
            <a:off x="640080" y="1691640"/>
            <a:ext cx="10972800" cy="365760"/>
          </a:xfrm>
          <a:prstGeom prst="rect">
            <a:avLst/>
          </a:prstGeom>
          <a:noFill/>
        </p:spPr>
        <p:txBody>
          <a:bodyPr wrap="square" anchor="t" lIns="0" rIns="0" tIns="0" bIns="0">
            <a:spAutoFit/>
          </a:bodyPr>
          <a:lstStyle/>
          <a:p>
            <a:pPr algn="l">
              <a:spcAft>
                <a:spcPts val="400"/>
              </a:spcAft>
            </a:pPr>
            <a:r>
              <a:rPr sz="1200" b="0">
                <a:solidFill>
                  <a:srgbClr val="5D6180"/>
                </a:solidFill>
                <a:latin typeface="Calibri"/>
              </a:rPr>
              <a:t>A proposal to argue with. The shapes matter: they decide what the model can learn and what the labellers spend time on.</a:t>
            </a:r>
          </a:p>
        </p:txBody>
      </p:sp>
      <p:graphicFrame>
        <p:nvGraphicFramePr>
          <p:cNvPr id="8" name="Table 7"/>
          <p:cNvGraphicFramePr>
            <a:graphicFrameLocks noGrp="1"/>
          </p:cNvGraphicFramePr>
          <p:nvPr/>
        </p:nvGraphicFramePr>
        <p:xfrm>
          <a:off x="640080" y="2194560"/>
          <a:ext cx="10881360" cy="3291840"/>
        </p:xfrm>
        <a:graphic>
          <a:graphicData uri="http://schemas.openxmlformats.org/drawingml/2006/table">
            <a:tbl>
              <a:tblPr firstRow="1" bandRow="1">
                <a:tableStyleId>{5C22544A-7EE6-4342-B048-85BDC9FD1C3A}</a:tableStyleId>
              </a:tblPr>
              <a:tblGrid>
                <a:gridCol w="2926080"/>
                <a:gridCol w="1828800"/>
                <a:gridCol w="6126480"/>
              </a:tblGrid>
              <a:tr h="365760">
                <a:tc>
                  <a:txBody>
                    <a:bodyPr/>
                    <a:lstStyle/>
                    <a:p>
                      <a:r>
                        <a:rPr sz="1100" b="1">
                          <a:solidFill>
                            <a:srgbClr val="FFFFFF"/>
                          </a:solidFill>
                          <a:latin typeface="Calibri"/>
                        </a:rPr>
                        <a:t>Class</a:t>
                      </a:r>
                    </a:p>
                  </a:txBody>
                  <a:tcPr>
                    <a:solidFill>
                      <a:srgbClr val="4F46E5"/>
                    </a:solidFill>
                  </a:tcPr>
                </a:tc>
                <a:tc>
                  <a:txBody>
                    <a:bodyPr/>
                    <a:lstStyle/>
                    <a:p>
                      <a:r>
                        <a:rPr sz="1100" b="1">
                          <a:solidFill>
                            <a:srgbClr val="FFFFFF"/>
                          </a:solidFill>
                          <a:latin typeface="Calibri"/>
                        </a:rPr>
                        <a:t>Shape</a:t>
                      </a:r>
                    </a:p>
                  </a:txBody>
                  <a:tcPr>
                    <a:solidFill>
                      <a:srgbClr val="4F46E5"/>
                    </a:solidFill>
                  </a:tcPr>
                </a:tc>
                <a:tc>
                  <a:txBody>
                    <a:bodyPr/>
                    <a:lstStyle/>
                    <a:p>
                      <a:r>
                        <a:rPr sz="1100" b="1">
                          <a:solidFill>
                            <a:srgbClr val="FFFFFF"/>
                          </a:solidFill>
                          <a:latin typeface="Calibri"/>
                        </a:rPr>
                        <a:t>Why this shape</a:t>
                      </a:r>
                    </a:p>
                  </a:txBody>
                  <a:tcPr>
                    <a:solidFill>
                      <a:srgbClr val="4F46E5"/>
                    </a:solidFill>
                  </a:tcPr>
                </a:tc>
              </a:tr>
              <a:tr h="365760">
                <a:tc>
                  <a:txBody>
                    <a:bodyPr/>
                    <a:lstStyle/>
                    <a:p>
                      <a:r>
                        <a:rPr sz="1050" b="1">
                          <a:solidFill>
                            <a:srgbClr val="171A33"/>
                          </a:solidFill>
                          <a:latin typeface="Calibri"/>
                        </a:rPr>
                        <a:t>Vehicle / cargo handler (reach stacker, tug, forklift, dolly)</a:t>
                      </a:r>
                    </a:p>
                  </a:txBody>
                  <a:tcPr>
                    <a:solidFill>
                      <a:srgbClr val="FFFFFF"/>
                    </a:solidFill>
                  </a:tcPr>
                </a:tc>
                <a:tc>
                  <a:txBody>
                    <a:bodyPr/>
                    <a:lstStyle/>
                    <a:p>
                      <a:r>
                        <a:rPr sz="1050" b="0">
                          <a:solidFill>
                            <a:srgbClr val="171A33"/>
                          </a:solidFill>
                          <a:latin typeface="Calibri"/>
                        </a:rPr>
                        <a:t>3D cuboid</a:t>
                      </a:r>
                    </a:p>
                  </a:txBody>
                  <a:tcPr>
                    <a:solidFill>
                      <a:srgbClr val="FFFFFF"/>
                    </a:solidFill>
                  </a:tcPr>
                </a:tc>
                <a:tc>
                  <a:txBody>
                    <a:bodyPr/>
                    <a:lstStyle/>
                    <a:p>
                      <a:r>
                        <a:rPr sz="1050" b="0">
                          <a:solidFill>
                            <a:srgbClr val="171A33"/>
                          </a:solidFill>
                          <a:latin typeface="Calibri"/>
                        </a:rPr>
                        <a:t>Primary dynamic obstacle in ports and airside; needs metric pose for planning</a:t>
                      </a:r>
                    </a:p>
                  </a:txBody>
                  <a:tcPr>
                    <a:solidFill>
                      <a:srgbClr val="FFFFFF"/>
                    </a:solidFill>
                  </a:tcPr>
                </a:tc>
              </a:tr>
              <a:tr h="365760">
                <a:tc>
                  <a:txBody>
                    <a:bodyPr/>
                    <a:lstStyle/>
                    <a:p>
                      <a:r>
                        <a:rPr sz="1050" b="1">
                          <a:solidFill>
                            <a:srgbClr val="171A33"/>
                          </a:solidFill>
                          <a:latin typeface="Calibri"/>
                        </a:rPr>
                        <a:t>Person / high-vis worker</a:t>
                      </a:r>
                    </a:p>
                  </a:txBody>
                  <a:tcPr>
                    <a:solidFill>
                      <a:srgbClr val="EEEDFB"/>
                    </a:solidFill>
                  </a:tcPr>
                </a:tc>
                <a:tc>
                  <a:txBody>
                    <a:bodyPr/>
                    <a:lstStyle/>
                    <a:p>
                      <a:r>
                        <a:rPr sz="1050" b="0">
                          <a:solidFill>
                            <a:srgbClr val="171A33"/>
                          </a:solidFill>
                          <a:latin typeface="Calibri"/>
                        </a:rPr>
                        <a:t>3D cuboid</a:t>
                      </a:r>
                    </a:p>
                  </a:txBody>
                  <a:tcPr>
                    <a:solidFill>
                      <a:srgbClr val="EEEDFB"/>
                    </a:solidFill>
                  </a:tcPr>
                </a:tc>
                <a:tc>
                  <a:txBody>
                    <a:bodyPr/>
                    <a:lstStyle/>
                    <a:p>
                      <a:r>
                        <a:rPr sz="1050" b="0">
                          <a:solidFill>
                            <a:srgbClr val="171A33"/>
                          </a:solidFill>
                          <a:latin typeface="Calibri"/>
                        </a:rPr>
                        <a:t>Safety-critical class driving the stop decision and the safety case</a:t>
                      </a:r>
                    </a:p>
                  </a:txBody>
                  <a:tcPr>
                    <a:solidFill>
                      <a:srgbClr val="EEEDFB"/>
                    </a:solidFill>
                  </a:tcPr>
                </a:tc>
              </a:tr>
              <a:tr h="365760">
                <a:tc>
                  <a:txBody>
                    <a:bodyPr/>
                    <a:lstStyle/>
                    <a:p>
                      <a:r>
                        <a:rPr sz="1050" b="1">
                          <a:solidFill>
                            <a:srgbClr val="171A33"/>
                          </a:solidFill>
                          <a:latin typeface="Calibri"/>
                        </a:rPr>
                        <a:t>Container, ULD and pallet stack</a:t>
                      </a:r>
                    </a:p>
                  </a:txBody>
                  <a:tcPr>
                    <a:solidFill>
                      <a:srgbClr val="FFFFFF"/>
                    </a:solidFill>
                  </a:tcPr>
                </a:tc>
                <a:tc>
                  <a:txBody>
                    <a:bodyPr/>
                    <a:lstStyle/>
                    <a:p>
                      <a:r>
                        <a:rPr sz="1050" b="0">
                          <a:solidFill>
                            <a:srgbClr val="171A33"/>
                          </a:solidFill>
                          <a:latin typeface="Calibri"/>
                        </a:rPr>
                        <a:t>3D cuboid</a:t>
                      </a:r>
                    </a:p>
                  </a:txBody>
                  <a:tcPr>
                    <a:solidFill>
                      <a:srgbClr val="FFFFFF"/>
                    </a:solidFill>
                  </a:tcPr>
                </a:tc>
                <a:tc>
                  <a:txBody>
                    <a:bodyPr/>
                    <a:lstStyle/>
                    <a:p>
                      <a:r>
                        <a:rPr sz="1050" b="0">
                          <a:solidFill>
                            <a:srgbClr val="171A33"/>
                          </a:solidFill>
                          <a:latin typeface="Calibri"/>
                        </a:rPr>
                        <a:t>Static clutter that changes hourly and defines driveable corridors</a:t>
                      </a:r>
                    </a:p>
                  </a:txBody>
                  <a:tcPr>
                    <a:solidFill>
                      <a:srgbClr val="FFFFFF"/>
                    </a:solidFill>
                  </a:tcPr>
                </a:tc>
              </a:tr>
              <a:tr h="365760">
                <a:tc>
                  <a:txBody>
                    <a:bodyPr/>
                    <a:lstStyle/>
                    <a:p>
                      <a:r>
                        <a:rPr sz="1050" b="1">
                          <a:solidFill>
                            <a:srgbClr val="171A33"/>
                          </a:solidFill>
                          <a:latin typeface="Calibri"/>
                        </a:rPr>
                        <a:t>Driveable surface / apron</a:t>
                      </a:r>
                    </a:p>
                  </a:txBody>
                  <a:tcPr>
                    <a:solidFill>
                      <a:srgbClr val="EEEDFB"/>
                    </a:solidFill>
                  </a:tcPr>
                </a:tc>
                <a:tc>
                  <a:txBody>
                    <a:bodyPr/>
                    <a:lstStyle/>
                    <a:p>
                      <a:r>
                        <a:rPr sz="1050" b="0">
                          <a:solidFill>
                            <a:srgbClr val="171A33"/>
                          </a:solidFill>
                          <a:latin typeface="Calibri"/>
                        </a:rPr>
                        <a:t>bitmask</a:t>
                      </a:r>
                    </a:p>
                  </a:txBody>
                  <a:tcPr>
                    <a:solidFill>
                      <a:srgbClr val="EEEDFB"/>
                    </a:solidFill>
                  </a:tcPr>
                </a:tc>
                <a:tc>
                  <a:txBody>
                    <a:bodyPr/>
                    <a:lstStyle/>
                    <a:p>
                      <a:r>
                        <a:rPr sz="1050" b="0">
                          <a:solidFill>
                            <a:srgbClr val="171A33"/>
                          </a:solidFill>
                          <a:latin typeface="Calibri"/>
                        </a:rPr>
                        <a:t>Free-space segmentation for constrained yard and airside routes</a:t>
                      </a:r>
                    </a:p>
                  </a:txBody>
                  <a:tcPr>
                    <a:solidFill>
                      <a:srgbClr val="EEEDFB"/>
                    </a:solidFill>
                  </a:tcPr>
                </a:tc>
              </a:tr>
              <a:tr h="365760">
                <a:tc>
                  <a:txBody>
                    <a:bodyPr/>
                    <a:lstStyle/>
                    <a:p>
                      <a:r>
                        <a:rPr sz="1050" b="1">
                          <a:solidFill>
                            <a:srgbClr val="171A33"/>
                          </a:solidFill>
                          <a:latin typeface="Calibri"/>
                        </a:rPr>
                        <a:t>Painted lane, stand marking and stop line</a:t>
                      </a:r>
                    </a:p>
                  </a:txBody>
                  <a:tcPr>
                    <a:solidFill>
                      <a:srgbClr val="FFFFFF"/>
                    </a:solidFill>
                  </a:tcPr>
                </a:tc>
                <a:tc>
                  <a:txBody>
                    <a:bodyPr/>
                    <a:lstStyle/>
                    <a:p>
                      <a:r>
                        <a:rPr sz="1050" b="0">
                          <a:solidFill>
                            <a:srgbClr val="171A33"/>
                          </a:solidFill>
                          <a:latin typeface="Calibri"/>
                        </a:rPr>
                        <a:t>polyline</a:t>
                      </a:r>
                    </a:p>
                  </a:txBody>
                  <a:tcPr>
                    <a:solidFill>
                      <a:srgbClr val="FFFFFF"/>
                    </a:solidFill>
                  </a:tcPr>
                </a:tc>
                <a:tc>
                  <a:txBody>
                    <a:bodyPr/>
                    <a:lstStyle/>
                    <a:p>
                      <a:r>
                        <a:rPr sz="1050" b="0">
                          <a:solidFill>
                            <a:srgbClr val="171A33"/>
                          </a:solidFill>
                          <a:latin typeface="Calibri"/>
                        </a:rPr>
                        <a:t>Site markings anchor localisation and route adherence</a:t>
                      </a:r>
                    </a:p>
                  </a:txBody>
                  <a:tcPr>
                    <a:solidFill>
                      <a:srgbClr val="FFFFFF"/>
                    </a:solidFill>
                  </a:tcPr>
                </a:tc>
              </a:tr>
              <a:tr h="365760">
                <a:tc>
                  <a:txBody>
                    <a:bodyPr/>
                    <a:lstStyle/>
                    <a:p>
                      <a:r>
                        <a:rPr sz="1050" b="1">
                          <a:solidFill>
                            <a:srgbClr val="171A33"/>
                          </a:solidFill>
                          <a:latin typeface="Calibri"/>
                        </a:rPr>
                        <a:t>Aircraft, trailer or dock door</a:t>
                      </a:r>
                    </a:p>
                  </a:txBody>
                  <a:tcPr>
                    <a:solidFill>
                      <a:srgbClr val="EEEDFB"/>
                    </a:solidFill>
                  </a:tcPr>
                </a:tc>
                <a:tc>
                  <a:txBody>
                    <a:bodyPr/>
                    <a:lstStyle/>
                    <a:p>
                      <a:r>
                        <a:rPr sz="1050" b="0">
                          <a:solidFill>
                            <a:srgbClr val="171A33"/>
                          </a:solidFill>
                          <a:latin typeface="Calibri"/>
                        </a:rPr>
                        <a:t>polygon</a:t>
                      </a:r>
                    </a:p>
                  </a:txBody>
                  <a:tcPr>
                    <a:solidFill>
                      <a:srgbClr val="EEEDFB"/>
                    </a:solidFill>
                  </a:tcPr>
                </a:tc>
                <a:tc>
                  <a:txBody>
                    <a:bodyPr/>
                    <a:lstStyle/>
                    <a:p>
                      <a:r>
                        <a:rPr sz="1050" b="0">
                          <a:solidFill>
                            <a:srgbClr val="171A33"/>
                          </a:solidFill>
                          <a:latin typeface="Calibri"/>
                        </a:rPr>
                        <a:t>Docking and approach targets specific to airport and yard operations</a:t>
                      </a:r>
                    </a:p>
                  </a:txBody>
                  <a:tcPr>
                    <a:solidFill>
                      <a:srgbClr val="EEEDFB"/>
                    </a:solidFill>
                  </a:tcPr>
                </a:tc>
              </a:tr>
              <a:tr h="365760">
                <a:tc>
                  <a:txBody>
                    <a:bodyPr/>
                    <a:lstStyle/>
                    <a:p>
                      <a:r>
                        <a:rPr sz="1050" b="1">
                          <a:solidFill>
                            <a:srgbClr val="171A33"/>
                          </a:solidFill>
                          <a:latin typeface="Calibri"/>
                        </a:rPr>
                        <a:t>Traffic control device (barrier, cone, signal, banksman gesture)</a:t>
                      </a:r>
                    </a:p>
                  </a:txBody>
                  <a:tcPr>
                    <a:solidFill>
                      <a:srgbClr val="FFFFFF"/>
                    </a:solidFill>
                  </a:tcPr>
                </a:tc>
                <a:tc>
                  <a:txBody>
                    <a:bodyPr/>
                    <a:lstStyle/>
                    <a:p>
                      <a:r>
                        <a:rPr sz="1050" b="0">
                          <a:solidFill>
                            <a:srgbClr val="171A33"/>
                          </a:solidFill>
                          <a:latin typeface="Calibri"/>
                        </a:rPr>
                        <a:t>bounding box</a:t>
                      </a:r>
                    </a:p>
                  </a:txBody>
                  <a:tcPr>
                    <a:solidFill>
                      <a:srgbClr val="FFFFFF"/>
                    </a:solidFill>
                  </a:tcPr>
                </a:tc>
                <a:tc>
                  <a:txBody>
                    <a:bodyPr/>
                    <a:lstStyle/>
                    <a:p>
                      <a:r>
                        <a:rPr sz="1050" b="0">
                          <a:solidFill>
                            <a:srgbClr val="171A33"/>
                          </a:solidFill>
                          <a:latin typeface="Calibri"/>
                        </a:rPr>
                        <a:t>Rare but decisive events for right-of-way behaviour</a:t>
                      </a:r>
                    </a:p>
                  </a:txBody>
                  <a:tcPr>
                    <a:solidFill>
                      <a:srgbClr val="FFFFFF"/>
                    </a:solidFill>
                  </a:tcPr>
                </a:tc>
              </a:tr>
              <a:tr h="365760">
                <a:tc>
                  <a:txBody>
                    <a:bodyPr/>
                    <a:lstStyle/>
                    <a:p>
                      <a:r>
                        <a:rPr sz="1050" b="1">
                          <a:solidFill>
                            <a:srgbClr val="171A33"/>
                          </a:solidFill>
                          <a:latin typeface="Calibri"/>
                        </a:rPr>
                        <a:t>Scene condition (night, rain, dust, glare, sensor degraded)</a:t>
                      </a:r>
                    </a:p>
                  </a:txBody>
                  <a:tcPr>
                    <a:solidFill>
                      <a:srgbClr val="EEEDFB"/>
                    </a:solidFill>
                  </a:tcPr>
                </a:tc>
                <a:tc>
                  <a:txBody>
                    <a:bodyPr/>
                    <a:lstStyle/>
                    <a:p>
                      <a:r>
                        <a:rPr sz="1050" b="0">
                          <a:solidFill>
                            <a:srgbClr val="171A33"/>
                          </a:solidFill>
                          <a:latin typeface="Calibri"/>
                        </a:rPr>
                        <a:t>frame classification</a:t>
                      </a:r>
                    </a:p>
                  </a:txBody>
                  <a:tcPr>
                    <a:solidFill>
                      <a:srgbClr val="EEEDFB"/>
                    </a:solidFill>
                  </a:tcPr>
                </a:tc>
                <a:tc>
                  <a:txBody>
                    <a:bodyPr/>
                    <a:lstStyle/>
                    <a:p>
                      <a:r>
                        <a:rPr sz="1050" b="0">
                          <a:solidFill>
                            <a:srgbClr val="171A33"/>
                          </a:solidFill>
                          <a:latin typeface="Calibri"/>
                        </a:rPr>
                        <a:t>Slice axis for model evaluation and for UK versus Dubai domain shift</a:t>
                      </a:r>
                    </a:p>
                  </a:txBody>
                  <a:tcPr>
                    <a:solidFill>
                      <a:srgbClr val="EEEDFB"/>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WHERE ENCORD FITS</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Lead with Index then Active, the rest follows</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5</a:t>
            </a:r>
          </a:p>
        </p:txBody>
      </p:sp>
      <p:sp>
        <p:nvSpPr>
          <p:cNvPr id="7" name="Rectangle 6"/>
          <p:cNvSpPr/>
          <p:nvPr/>
        </p:nvSpPr>
        <p:spPr>
          <a:xfrm>
            <a:off x="640080" y="1737360"/>
            <a:ext cx="91440" cy="82296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37360"/>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Index</a:t>
            </a:r>
          </a:p>
        </p:txBody>
      </p:sp>
      <p:sp>
        <p:nvSpPr>
          <p:cNvPr id="9" name="TextBox 8"/>
          <p:cNvSpPr txBox="1"/>
          <p:nvPr/>
        </p:nvSpPr>
        <p:spPr>
          <a:xfrm>
            <a:off x="868680" y="2029967"/>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Register the data where it already lives. Embeddings and quality metrics on every frame. Find the frames worth labelling; drop the repeats.</a:t>
            </a:r>
          </a:p>
        </p:txBody>
      </p:sp>
      <p:sp>
        <p:nvSpPr>
          <p:cNvPr id="10" name="Rectangle 9"/>
          <p:cNvSpPr/>
          <p:nvPr/>
        </p:nvSpPr>
        <p:spPr>
          <a:xfrm>
            <a:off x="640080" y="2743200"/>
            <a:ext cx="91440" cy="82296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43200"/>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Active</a:t>
            </a:r>
          </a:p>
        </p:txBody>
      </p:sp>
      <p:sp>
        <p:nvSpPr>
          <p:cNvPr id="12" name="TextBox 11"/>
          <p:cNvSpPr txBox="1"/>
          <p:nvPr/>
        </p:nvSpPr>
        <p:spPr>
          <a:xfrm>
            <a:off x="868680" y="303580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Import predictions. Accuracy by class, site and condition. Find label errors. Know exactly what to label next.</a:t>
            </a:r>
          </a:p>
        </p:txBody>
      </p:sp>
      <p:sp>
        <p:nvSpPr>
          <p:cNvPr id="13" name="Rectangle 12"/>
          <p:cNvSpPr/>
          <p:nvPr/>
        </p:nvSpPr>
        <p:spPr>
          <a:xfrm>
            <a:off x="640080" y="3749039"/>
            <a:ext cx="91440" cy="822960"/>
          </a:xfrm>
          <a:prstGeom prst="rect">
            <a:avLst/>
          </a:prstGeom>
          <a:solidFill>
            <a:srgbClr val="DF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749039"/>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Annotate</a:t>
            </a:r>
          </a:p>
        </p:txBody>
      </p:sp>
      <p:sp>
        <p:nvSpPr>
          <p:cNvPr id="15" name="TextBox 14"/>
          <p:cNvSpPr txBox="1"/>
          <p:nvPr/>
        </p:nvSpPr>
        <p:spPr>
          <a:xfrm>
            <a:off x="868680" y="404164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Label video, 3D and images with SAM auto-segmentation and tracking. Ontology, review workflow, managed workforce if needed.</a:t>
            </a:r>
          </a:p>
        </p:txBody>
      </p:sp>
      <p:sp>
        <p:nvSpPr>
          <p:cNvPr id="16" name="Rectangle 15"/>
          <p:cNvSpPr/>
          <p:nvPr/>
        </p:nvSpPr>
        <p:spPr>
          <a:xfrm>
            <a:off x="640080" y="4754879"/>
            <a:ext cx="91440" cy="822960"/>
          </a:xfrm>
          <a:prstGeom prst="rect">
            <a:avLst/>
          </a:prstGeom>
          <a:solidFill>
            <a:srgbClr val="DF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754879"/>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Agents</a:t>
            </a:r>
          </a:p>
        </p:txBody>
      </p:sp>
      <p:sp>
        <p:nvSpPr>
          <p:cNvPr id="18" name="TextBox 17"/>
          <p:cNvSpPr txBox="1"/>
          <p:nvPr/>
        </p:nvSpPr>
        <p:spPr>
          <a:xfrm>
            <a:off x="868680" y="504748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Run your own model as a workflow stage to pre-label and QA, so people adjudicate rather than draw.</a:t>
            </a:r>
          </a:p>
        </p:txBody>
      </p:sp>
      <p:sp>
        <p:nvSpPr>
          <p:cNvPr id="19" name="Rectangle 18"/>
          <p:cNvSpPr/>
          <p:nvPr/>
        </p:nvSpPr>
        <p:spPr>
          <a:xfrm>
            <a:off x="6583680" y="1737360"/>
            <a:ext cx="4937760" cy="402336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0" y="1737360"/>
            <a:ext cx="493776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12280" y="1965960"/>
            <a:ext cx="45720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CLOSEST CASE STUDY</a:t>
            </a:r>
          </a:p>
        </p:txBody>
      </p:sp>
      <p:sp>
        <p:nvSpPr>
          <p:cNvPr id="22" name="TextBox 21"/>
          <p:cNvSpPr txBox="1"/>
          <p:nvPr/>
        </p:nvSpPr>
        <p:spPr>
          <a:xfrm>
            <a:off x="6812280" y="2240280"/>
            <a:ext cx="4572000" cy="457200"/>
          </a:xfrm>
          <a:prstGeom prst="rect">
            <a:avLst/>
          </a:prstGeom>
          <a:noFill/>
        </p:spPr>
        <p:txBody>
          <a:bodyPr wrap="square" anchor="t" lIns="0" rIns="0" tIns="0" bIns="0">
            <a:spAutoFit/>
          </a:bodyPr>
          <a:lstStyle/>
          <a:p>
            <a:pPr algn="l">
              <a:spcAft>
                <a:spcPts val="400"/>
              </a:spcAft>
            </a:pPr>
            <a:r>
              <a:rPr sz="2000" b="1">
                <a:solidFill>
                  <a:srgbClr val="171A33"/>
                </a:solidFill>
                <a:latin typeface="Calibri"/>
              </a:rPr>
              <a:t>Automotus (street camera perception, curation-led)</a:t>
            </a:r>
          </a:p>
        </p:txBody>
      </p:sp>
      <p:sp>
        <p:nvSpPr>
          <p:cNvPr id="23" name="TextBox 22"/>
          <p:cNvSpPr txBox="1"/>
          <p:nvPr/>
        </p:nvSpPr>
        <p:spPr>
          <a:xfrm>
            <a:off x="6812280" y="2743200"/>
            <a:ext cx="4572000" cy="822960"/>
          </a:xfrm>
          <a:prstGeom prst="rect">
            <a:avLst/>
          </a:prstGeom>
          <a:noFill/>
        </p:spPr>
        <p:txBody>
          <a:bodyPr wrap="square" anchor="t" lIns="0" rIns="0" tIns="0" bIns="0">
            <a:spAutoFit/>
          </a:bodyPr>
          <a:lstStyle/>
          <a:p>
            <a:pPr algn="l">
              <a:spcAft>
                <a:spcPts val="400"/>
              </a:spcAft>
            </a:pPr>
            <a:r>
              <a:rPr sz="1400" b="1">
                <a:solidFill>
                  <a:srgbClr val="4F46E5"/>
                </a:solidFill>
                <a:latin typeface="Calibri"/>
              </a:rPr>
              <a:t>+20% mAP, 35% smaller dataset, 33% lower labelling cost after curating with Encord.</a:t>
            </a:r>
          </a:p>
        </p:txBody>
      </p:sp>
      <p:sp>
        <p:nvSpPr>
          <p:cNvPr id="24" name="TextBox 23"/>
          <p:cNvSpPr txBox="1"/>
          <p:nvPr/>
        </p:nvSpPr>
        <p:spPr>
          <a:xfrm>
            <a:off x="6812280" y="3566160"/>
            <a:ext cx="4572000" cy="2103120"/>
          </a:xfrm>
          <a:prstGeom prst="rect">
            <a:avLst/>
          </a:prstGeom>
          <a:noFill/>
        </p:spPr>
        <p:txBody>
          <a:bodyPr wrap="square" anchor="t" lIns="0" rIns="0" tIns="0" bIns="0">
            <a:spAutoFit/>
          </a:bodyPr>
          <a:lstStyle/>
          <a:p>
            <a:pPr algn="l">
              <a:spcAft>
                <a:spcPts val="400"/>
              </a:spcAft>
            </a:pPr>
            <a:r>
              <a:rPr sz="1100" b="0">
                <a:solidFill>
                  <a:srgbClr val="171A33"/>
                </a:solidFill>
                <a:latin typeface="Calibri"/>
              </a:rPr>
              <a:t>Fixed-viewpoint, highly repetitive outdoor scenes with a long tail of rare events, exactly the structure of a port or airside route. They cut the dataset rather than grew it and the model improved, which is the argument for Oxa as they add Dubai sites.</a:t>
            </a:r>
          </a:p>
        </p:txBody>
      </p:sp>
      <p:sp>
        <p:nvSpPr>
          <p:cNvPr id="25" name="TextBox 24"/>
          <p:cNvSpPr txBox="1"/>
          <p:nvPr/>
        </p:nvSpPr>
        <p:spPr>
          <a:xfrm>
            <a:off x="640080" y="5943600"/>
            <a:ext cx="10972800" cy="365760"/>
          </a:xfrm>
          <a:prstGeom prst="rect">
            <a:avLst/>
          </a:prstGeom>
          <a:noFill/>
        </p:spPr>
        <p:txBody>
          <a:bodyPr wrap="square" anchor="t" lIns="0" rIns="0" tIns="0" bIns="0">
            <a:spAutoFit/>
          </a:bodyPr>
          <a:lstStyle/>
          <a:p>
            <a:pPr algn="l">
              <a:spcAft>
                <a:spcPts val="400"/>
              </a:spcAft>
            </a:pPr>
            <a:r>
              <a:rPr sz="1000" b="0">
                <a:solidFill>
                  <a:srgbClr val="5D6180"/>
                </a:solidFill>
                <a:latin typeface="Calibri"/>
              </a:rPr>
              <a:t>Data stays in your bucket. SOC2 Type II, HIPAA, GDPR. Everything the UI does, the SDK does.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PROPOSED NEXT STEP</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A two-week proof of value on one site's data</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6</a:t>
            </a:r>
          </a:p>
        </p:txBody>
      </p:sp>
      <p:sp>
        <p:nvSpPr>
          <p:cNvPr id="7" name="Rounded Rectangle 6"/>
          <p:cNvSpPr/>
          <p:nvPr/>
        </p:nvSpPr>
        <p:spPr>
          <a:xfrm>
            <a:off x="640080" y="182880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2880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1</a:t>
            </a:r>
          </a:p>
        </p:txBody>
      </p:sp>
      <p:sp>
        <p:nvSpPr>
          <p:cNvPr id="9" name="TextBox 8"/>
          <p:cNvSpPr txBox="1"/>
          <p:nvPr/>
        </p:nvSpPr>
        <p:spPr>
          <a:xfrm>
            <a:off x="1280160" y="178308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0: Oxa registers one site's log set (say two weeks of Port of Tyne or an early Dubai collection) into Index from their own S3/GCS bucket. Data does not move. Success: catalogue live, embeddings and quality metrics computed on all frames.</a:t>
            </a:r>
          </a:p>
        </p:txBody>
      </p:sp>
      <p:sp>
        <p:nvSpPr>
          <p:cNvPr id="10" name="Rounded Rectangle 9"/>
          <p:cNvSpPr/>
          <p:nvPr/>
        </p:nvSpPr>
        <p:spPr>
          <a:xfrm>
            <a:off x="640080" y="265176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5176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2</a:t>
            </a:r>
          </a:p>
        </p:txBody>
      </p:sp>
      <p:sp>
        <p:nvSpPr>
          <p:cNvPr id="12" name="TextBox 11"/>
          <p:cNvSpPr txBox="1"/>
          <p:nvPr/>
        </p:nvSpPr>
        <p:spPr>
          <a:xfrm>
            <a:off x="1280160" y="260604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1: build Collections by uniqueness and condition, de-duplicate the repetitive route passes and produce a curated candidate set. Success metric: &gt;50% reduction in frames proposed for labelling while retaining coverage of every scenario tag Oxa cares about.</a:t>
            </a:r>
          </a:p>
        </p:txBody>
      </p:sp>
      <p:sp>
        <p:nvSpPr>
          <p:cNvPr id="13" name="Rounded Rectangle 12"/>
          <p:cNvSpPr/>
          <p:nvPr/>
        </p:nvSpPr>
        <p:spPr>
          <a:xfrm>
            <a:off x="640080" y="347472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47472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3</a:t>
            </a:r>
          </a:p>
        </p:txBody>
      </p:sp>
      <p:sp>
        <p:nvSpPr>
          <p:cNvPr id="15" name="TextBox 14"/>
          <p:cNvSpPr txBox="1"/>
          <p:nvPr/>
        </p:nvSpPr>
        <p:spPr>
          <a:xfrm>
            <a:off x="1280160" y="342900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1-2: label the curated set in Annotate with a synced 2D video plus 3D point cloud ontology, using object tracking and interpolation. Success metric: labelled minutes per annotator hour versus their current baseline, agreed up front.</a:t>
            </a:r>
          </a:p>
        </p:txBody>
      </p:sp>
      <p:sp>
        <p:nvSpPr>
          <p:cNvPr id="16" name="Rounded Rectangle 15"/>
          <p:cNvSpPr/>
          <p:nvPr/>
        </p:nvSpPr>
        <p:spPr>
          <a:xfrm>
            <a:off x="640080" y="429768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29768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4</a:t>
            </a:r>
          </a:p>
        </p:txBody>
      </p:sp>
      <p:sp>
        <p:nvSpPr>
          <p:cNvPr id="18" name="TextBox 17"/>
          <p:cNvSpPr txBox="1"/>
          <p:nvPr/>
        </p:nvSpPr>
        <p:spPr>
          <a:xfrm>
            <a:off x="1280160" y="425196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import an existing Oxa perception model's predictions into Active, run mAP/F1, confusion matrix and slices by class, distance and scene condition, and use metric-to-failure correlation to rank what to label next. Success metric: a ranked, defensible next-batch list rather than a volume quota.</a:t>
            </a:r>
          </a:p>
        </p:txBody>
      </p:sp>
      <p:sp>
        <p:nvSpPr>
          <p:cNvPr id="19" name="Rounded Rectangle 18"/>
          <p:cNvSpPr/>
          <p:nvPr/>
        </p:nvSpPr>
        <p:spPr>
          <a:xfrm>
            <a:off x="640080" y="512064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12064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5</a:t>
            </a:r>
          </a:p>
        </p:txBody>
      </p:sp>
      <p:sp>
        <p:nvSpPr>
          <p:cNvPr id="21" name="TextBox 20"/>
          <p:cNvSpPr txBox="1"/>
          <p:nvPr/>
        </p:nvSpPr>
        <p:spPr>
          <a:xfrm>
            <a:off x="1280160" y="507492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close-out: side-by-side comparison of a model trained on the curated pick versus a random pick of equal size, plus a label-error report from Active label validation. Decision gate: cost per labelled scenario and mAP delta on Oxa's own held-out 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LET'S TEST IT</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we'd like to learn from you</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7</a:t>
            </a:r>
          </a:p>
        </p:txBody>
      </p:sp>
      <p:sp>
        <p:nvSpPr>
          <p:cNvPr id="7" name="TextBox 6"/>
          <p:cNvSpPr txBox="1"/>
          <p:nvPr/>
        </p:nvSpPr>
        <p:spPr>
          <a:xfrm>
            <a:off x="640080" y="1737360"/>
            <a:ext cx="6583680" cy="4114800"/>
          </a:xfrm>
          <a:prstGeom prst="rect">
            <a:avLst/>
          </a:prstGeom>
          <a:noFill/>
        </p:spPr>
        <p:txBody>
          <a:bodyPr wrap="square" anchor="t" lIns="0" rIns="0" tIns="0" bIns="0">
            <a:spAutoFit/>
          </a:bodyPr>
          <a:lstStyle/>
          <a:p>
            <a:pPr algn="l">
              <a:spcAft>
                <a:spcPts val="1000"/>
              </a:spcAft>
            </a:pPr>
            <a:r>
              <a:rPr sz="1400" b="0">
                <a:solidFill>
                  <a:srgbClr val="171A33"/>
                </a:solidFill>
                <a:latin typeface="Calibri"/>
              </a:rPr>
              <a:t>•  Your Oct 2025 post on multimodal search suggests Foundry already does clip retrieval. Where does Foundry stop today, and where do you hand off to a labelling vendor or tool?</a:t>
            </a:r>
          </a:p>
          <a:p>
            <a:pPr algn="l">
              <a:spcAft>
                <a:spcPts val="1000"/>
              </a:spcAft>
            </a:pPr>
            <a:r>
              <a:rPr sz="1400" b="0">
                <a:solidFill>
                  <a:srgbClr val="171A33"/>
                </a:solidFill>
                <a:latin typeface="Calibri"/>
              </a:rPr>
              <a:t>•  For the Dubai SHIFFT sites, are you planning to relabel from scratch or transfer from the UK datasets, and how will you decide what is genuinely new?</a:t>
            </a:r>
          </a:p>
          <a:p>
            <a:pPr algn="l">
              <a:spcAft>
                <a:spcPts val="1000"/>
              </a:spcAft>
            </a:pPr>
            <a:r>
              <a:rPr sz="1400" b="0">
                <a:solidFill>
                  <a:srgbClr val="171A33"/>
                </a:solidFill>
                <a:latin typeface="Calibri"/>
              </a:rPr>
              <a:t>•  How do you currently label camera and LIDAR together, and how much of the annotator time goes on keeping 2D and 3D consistent across frames?</a:t>
            </a:r>
          </a:p>
          <a:p>
            <a:pPr algn="l">
              <a:spcAft>
                <a:spcPts val="1000"/>
              </a:spcAft>
            </a:pPr>
            <a:r>
              <a:rPr sz="1400" b="0">
                <a:solidFill>
                  <a:srgbClr val="171A33"/>
                </a:solidFill>
                <a:latin typeface="Calibri"/>
              </a:rPr>
              <a:t>•  When a perception regression shows up in shadow running or the safety case, how do you trace it back to a data gap or a label error, and how long does that take?</a:t>
            </a:r>
          </a:p>
          <a:p>
            <a:pPr algn="l">
              <a:spcAft>
                <a:spcPts val="1000"/>
              </a:spcAft>
            </a:pPr>
            <a:r>
              <a:rPr sz="1400" b="0">
                <a:solidFill>
                  <a:srgbClr val="171A33"/>
                </a:solidFill>
                <a:latin typeface="Calibri"/>
              </a:rPr>
              <a:t>•  Who owns the decision on how many frames get labelled per site per month, and what is the current cost per labelled clip or per sensor-hour?</a:t>
            </a:r>
          </a:p>
        </p:txBody>
      </p:sp>
      <p:sp>
        <p:nvSpPr>
          <p:cNvPr id="8" name="Rectangle 7"/>
          <p:cNvSpPr/>
          <p:nvPr/>
        </p:nvSpPr>
        <p:spPr>
          <a:xfrm>
            <a:off x="7680960" y="1737360"/>
            <a:ext cx="3840480" cy="2377440"/>
          </a:xfrm>
          <a:prstGeom prst="rect">
            <a:avLst/>
          </a:prstGeom>
          <a:solidFill>
            <a:srgbClr val="12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1965960"/>
            <a:ext cx="3383280" cy="274320"/>
          </a:xfrm>
          <a:prstGeom prst="rect">
            <a:avLst/>
          </a:prstGeom>
          <a:noFill/>
        </p:spPr>
        <p:txBody>
          <a:bodyPr wrap="square" anchor="t" lIns="0" rIns="0" tIns="0" bIns="0">
            <a:spAutoFit/>
          </a:bodyPr>
          <a:lstStyle/>
          <a:p>
            <a:pPr algn="l">
              <a:spcAft>
                <a:spcPts val="400"/>
              </a:spcAft>
            </a:pPr>
            <a:r>
              <a:rPr sz="1000" b="1">
                <a:solidFill>
                  <a:srgbClr val="B9BCDC"/>
                </a:solidFill>
                <a:latin typeface="Calibri"/>
              </a:rPr>
              <a:t>CONTACT</a:t>
            </a:r>
          </a:p>
        </p:txBody>
      </p:sp>
      <p:sp>
        <p:nvSpPr>
          <p:cNvPr id="10" name="TextBox 9"/>
          <p:cNvSpPr txBox="1"/>
          <p:nvPr/>
        </p:nvSpPr>
        <p:spPr>
          <a:xfrm>
            <a:off x="7955279" y="2286000"/>
            <a:ext cx="3383280" cy="1645920"/>
          </a:xfrm>
          <a:prstGeom prst="rect">
            <a:avLst/>
          </a:prstGeom>
          <a:noFill/>
        </p:spPr>
        <p:txBody>
          <a:bodyPr wrap="square" anchor="t" lIns="0" rIns="0" tIns="0" bIns="0">
            <a:spAutoFit/>
          </a:bodyPr>
          <a:lstStyle/>
          <a:p>
            <a:pPr algn="l">
              <a:spcAft>
                <a:spcPts val="600"/>
              </a:spcAft>
            </a:pPr>
            <a:r>
              <a:rPr sz="1300" b="0">
                <a:solidFill>
                  <a:srgbClr val="FFFFFF"/>
                </a:solidFill>
                <a:latin typeface="Calibri"/>
              </a:rPr>
              <a:t>Qais Al-Azkawi</a:t>
            </a:r>
          </a:p>
          <a:p>
            <a:pPr algn="l">
              <a:spcAft>
                <a:spcPts val="600"/>
              </a:spcAft>
            </a:pPr>
            <a:r>
              <a:rPr sz="1300" b="0">
                <a:solidFill>
                  <a:srgbClr val="FFFFFF"/>
                </a:solidFill>
                <a:latin typeface="Calibri"/>
              </a:rPr>
              <a:t>Commercial Associate, Encord</a:t>
            </a:r>
          </a:p>
          <a:p>
            <a:pPr algn="l">
              <a:spcAft>
                <a:spcPts val="600"/>
              </a:spcAft>
            </a:pPr>
            <a:r>
              <a:rPr sz="1300" b="0">
                <a:solidFill>
                  <a:srgbClr val="FFFFFF"/>
                </a:solidFill>
                <a:latin typeface="Calibri"/>
              </a:rPr>
              <a:t>qaisqas@gmail.com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