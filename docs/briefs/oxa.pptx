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questions to test this:</a:t>
            </a:r>
          </a:p>
          <a:p>
            <a:r>
              <a:t>- Your October 2025 post on multimodal search: what did you build in Foundry, and where does it stop - is it search and triage only, or does it reach into labelling and model evaluation?</a:t>
            </a:r>
          </a:p>
          <a:p>
            <a:r>
              <a:t>- When you stand up a new site like the Dubai JV or Port of Tyne, how much of the labelled corpus from Heathrow actually transfers, and how do you decide what to re-label?</a:t>
            </a:r>
          </a:p>
          <a:p>
            <a:r>
              <a:t>- How are 3D cuboids on the point cloud and the 2D camera labels kept consistent today, and who catches it when they disagree?</a:t>
            </a:r>
          </a:p>
          <a:p>
            <a:r>
              <a:t>- What is the current path from a disengagement or shadow-mode failure to a labelled training example, and how many days does that round trip take?</a:t>
            </a:r>
          </a:p>
          <a:p>
            <a:r>
              <a:t>- Is labelling done in-house, by a vendor, or both, and what is the current cost and throughput per hour of sensor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Confidence: medium</a:t>
            </a:r>
          </a:p>
          <a:p>
            <a:r>
              <a:t>Risks:</a:t>
            </a:r>
          </a:p>
          <a:p>
            <a:r>
              <a:t>- Oxa Foundry is their own toolchain and they have publicly written about multimodal search, so Index may be seen as duplicating something they already built and are proud of. Position around Annotate and Active first.</a:t>
            </a:r>
          </a:p>
          <a:p>
            <a:r>
              <a:t>- No ML or CV job ads found and no named contact, so we have no direct evidence of a tooling gap or an active buying trigger. Pain is inferred from their deployments, not stated.</a:t>
            </a:r>
          </a:p>
          <a:p>
            <a:r>
              <a:t>- Fresh $103m Series D first close means budget exists but also means they may prefer to hire and build rather than buy.</a:t>
            </a:r>
          </a:p>
          <a:p>
            <a:r>
              <a:t>- Safety-case and customer data agreements (DHL, bp, airport airside) could make even bucket-registered third-party access slow; expect security review despite SOC2 Type II and GDPR.</a:t>
            </a:r>
          </a:p>
          <a:p>
            <a:r>
              <a:t>- NVIDIA partnership expansion may pull them toward NVIDIA's own data tooling for the AV stack.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206240" cy="6858000"/>
          </a:xfrm>
          <a:prstGeom prst="rect">
            <a:avLst/>
          </a:prstGeom>
          <a:solidFill>
            <a:srgbClr val="12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206240" y="0"/>
            <a:ext cx="109728"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3200400" cy="365760"/>
          </a:xfrm>
          <a:prstGeom prst="rect">
            <a:avLst/>
          </a:prstGeom>
          <a:noFill/>
        </p:spPr>
        <p:txBody>
          <a:bodyPr wrap="square" anchor="t" lIns="0" rIns="0" tIns="0" bIns="0">
            <a:spAutoFit/>
          </a:bodyPr>
          <a:lstStyle/>
          <a:p>
            <a:pPr algn="l">
              <a:spcAft>
                <a:spcPts val="400"/>
              </a:spcAft>
            </a:pPr>
            <a:r>
              <a:rPr sz="1200" b="1">
                <a:solidFill>
                  <a:srgbClr val="FFFFFF"/>
                </a:solidFill>
                <a:latin typeface="Calibri"/>
              </a:rPr>
              <a:t>ENCORD</a:t>
            </a:r>
          </a:p>
        </p:txBody>
      </p:sp>
      <p:sp>
        <p:nvSpPr>
          <p:cNvPr id="5" name="TextBox 4"/>
          <p:cNvSpPr txBox="1"/>
          <p:nvPr/>
        </p:nvSpPr>
        <p:spPr>
          <a:xfrm>
            <a:off x="548640" y="5577840"/>
            <a:ext cx="3200400" cy="914400"/>
          </a:xfrm>
          <a:prstGeom prst="rect">
            <a:avLst/>
          </a:prstGeom>
          <a:noFill/>
        </p:spPr>
        <p:txBody>
          <a:bodyPr wrap="square" anchor="t" lIns="0" rIns="0" tIns="0" bIns="0">
            <a:spAutoFit/>
          </a:bodyPr>
          <a:lstStyle/>
          <a:p>
            <a:pPr algn="l">
              <a:spcAft>
                <a:spcPts val="400"/>
              </a:spcAft>
            </a:pPr>
            <a:r>
              <a:rPr sz="1000" b="0">
                <a:solidFill>
                  <a:srgbClr val="B9BCDC"/>
                </a:solidFill>
                <a:latin typeface="Calibri"/>
              </a:rPr>
              <a:t>Prepared 2026-10-06</a:t>
            </a:r>
          </a:p>
          <a:p>
            <a:pPr algn="l">
              <a:spcAft>
                <a:spcPts val="400"/>
              </a:spcAft>
            </a:pPr>
            <a:r>
              <a:rPr sz="1000" b="0">
                <a:solidFill>
                  <a:srgbClr val="B9BCDC"/>
                </a:solidFill>
                <a:latin typeface="Calibri"/>
              </a:rPr>
              <a:t>Qais Al-Azkawi</a:t>
            </a:r>
          </a:p>
          <a:p>
            <a:pPr algn="l">
              <a:spcAft>
                <a:spcPts val="400"/>
              </a:spcAft>
            </a:pPr>
            <a:r>
              <a:rPr sz="1000" b="0">
                <a:solidFill>
                  <a:srgbClr val="B9BCDC"/>
                </a:solidFill>
                <a:latin typeface="Calibri"/>
              </a:rPr>
              <a:t>DRAFT for review</a:t>
            </a:r>
          </a:p>
        </p:txBody>
      </p:sp>
      <p:sp>
        <p:nvSpPr>
          <p:cNvPr id="6" name="TextBox 5"/>
          <p:cNvSpPr txBox="1"/>
          <p:nvPr/>
        </p:nvSpPr>
        <p:spPr>
          <a:xfrm>
            <a:off x="4846320" y="1828800"/>
            <a:ext cx="6766560" cy="1280160"/>
          </a:xfrm>
          <a:prstGeom prst="rect">
            <a:avLst/>
          </a:prstGeom>
          <a:noFill/>
        </p:spPr>
        <p:txBody>
          <a:bodyPr wrap="square" anchor="t" lIns="0" rIns="0" tIns="0" bIns="0">
            <a:spAutoFit/>
          </a:bodyPr>
          <a:lstStyle/>
          <a:p>
            <a:pPr algn="l">
              <a:spcAft>
                <a:spcPts val="400"/>
              </a:spcAft>
            </a:pPr>
            <a:r>
              <a:rPr sz="4000" b="1">
                <a:solidFill>
                  <a:srgbClr val="171A33"/>
                </a:solidFill>
                <a:latin typeface="Calibri"/>
              </a:rPr>
              <a:t>Encord x Oxa</a:t>
            </a:r>
          </a:p>
        </p:txBody>
      </p:sp>
      <p:sp>
        <p:nvSpPr>
          <p:cNvPr id="7" name="TextBox 6"/>
          <p:cNvSpPr txBox="1"/>
          <p:nvPr/>
        </p:nvSpPr>
        <p:spPr>
          <a:xfrm>
            <a:off x="4846320" y="3108960"/>
            <a:ext cx="6766560" cy="2011680"/>
          </a:xfrm>
          <a:prstGeom prst="rect">
            <a:avLst/>
          </a:prstGeom>
          <a:noFill/>
        </p:spPr>
        <p:txBody>
          <a:bodyPr wrap="square" anchor="t" lIns="0" rIns="0" tIns="0" bIns="0">
            <a:spAutoFit/>
          </a:bodyPr>
          <a:lstStyle/>
          <a:p>
            <a:pPr algn="l">
              <a:spcAft>
                <a:spcPts val="400"/>
              </a:spcAft>
            </a:pPr>
            <a:r>
              <a:rPr sz="1800" b="0">
                <a:solidFill>
                  <a:srgbClr val="5D6180"/>
                </a:solidFill>
                <a:latin typeface="Calibri"/>
              </a:rPr>
              <a:t>Oxa already knows curation is the bottleneck (they blogged about multimodal search); the open gap is turning found scenarios into synced 3D plus 2D labels fast enough to keep pace with new port, airport and Dubai deployments.</a:t>
            </a:r>
          </a:p>
        </p:txBody>
      </p:sp>
      <p:sp>
        <p:nvSpPr>
          <p:cNvPr id="8" name="TextBox 7"/>
          <p:cNvSpPr txBox="1"/>
          <p:nvPr/>
        </p:nvSpPr>
        <p:spPr>
          <a:xfrm>
            <a:off x="4846320" y="5760720"/>
            <a:ext cx="6766560" cy="457200"/>
          </a:xfrm>
          <a:prstGeom prst="rect">
            <a:avLst/>
          </a:prstGeom>
          <a:noFill/>
        </p:spPr>
        <p:txBody>
          <a:bodyPr wrap="square" anchor="t" lIns="0" rIns="0" tIns="0" bIns="0">
            <a:spAutoFit/>
          </a:bodyPr>
          <a:lstStyle/>
          <a:p>
            <a:pPr algn="l">
              <a:spcAft>
                <a:spcPts val="400"/>
              </a:spcAft>
            </a:pPr>
            <a:r>
              <a:rPr sz="1000" b="0">
                <a:solidFill>
                  <a:srgbClr val="5D6180"/>
                </a:solidFill>
                <a:latin typeface="Calibri"/>
              </a:rPr>
              <a:t>A first-meeting point of view. Everything here is our reading of public information; the questions are where we want to be corrected.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WHAT WE UNDERSTAND</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What Oxa builds, and how we think the data flows</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2</a:t>
            </a:r>
          </a:p>
        </p:txBody>
      </p:sp>
      <p:sp>
        <p:nvSpPr>
          <p:cNvPr id="7" name="TextBox 6"/>
          <p:cNvSpPr txBox="1"/>
          <p:nvPr/>
        </p:nvSpPr>
        <p:spPr>
          <a:xfrm>
            <a:off x="640080" y="1737360"/>
            <a:ext cx="5120640" cy="4114800"/>
          </a:xfrm>
          <a:prstGeom prst="rect">
            <a:avLst/>
          </a:prstGeom>
          <a:noFill/>
        </p:spPr>
        <p:txBody>
          <a:bodyPr wrap="square" anchor="t" lIns="0" rIns="0" tIns="0" bIns="0">
            <a:spAutoFit/>
          </a:bodyPr>
          <a:lstStyle/>
          <a:p>
            <a:pPr algn="l">
              <a:spcAft>
                <a:spcPts val="800"/>
              </a:spcAft>
            </a:pPr>
            <a:r>
              <a:rPr sz="1400" b="0">
                <a:solidFill>
                  <a:srgbClr val="171A33"/>
                </a:solidFill>
                <a:latin typeface="Calibri"/>
              </a:rPr>
              <a:t>Oxa sells a "universal AI driver" for industrial vehicles: self-driving software, modular up-fit hardware and fleet management for terminal tractors, tugs and yard vehicles in ports, airports and factories. Buyers are logistics and infrastructure operators such as DHL (Heathrow), bp and Port of Tyne, plus the new Dubai Future Foundation joint venture. Revenue is per-site deployment and per-fleet software, so each new site is a new data domain.</a:t>
            </a:r>
          </a:p>
        </p:txBody>
      </p:sp>
      <p:sp>
        <p:nvSpPr>
          <p:cNvPr id="8" name="TextBox 7"/>
          <p:cNvSpPr txBox="1"/>
          <p:nvPr/>
        </p:nvSpPr>
        <p:spPr>
          <a:xfrm>
            <a:off x="6217920" y="1737360"/>
            <a:ext cx="530352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INFERRED PIPELINE (guesses marked)</a:t>
            </a:r>
          </a:p>
        </p:txBody>
      </p:sp>
      <p:sp>
        <p:nvSpPr>
          <p:cNvPr id="9" name="Oval 8"/>
          <p:cNvSpPr/>
          <p:nvPr/>
        </p:nvSpPr>
        <p:spPr>
          <a:xfrm>
            <a:off x="6217920" y="2103120"/>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2103120"/>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1" name="TextBox 10"/>
          <p:cNvSpPr txBox="1"/>
          <p:nvPr/>
        </p:nvSpPr>
        <p:spPr>
          <a:xfrm>
            <a:off x="6766560" y="2084831"/>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Multi-camera plus LIDAR (and likely radar, GNSS, CAN) recorded from safety-driver and autonomous runs on repetitive site routes; logged to object storage, probably AWS or Azure (guess).</a:t>
            </a:r>
          </a:p>
        </p:txBody>
      </p:sp>
      <p:sp>
        <p:nvSpPr>
          <p:cNvPr id="12" name="Oval 11"/>
          <p:cNvSpPr/>
          <p:nvPr/>
        </p:nvSpPr>
        <p:spPr>
          <a:xfrm>
            <a:off x="6217920" y="2761487"/>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2761487"/>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766560" y="2743199"/>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Ingest and triage inside Oxa Foundry: disengagement and trigger-based clip extraction, plus the multimodal search capability described in their October 2025 blog (confirmed they have some form of search, scope unknown).</a:t>
            </a:r>
          </a:p>
        </p:txBody>
      </p:sp>
      <p:sp>
        <p:nvSpPr>
          <p:cNvPr id="15" name="Oval 14"/>
          <p:cNvSpPr/>
          <p:nvPr/>
        </p:nvSpPr>
        <p:spPr>
          <a:xfrm>
            <a:off x="6217920" y="3419855"/>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3419855"/>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7" name="TextBox 16"/>
          <p:cNvSpPr txBox="1"/>
          <p:nvPr/>
        </p:nvSpPr>
        <p:spPr>
          <a:xfrm>
            <a:off x="6766560" y="3401567"/>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Clip selection for labelling, probably a mix of engineer intuition and rule-based triggers; sent to an outsourced labelling vendor or in-house team (guess).</a:t>
            </a:r>
          </a:p>
        </p:txBody>
      </p:sp>
      <p:sp>
        <p:nvSpPr>
          <p:cNvPr id="18" name="Oval 17"/>
          <p:cNvSpPr/>
          <p:nvPr/>
        </p:nvSpPr>
        <p:spPr>
          <a:xfrm>
            <a:off x="6217920" y="4078223"/>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4078223"/>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0" name="TextBox 19"/>
          <p:cNvSpPr txBox="1"/>
          <p:nvPr/>
        </p:nvSpPr>
        <p:spPr>
          <a:xfrm>
            <a:off x="6766560" y="4059935"/>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Annotation of 3D cuboids on point clouds and 2D boxes/masks on synced camera frames, with calibration-driven projection between them (guess on how sync is enforced).</a:t>
            </a:r>
          </a:p>
        </p:txBody>
      </p:sp>
      <p:sp>
        <p:nvSpPr>
          <p:cNvPr id="21" name="Oval 20"/>
          <p:cNvSpPr/>
          <p:nvPr/>
        </p:nvSpPr>
        <p:spPr>
          <a:xfrm>
            <a:off x="6217920" y="4736591"/>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0" y="4736591"/>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3" name="TextBox 22"/>
          <p:cNvSpPr txBox="1"/>
          <p:nvPr/>
        </p:nvSpPr>
        <p:spPr>
          <a:xfrm>
            <a:off x="6766560" y="4718303"/>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Perception model training and evaluation, likely on NVIDIA stack given the September 2025 NVIDIA expansion; validation against safety cases for each site.</a:t>
            </a:r>
          </a:p>
        </p:txBody>
      </p:sp>
      <p:sp>
        <p:nvSpPr>
          <p:cNvPr id="24" name="Oval 23"/>
          <p:cNvSpPr/>
          <p:nvPr/>
        </p:nvSpPr>
        <p:spPr>
          <a:xfrm>
            <a:off x="6217920" y="5394959"/>
            <a:ext cx="384048" cy="384048"/>
          </a:xfrm>
          <a:prstGeom prst="ellipse">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0" y="5394959"/>
            <a:ext cx="384048"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26" name="TextBox 25"/>
          <p:cNvSpPr txBox="1"/>
          <p:nvPr/>
        </p:nvSpPr>
        <p:spPr>
          <a:xfrm>
            <a:off x="6766560" y="5376671"/>
            <a:ext cx="4754880" cy="640080"/>
          </a:xfrm>
          <a:prstGeom prst="rect">
            <a:avLst/>
          </a:prstGeom>
          <a:noFill/>
        </p:spPr>
        <p:txBody>
          <a:bodyPr wrap="square" anchor="t" lIns="0" rIns="0" tIns="0" bIns="0">
            <a:spAutoFit/>
          </a:bodyPr>
          <a:lstStyle/>
          <a:p>
            <a:pPr algn="l">
              <a:spcAft>
                <a:spcPts val="400"/>
              </a:spcAft>
            </a:pPr>
            <a:r>
              <a:rPr sz="1050" b="0">
                <a:solidFill>
                  <a:srgbClr val="171A33"/>
                </a:solidFill>
                <a:latin typeface="Calibri"/>
              </a:rPr>
              <a:t>Shadow-mode or on-vehicle replay, failures fed back as new triggers; loop closure time unknown.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WHERE WE THINK IT HURTS</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Three hypotheses, ranked by how sure we are</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3</a:t>
            </a:r>
          </a:p>
        </p:txBody>
      </p:sp>
      <p:sp>
        <p:nvSpPr>
          <p:cNvPr id="7" name="Rectangle 6"/>
          <p:cNvSpPr/>
          <p:nvPr/>
        </p:nvSpPr>
        <p:spPr>
          <a:xfrm>
            <a:off x="640080" y="1691640"/>
            <a:ext cx="3520440" cy="4617720"/>
          </a:xfrm>
          <a:prstGeom prst="rect">
            <a:avLst/>
          </a:prstGeom>
          <a:solidFill>
            <a:srgbClr val="EE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737360"/>
            <a:ext cx="3520440"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965960"/>
            <a:ext cx="306324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HYPOTHESIS 1</a:t>
            </a:r>
          </a:p>
        </p:txBody>
      </p:sp>
      <p:sp>
        <p:nvSpPr>
          <p:cNvPr id="10" name="TextBox 9"/>
          <p:cNvSpPr txBox="1"/>
          <p:nvPr/>
        </p:nvSpPr>
        <p:spPr>
          <a:xfrm>
            <a:off x="868680" y="2240280"/>
            <a:ext cx="3063240" cy="1280160"/>
          </a:xfrm>
          <a:prstGeom prst="rect">
            <a:avLst/>
          </a:prstGeom>
          <a:noFill/>
        </p:spPr>
        <p:txBody>
          <a:bodyPr wrap="square" anchor="t" lIns="0" rIns="0" tIns="0" bIns="0">
            <a:spAutoFit/>
          </a:bodyPr>
          <a:lstStyle/>
          <a:p>
            <a:pPr algn="l">
              <a:spcAft>
                <a:spcPts val="400"/>
              </a:spcAft>
            </a:pPr>
            <a:r>
              <a:rPr sz="1200" b="1">
                <a:solidFill>
                  <a:srgbClr val="171A33"/>
                </a:solidFill>
                <a:latin typeface="Calibri"/>
              </a:rPr>
              <a:t>Each new site (Heathrow, Port of Tyne, Dubai) is a fresh domain with different vehicles, markings and weather, forcing a new labelling push instead of reusing an existing corpus.</a:t>
            </a:r>
          </a:p>
        </p:txBody>
      </p:sp>
      <p:sp>
        <p:nvSpPr>
          <p:cNvPr id="11" name="TextBox 10"/>
          <p:cNvSpPr txBox="1"/>
          <p:nvPr/>
        </p:nvSpPr>
        <p:spPr>
          <a:xfrm>
            <a:off x="868680" y="3520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WHY WE THINK SO</a:t>
            </a:r>
          </a:p>
        </p:txBody>
      </p:sp>
      <p:sp>
        <p:nvSpPr>
          <p:cNvPr id="12" name="TextBox 11"/>
          <p:cNvSpPr txBox="1"/>
          <p:nvPr/>
        </p:nvSpPr>
        <p:spPr>
          <a:xfrm>
            <a:off x="868680" y="3749039"/>
            <a:ext cx="3063240" cy="914400"/>
          </a:xfrm>
          <a:prstGeom prst="rect">
            <a:avLst/>
          </a:prstGeom>
          <a:noFill/>
        </p:spPr>
        <p:txBody>
          <a:bodyPr wrap="square" anchor="t" lIns="0" rIns="0" tIns="0" bIns="0">
            <a:spAutoFit/>
          </a:bodyPr>
          <a:lstStyle/>
          <a:p>
            <a:pPr algn="l">
              <a:spcAft>
                <a:spcPts val="400"/>
              </a:spcAft>
            </a:pPr>
            <a:r>
              <a:rPr sz="950" b="0">
                <a:solidFill>
                  <a:srgbClr val="5D6180"/>
                </a:solidFill>
                <a:latin typeface="Calibri"/>
              </a:rPr>
              <a:t>Site-specific wins listed on their news page: DHL Heathrow, Port of Tyne, Dubai JV; messaging is "any industrial vehicle" across ports, airports and yards.</a:t>
            </a:r>
          </a:p>
        </p:txBody>
      </p:sp>
      <p:sp>
        <p:nvSpPr>
          <p:cNvPr id="13" name="TextBox 12"/>
          <p:cNvSpPr txBox="1"/>
          <p:nvPr/>
        </p:nvSpPr>
        <p:spPr>
          <a:xfrm>
            <a:off x="868680" y="4663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WHAT ENCORD DOES ABOUT IT</a:t>
            </a:r>
          </a:p>
        </p:txBody>
      </p:sp>
      <p:sp>
        <p:nvSpPr>
          <p:cNvPr id="14" name="TextBox 13"/>
          <p:cNvSpPr txBox="1"/>
          <p:nvPr/>
        </p:nvSpPr>
        <p:spPr>
          <a:xfrm>
            <a:off x="868680" y="4892040"/>
            <a:ext cx="3063240" cy="1371600"/>
          </a:xfrm>
          <a:prstGeom prst="rect">
            <a:avLst/>
          </a:prstGeom>
          <a:noFill/>
        </p:spPr>
        <p:txBody>
          <a:bodyPr wrap="square" anchor="t" lIns="0" rIns="0" tIns="0" bIns="0">
            <a:spAutoFit/>
          </a:bodyPr>
          <a:lstStyle/>
          <a:p>
            <a:pPr algn="l">
              <a:spcAft>
                <a:spcPts val="400"/>
              </a:spcAft>
            </a:pPr>
            <a:r>
              <a:rPr sz="950" b="0">
                <a:solidFill>
                  <a:srgbClr val="171A33"/>
                </a:solidFill>
                <a:latin typeface="Calibri"/>
              </a:rPr>
              <a:t>Index registers the new site's data in Oxa's own bucket, embeds it, and similarity search against existing clips shows what is genuinely novel versus already covered. Collections feed straight into Annotate workflows, so only the new slice gets labelled.</a:t>
            </a:r>
          </a:p>
        </p:txBody>
      </p:sp>
      <p:sp>
        <p:nvSpPr>
          <p:cNvPr id="15" name="Rectangle 14"/>
          <p:cNvSpPr/>
          <p:nvPr/>
        </p:nvSpPr>
        <p:spPr>
          <a:xfrm>
            <a:off x="4389120" y="1691640"/>
            <a:ext cx="3520440" cy="4617720"/>
          </a:xfrm>
          <a:prstGeom prst="rect">
            <a:avLst/>
          </a:prstGeom>
          <a:solidFill>
            <a:srgbClr val="EE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89120" y="1737360"/>
            <a:ext cx="3520440"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1965960"/>
            <a:ext cx="306324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HYPOTHESIS 2</a:t>
            </a:r>
          </a:p>
        </p:txBody>
      </p:sp>
      <p:sp>
        <p:nvSpPr>
          <p:cNvPr id="18" name="TextBox 17"/>
          <p:cNvSpPr txBox="1"/>
          <p:nvPr/>
        </p:nvSpPr>
        <p:spPr>
          <a:xfrm>
            <a:off x="4617720" y="2240280"/>
            <a:ext cx="3063240" cy="1280160"/>
          </a:xfrm>
          <a:prstGeom prst="rect">
            <a:avLst/>
          </a:prstGeom>
          <a:noFill/>
        </p:spPr>
        <p:txBody>
          <a:bodyPr wrap="square" anchor="t" lIns="0" rIns="0" tIns="0" bIns="0">
            <a:spAutoFit/>
          </a:bodyPr>
          <a:lstStyle/>
          <a:p>
            <a:pPr algn="l">
              <a:spcAft>
                <a:spcPts val="400"/>
              </a:spcAft>
            </a:pPr>
            <a:r>
              <a:rPr sz="1200" b="1">
                <a:solidFill>
                  <a:srgbClr val="171A33"/>
                </a:solidFill>
                <a:latin typeface="Calibri"/>
              </a:rPr>
              <a:t>Synced 3D point cloud plus multi-camera labelling is slow and expensive, and inconsistency between the cuboid and the 2D box shows up as perception errors late.</a:t>
            </a:r>
          </a:p>
        </p:txBody>
      </p:sp>
      <p:sp>
        <p:nvSpPr>
          <p:cNvPr id="19" name="TextBox 18"/>
          <p:cNvSpPr txBox="1"/>
          <p:nvPr/>
        </p:nvSpPr>
        <p:spPr>
          <a:xfrm>
            <a:off x="4617720" y="3520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WHY WE THINK SO</a:t>
            </a:r>
          </a:p>
        </p:txBody>
      </p:sp>
      <p:sp>
        <p:nvSpPr>
          <p:cNvPr id="20" name="TextBox 19"/>
          <p:cNvSpPr txBox="1"/>
          <p:nvPr/>
        </p:nvSpPr>
        <p:spPr>
          <a:xfrm>
            <a:off x="4617720" y="3749039"/>
            <a:ext cx="3063240" cy="914400"/>
          </a:xfrm>
          <a:prstGeom prst="rect">
            <a:avLst/>
          </a:prstGeom>
          <a:noFill/>
        </p:spPr>
        <p:txBody>
          <a:bodyPr wrap="square" anchor="t" lIns="0" rIns="0" tIns="0" bIns="0">
            <a:spAutoFit/>
          </a:bodyPr>
          <a:lstStyle/>
          <a:p>
            <a:pPr algn="l">
              <a:spcAft>
                <a:spcPts val="400"/>
              </a:spcAft>
            </a:pPr>
            <a:r>
              <a:rPr sz="950" b="0">
                <a:solidFill>
                  <a:srgbClr val="5D6180"/>
                </a:solidFill>
                <a:latin typeface="Calibri"/>
              </a:rPr>
              <a:t>Our read of their sensor stack; no public detail. Their own framing of "safe, explainable" autonomy implies heavy validation evidence per object class.</a:t>
            </a:r>
          </a:p>
        </p:txBody>
      </p:sp>
      <p:sp>
        <p:nvSpPr>
          <p:cNvPr id="21" name="TextBox 20"/>
          <p:cNvSpPr txBox="1"/>
          <p:nvPr/>
        </p:nvSpPr>
        <p:spPr>
          <a:xfrm>
            <a:off x="4617720" y="4663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WHAT ENCORD DOES ABOUT IT</a:t>
            </a:r>
          </a:p>
        </p:txBody>
      </p:sp>
      <p:sp>
        <p:nvSpPr>
          <p:cNvPr id="22" name="TextBox 21"/>
          <p:cNvSpPr txBox="1"/>
          <p:nvPr/>
        </p:nvSpPr>
        <p:spPr>
          <a:xfrm>
            <a:off x="4617720" y="4892040"/>
            <a:ext cx="3063240" cy="1371600"/>
          </a:xfrm>
          <a:prstGeom prst="rect">
            <a:avLst/>
          </a:prstGeom>
          <a:noFill/>
        </p:spPr>
        <p:txBody>
          <a:bodyPr wrap="square" anchor="t" lIns="0" rIns="0" tIns="0" bIns="0">
            <a:spAutoFit/>
          </a:bodyPr>
          <a:lstStyle/>
          <a:p>
            <a:pPr algn="l">
              <a:spcAft>
                <a:spcPts val="400"/>
              </a:spcAft>
            </a:pPr>
            <a:r>
              <a:rPr sz="950" b="0">
                <a:solidFill>
                  <a:srgbClr val="171A33"/>
                </a:solidFill>
                <a:latin typeface="Calibri"/>
              </a:rPr>
              <a:t>Annotate handles 3D point cloud / LIDAR and native video in one ontology, with object tracking and interpolation across frames and sampled review routing. Agents can run Oxa's own detector as a pre-labelling stage so annotators correct rather than draw.</a:t>
            </a:r>
          </a:p>
        </p:txBody>
      </p:sp>
      <p:sp>
        <p:nvSpPr>
          <p:cNvPr id="23" name="Rectangle 22"/>
          <p:cNvSpPr/>
          <p:nvPr/>
        </p:nvSpPr>
        <p:spPr>
          <a:xfrm>
            <a:off x="8138159" y="1691640"/>
            <a:ext cx="3520440" cy="4617720"/>
          </a:xfrm>
          <a:prstGeom prst="rect">
            <a:avLst/>
          </a:prstGeom>
          <a:solidFill>
            <a:srgbClr val="EE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38159" y="1737360"/>
            <a:ext cx="3520440"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59" y="1965960"/>
            <a:ext cx="306324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HYPOTHESIS 3</a:t>
            </a:r>
          </a:p>
        </p:txBody>
      </p:sp>
      <p:sp>
        <p:nvSpPr>
          <p:cNvPr id="26" name="TextBox 25"/>
          <p:cNvSpPr txBox="1"/>
          <p:nvPr/>
        </p:nvSpPr>
        <p:spPr>
          <a:xfrm>
            <a:off x="8366759" y="2240280"/>
            <a:ext cx="3063240" cy="1280160"/>
          </a:xfrm>
          <a:prstGeom prst="rect">
            <a:avLst/>
          </a:prstGeom>
          <a:noFill/>
        </p:spPr>
        <p:txBody>
          <a:bodyPr wrap="square" anchor="t" lIns="0" rIns="0" tIns="0" bIns="0">
            <a:spAutoFit/>
          </a:bodyPr>
          <a:lstStyle/>
          <a:p>
            <a:pPr algn="l">
              <a:spcAft>
                <a:spcPts val="400"/>
              </a:spcAft>
            </a:pPr>
            <a:r>
              <a:rPr sz="1200" b="1">
                <a:solidFill>
                  <a:srgbClr val="171A33"/>
                </a:solidFill>
                <a:latin typeface="Calibri"/>
              </a:rPr>
              <a:t>Hard to prove which data to label next: disengagements and triggers find obvious failures but not the quiet long tail (low sun, fog, hi-vis staff at range) that drives safety case gaps.</a:t>
            </a:r>
          </a:p>
        </p:txBody>
      </p:sp>
      <p:sp>
        <p:nvSpPr>
          <p:cNvPr id="27" name="TextBox 26"/>
          <p:cNvSpPr txBox="1"/>
          <p:nvPr/>
        </p:nvSpPr>
        <p:spPr>
          <a:xfrm>
            <a:off x="8366759" y="3520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WHY WE THINK SO</a:t>
            </a:r>
          </a:p>
        </p:txBody>
      </p:sp>
      <p:sp>
        <p:nvSpPr>
          <p:cNvPr id="28" name="TextBox 27"/>
          <p:cNvSpPr txBox="1"/>
          <p:nvPr/>
        </p:nvSpPr>
        <p:spPr>
          <a:xfrm>
            <a:off x="8366759" y="3749039"/>
            <a:ext cx="3063240" cy="914400"/>
          </a:xfrm>
          <a:prstGeom prst="rect">
            <a:avLst/>
          </a:prstGeom>
          <a:noFill/>
        </p:spPr>
        <p:txBody>
          <a:bodyPr wrap="square" anchor="t" lIns="0" rIns="0" tIns="0" bIns="0">
            <a:spAutoFit/>
          </a:bodyPr>
          <a:lstStyle/>
          <a:p>
            <a:pPr algn="l">
              <a:spcAft>
                <a:spcPts val="400"/>
              </a:spcAft>
            </a:pPr>
            <a:r>
              <a:rPr sz="950" b="0">
                <a:solidFill>
                  <a:srgbClr val="5D6180"/>
                </a:solidFill>
                <a:latin typeface="Calibri"/>
              </a:rPr>
              <a:t>Blog "Accelerating self-driving software development with multimodal search" shows they are investing here; SWIR / adverse-conditions research interest in the signal list.</a:t>
            </a:r>
          </a:p>
        </p:txBody>
      </p:sp>
      <p:sp>
        <p:nvSpPr>
          <p:cNvPr id="29" name="TextBox 28"/>
          <p:cNvSpPr txBox="1"/>
          <p:nvPr/>
        </p:nvSpPr>
        <p:spPr>
          <a:xfrm>
            <a:off x="8366759" y="4663440"/>
            <a:ext cx="3063240" cy="274320"/>
          </a:xfrm>
          <a:prstGeom prst="rect">
            <a:avLst/>
          </a:prstGeom>
          <a:noFill/>
        </p:spPr>
        <p:txBody>
          <a:bodyPr wrap="square" anchor="t" lIns="0" rIns="0" tIns="0" bIns="0">
            <a:spAutoFit/>
          </a:bodyPr>
          <a:lstStyle/>
          <a:p>
            <a:pPr algn="l">
              <a:spcAft>
                <a:spcPts val="400"/>
              </a:spcAft>
            </a:pPr>
            <a:r>
              <a:rPr sz="900" b="1">
                <a:solidFill>
                  <a:srgbClr val="5D6180"/>
                </a:solidFill>
                <a:latin typeface="Calibri"/>
              </a:rPr>
              <a:t>WHAT ENCORD DOES ABOUT IT</a:t>
            </a:r>
          </a:p>
        </p:txBody>
      </p:sp>
      <p:sp>
        <p:nvSpPr>
          <p:cNvPr id="30" name="TextBox 29"/>
          <p:cNvSpPr txBox="1"/>
          <p:nvPr/>
        </p:nvSpPr>
        <p:spPr>
          <a:xfrm>
            <a:off x="8366759" y="4892040"/>
            <a:ext cx="3063240" cy="1371600"/>
          </a:xfrm>
          <a:prstGeom prst="rect">
            <a:avLst/>
          </a:prstGeom>
          <a:noFill/>
        </p:spPr>
        <p:txBody>
          <a:bodyPr wrap="square" anchor="t" lIns="0" rIns="0" tIns="0" bIns="0">
            <a:spAutoFit/>
          </a:bodyPr>
          <a:lstStyle/>
          <a:p>
            <a:pPr algn="l">
              <a:spcAft>
                <a:spcPts val="400"/>
              </a:spcAft>
            </a:pPr>
            <a:r>
              <a:rPr sz="950" b="0">
                <a:solidFill>
                  <a:srgbClr val="171A33"/>
                </a:solidFill>
                <a:latin typeface="Calibri"/>
              </a:rPr>
              <a:t>Active imports Oxa's predictions and correlates data metrics with model failures, so you can slice mAP by class, IoU threshold, brightness or site and get a ranked list of what to label next. It also surfaces label errors before they reach training.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A STARTING ONTOLOGY</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What we would label for Oxa, and how</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4</a:t>
            </a:r>
          </a:p>
        </p:txBody>
      </p:sp>
      <p:sp>
        <p:nvSpPr>
          <p:cNvPr id="7" name="TextBox 6"/>
          <p:cNvSpPr txBox="1"/>
          <p:nvPr/>
        </p:nvSpPr>
        <p:spPr>
          <a:xfrm>
            <a:off x="640080" y="1691640"/>
            <a:ext cx="10972800" cy="365760"/>
          </a:xfrm>
          <a:prstGeom prst="rect">
            <a:avLst/>
          </a:prstGeom>
          <a:noFill/>
        </p:spPr>
        <p:txBody>
          <a:bodyPr wrap="square" anchor="t" lIns="0" rIns="0" tIns="0" bIns="0">
            <a:spAutoFit/>
          </a:bodyPr>
          <a:lstStyle/>
          <a:p>
            <a:pPr algn="l">
              <a:spcAft>
                <a:spcPts val="400"/>
              </a:spcAft>
            </a:pPr>
            <a:r>
              <a:rPr sz="1200" b="0">
                <a:solidFill>
                  <a:srgbClr val="5D6180"/>
                </a:solidFill>
                <a:latin typeface="Calibri"/>
              </a:rPr>
              <a:t>A proposal to argue with. The shapes matter: they decide what the model can learn and what the labellers spend time on.</a:t>
            </a:r>
          </a:p>
        </p:txBody>
      </p:sp>
      <p:graphicFrame>
        <p:nvGraphicFramePr>
          <p:cNvPr id="8" name="Table 7"/>
          <p:cNvGraphicFramePr>
            <a:graphicFrameLocks noGrp="1"/>
          </p:cNvGraphicFramePr>
          <p:nvPr/>
        </p:nvGraphicFramePr>
        <p:xfrm>
          <a:off x="640080" y="2194560"/>
          <a:ext cx="10881360" cy="3291840"/>
        </p:xfrm>
        <a:graphic>
          <a:graphicData uri="http://schemas.openxmlformats.org/drawingml/2006/table">
            <a:tbl>
              <a:tblPr firstRow="1" bandRow="1">
                <a:tableStyleId>{5C22544A-7EE6-4342-B048-85BDC9FD1C3A}</a:tableStyleId>
              </a:tblPr>
              <a:tblGrid>
                <a:gridCol w="2926080"/>
                <a:gridCol w="1828800"/>
                <a:gridCol w="6126480"/>
              </a:tblGrid>
              <a:tr h="365760">
                <a:tc>
                  <a:txBody>
                    <a:bodyPr/>
                    <a:lstStyle/>
                    <a:p>
                      <a:r>
                        <a:rPr sz="1100" b="1">
                          <a:solidFill>
                            <a:srgbClr val="FFFFFF"/>
                          </a:solidFill>
                          <a:latin typeface="Calibri"/>
                        </a:rPr>
                        <a:t>Class</a:t>
                      </a:r>
                    </a:p>
                  </a:txBody>
                  <a:tcPr>
                    <a:solidFill>
                      <a:srgbClr val="4F46E5"/>
                    </a:solidFill>
                  </a:tcPr>
                </a:tc>
                <a:tc>
                  <a:txBody>
                    <a:bodyPr/>
                    <a:lstStyle/>
                    <a:p>
                      <a:r>
                        <a:rPr sz="1100" b="1">
                          <a:solidFill>
                            <a:srgbClr val="FFFFFF"/>
                          </a:solidFill>
                          <a:latin typeface="Calibri"/>
                        </a:rPr>
                        <a:t>Shape</a:t>
                      </a:r>
                    </a:p>
                  </a:txBody>
                  <a:tcPr>
                    <a:solidFill>
                      <a:srgbClr val="4F46E5"/>
                    </a:solidFill>
                  </a:tcPr>
                </a:tc>
                <a:tc>
                  <a:txBody>
                    <a:bodyPr/>
                    <a:lstStyle/>
                    <a:p>
                      <a:r>
                        <a:rPr sz="1100" b="1">
                          <a:solidFill>
                            <a:srgbClr val="FFFFFF"/>
                          </a:solidFill>
                          <a:latin typeface="Calibri"/>
                        </a:rPr>
                        <a:t>Why this shape</a:t>
                      </a:r>
                    </a:p>
                  </a:txBody>
                  <a:tcPr>
                    <a:solidFill>
                      <a:srgbClr val="4F46E5"/>
                    </a:solidFill>
                  </a:tcPr>
                </a:tc>
              </a:tr>
              <a:tr h="365760">
                <a:tc>
                  <a:txBody>
                    <a:bodyPr/>
                    <a:lstStyle/>
                    <a:p>
                      <a:r>
                        <a:rPr sz="1050" b="1">
                          <a:solidFill>
                            <a:srgbClr val="171A33"/>
                          </a:solidFill>
                          <a:latin typeface="Calibri"/>
                        </a:rPr>
                        <a:t>Terminal tractor / reach stacker / forklift</a:t>
                      </a:r>
                    </a:p>
                  </a:txBody>
                  <a:tcPr>
                    <a:solidFill>
                      <a:srgbClr val="FFFFFF"/>
                    </a:solidFill>
                  </a:tcPr>
                </a:tc>
                <a:tc>
                  <a:txBody>
                    <a:bodyPr/>
                    <a:lstStyle/>
                    <a:p>
                      <a:r>
                        <a:rPr sz="1050" b="0">
                          <a:solidFill>
                            <a:srgbClr val="171A33"/>
                          </a:solidFill>
                          <a:latin typeface="Calibri"/>
                        </a:rPr>
                        <a:t>3D cuboid</a:t>
                      </a:r>
                    </a:p>
                  </a:txBody>
                  <a:tcPr>
                    <a:solidFill>
                      <a:srgbClr val="FFFFFF"/>
                    </a:solidFill>
                  </a:tcPr>
                </a:tc>
                <a:tc>
                  <a:txBody>
                    <a:bodyPr/>
                    <a:lstStyle/>
                    <a:p>
                      <a:r>
                        <a:rPr sz="1050" b="0">
                          <a:solidFill>
                            <a:srgbClr val="171A33"/>
                          </a:solidFill>
                          <a:latin typeface="Calibri"/>
                        </a:rPr>
                        <a:t>Primary dynamic obstacles in yards and ports; need range and heading for planning.</a:t>
                      </a:r>
                    </a:p>
                  </a:txBody>
                  <a:tcPr>
                    <a:solidFill>
                      <a:srgbClr val="FFFFFF"/>
                    </a:solidFill>
                  </a:tcPr>
                </a:tc>
              </a:tr>
              <a:tr h="365760">
                <a:tc>
                  <a:txBody>
                    <a:bodyPr/>
                    <a:lstStyle/>
                    <a:p>
                      <a:r>
                        <a:rPr sz="1050" b="1">
                          <a:solidFill>
                            <a:srgbClr val="171A33"/>
                          </a:solidFill>
                          <a:latin typeface="Calibri"/>
                        </a:rPr>
                        <a:t>ISO container / trailer / dolly</a:t>
                      </a:r>
                    </a:p>
                  </a:txBody>
                  <a:tcPr>
                    <a:solidFill>
                      <a:srgbClr val="EEEDFB"/>
                    </a:solidFill>
                  </a:tcPr>
                </a:tc>
                <a:tc>
                  <a:txBody>
                    <a:bodyPr/>
                    <a:lstStyle/>
                    <a:p>
                      <a:r>
                        <a:rPr sz="1050" b="0">
                          <a:solidFill>
                            <a:srgbClr val="171A33"/>
                          </a:solidFill>
                          <a:latin typeface="Calibri"/>
                        </a:rPr>
                        <a:t>3D cuboid</a:t>
                      </a:r>
                    </a:p>
                  </a:txBody>
                  <a:tcPr>
                    <a:solidFill>
                      <a:srgbClr val="EEEDFB"/>
                    </a:solidFill>
                  </a:tcPr>
                </a:tc>
                <a:tc>
                  <a:txBody>
                    <a:bodyPr/>
                    <a:lstStyle/>
                    <a:p>
                      <a:r>
                        <a:rPr sz="1050" b="0">
                          <a:solidFill>
                            <a:srgbClr val="171A33"/>
                          </a:solidFill>
                          <a:latin typeface="Calibri"/>
                        </a:rPr>
                        <a:t>Static-but-movable structures that define drivable corridors and docking manoeuvres.</a:t>
                      </a:r>
                    </a:p>
                  </a:txBody>
                  <a:tcPr>
                    <a:solidFill>
                      <a:srgbClr val="EEEDFB"/>
                    </a:solidFill>
                  </a:tcPr>
                </a:tc>
              </a:tr>
              <a:tr h="365760">
                <a:tc>
                  <a:txBody>
                    <a:bodyPr/>
                    <a:lstStyle/>
                    <a:p>
                      <a:r>
                        <a:rPr sz="1050" b="1">
                          <a:solidFill>
                            <a:srgbClr val="171A33"/>
                          </a:solidFill>
                          <a:latin typeface="Calibri"/>
                        </a:rPr>
                        <a:t>Ground crew in hi-vis</a:t>
                      </a:r>
                    </a:p>
                  </a:txBody>
                  <a:tcPr>
                    <a:solidFill>
                      <a:srgbClr val="FFFFFF"/>
                    </a:solidFill>
                  </a:tcPr>
                </a:tc>
                <a:tc>
                  <a:txBody>
                    <a:bodyPr/>
                    <a:lstStyle/>
                    <a:p>
                      <a:r>
                        <a:rPr sz="1050" b="0">
                          <a:solidFill>
                            <a:srgbClr val="171A33"/>
                          </a:solidFill>
                          <a:latin typeface="Calibri"/>
                        </a:rPr>
                        <a:t>bounding box</a:t>
                      </a:r>
                    </a:p>
                  </a:txBody>
                  <a:tcPr>
                    <a:solidFill>
                      <a:srgbClr val="FFFFFF"/>
                    </a:solidFill>
                  </a:tcPr>
                </a:tc>
                <a:tc>
                  <a:txBody>
                    <a:bodyPr/>
                    <a:lstStyle/>
                    <a:p>
                      <a:r>
                        <a:rPr sz="1050" b="0">
                          <a:solidFill>
                            <a:srgbClr val="171A33"/>
                          </a:solidFill>
                          <a:latin typeface="Calibri"/>
                        </a:rPr>
                        <a:t>Vulnerable road user class; the safety case depends on long-range detection.</a:t>
                      </a:r>
                    </a:p>
                  </a:txBody>
                  <a:tcPr>
                    <a:solidFill>
                      <a:srgbClr val="FFFFFF"/>
                    </a:solidFill>
                  </a:tcPr>
                </a:tc>
              </a:tr>
              <a:tr h="365760">
                <a:tc>
                  <a:txBody>
                    <a:bodyPr/>
                    <a:lstStyle/>
                    <a:p>
                      <a:r>
                        <a:rPr sz="1050" b="1">
                          <a:solidFill>
                            <a:srgbClr val="171A33"/>
                          </a:solidFill>
                          <a:latin typeface="Calibri"/>
                        </a:rPr>
                        <a:t>Aircraft and ground support equipment</a:t>
                      </a:r>
                    </a:p>
                  </a:txBody>
                  <a:tcPr>
                    <a:solidFill>
                      <a:srgbClr val="EEEDFB"/>
                    </a:solidFill>
                  </a:tcPr>
                </a:tc>
                <a:tc>
                  <a:txBody>
                    <a:bodyPr/>
                    <a:lstStyle/>
                    <a:p>
                      <a:r>
                        <a:rPr sz="1050" b="0">
                          <a:solidFill>
                            <a:srgbClr val="171A33"/>
                          </a:solidFill>
                          <a:latin typeface="Calibri"/>
                        </a:rPr>
                        <a:t>polygon</a:t>
                      </a:r>
                    </a:p>
                  </a:txBody>
                  <a:tcPr>
                    <a:solidFill>
                      <a:srgbClr val="EEEDFB"/>
                    </a:solidFill>
                  </a:tcPr>
                </a:tc>
                <a:tc>
                  <a:txBody>
                    <a:bodyPr/>
                    <a:lstStyle/>
                    <a:p>
                      <a:r>
                        <a:rPr sz="1050" b="0">
                          <a:solidFill>
                            <a:srgbClr val="171A33"/>
                          </a:solidFill>
                          <a:latin typeface="Calibri"/>
                        </a:rPr>
                        <a:t>Irregular silhouettes at airside; boxes over-cover and waste free space.</a:t>
                      </a:r>
                    </a:p>
                  </a:txBody>
                  <a:tcPr>
                    <a:solidFill>
                      <a:srgbClr val="EEEDFB"/>
                    </a:solidFill>
                  </a:tcPr>
                </a:tc>
              </a:tr>
              <a:tr h="365760">
                <a:tc>
                  <a:txBody>
                    <a:bodyPr/>
                    <a:lstStyle/>
                    <a:p>
                      <a:r>
                        <a:rPr sz="1050" b="1">
                          <a:solidFill>
                            <a:srgbClr val="171A33"/>
                          </a:solidFill>
                          <a:latin typeface="Calibri"/>
                        </a:rPr>
                        <a:t>Drivable surface and apron markings</a:t>
                      </a:r>
                    </a:p>
                  </a:txBody>
                  <a:tcPr>
                    <a:solidFill>
                      <a:srgbClr val="FFFFFF"/>
                    </a:solidFill>
                  </a:tcPr>
                </a:tc>
                <a:tc>
                  <a:txBody>
                    <a:bodyPr/>
                    <a:lstStyle/>
                    <a:p>
                      <a:r>
                        <a:rPr sz="1050" b="0">
                          <a:solidFill>
                            <a:srgbClr val="171A33"/>
                          </a:solidFill>
                          <a:latin typeface="Calibri"/>
                        </a:rPr>
                        <a:t>bitmask</a:t>
                      </a:r>
                    </a:p>
                  </a:txBody>
                  <a:tcPr>
                    <a:solidFill>
                      <a:srgbClr val="FFFFFF"/>
                    </a:solidFill>
                  </a:tcPr>
                </a:tc>
                <a:tc>
                  <a:txBody>
                    <a:bodyPr/>
                    <a:lstStyle/>
                    <a:p>
                      <a:r>
                        <a:rPr sz="1050" b="0">
                          <a:solidFill>
                            <a:srgbClr val="171A33"/>
                          </a:solidFill>
                          <a:latin typeface="Calibri"/>
                        </a:rPr>
                        <a:t>Free-space segmentation for confined yard routes with painted lanes.</a:t>
                      </a:r>
                    </a:p>
                  </a:txBody>
                  <a:tcPr>
                    <a:solidFill>
                      <a:srgbClr val="FFFFFF"/>
                    </a:solidFill>
                  </a:tcPr>
                </a:tc>
              </a:tr>
              <a:tr h="365760">
                <a:tc>
                  <a:txBody>
                    <a:bodyPr/>
                    <a:lstStyle/>
                    <a:p>
                      <a:r>
                        <a:rPr sz="1050" b="1">
                          <a:solidFill>
                            <a:srgbClr val="171A33"/>
                          </a:solidFill>
                          <a:latin typeface="Calibri"/>
                        </a:rPr>
                        <a:t>Lane, stop line and quay edge</a:t>
                      </a:r>
                    </a:p>
                  </a:txBody>
                  <a:tcPr>
                    <a:solidFill>
                      <a:srgbClr val="EEEDFB"/>
                    </a:solidFill>
                  </a:tcPr>
                </a:tc>
                <a:tc>
                  <a:txBody>
                    <a:bodyPr/>
                    <a:lstStyle/>
                    <a:p>
                      <a:r>
                        <a:rPr sz="1050" b="0">
                          <a:solidFill>
                            <a:srgbClr val="171A33"/>
                          </a:solidFill>
                          <a:latin typeface="Calibri"/>
                        </a:rPr>
                        <a:t>polyline</a:t>
                      </a:r>
                    </a:p>
                  </a:txBody>
                  <a:tcPr>
                    <a:solidFill>
                      <a:srgbClr val="EEEDFB"/>
                    </a:solidFill>
                  </a:tcPr>
                </a:tc>
                <a:tc>
                  <a:txBody>
                    <a:bodyPr/>
                    <a:lstStyle/>
                    <a:p>
                      <a:r>
                        <a:rPr sz="1050" b="0">
                          <a:solidFill>
                            <a:srgbClr val="171A33"/>
                          </a:solidFill>
                          <a:latin typeface="Calibri"/>
                        </a:rPr>
                        <a:t>Thin linear geometry; polylines keep labels cheap and precise.</a:t>
                      </a:r>
                    </a:p>
                  </a:txBody>
                  <a:tcPr>
                    <a:solidFill>
                      <a:srgbClr val="EEEDFB"/>
                    </a:solidFill>
                  </a:tcPr>
                </a:tc>
              </a:tr>
              <a:tr h="365760">
                <a:tc>
                  <a:txBody>
                    <a:bodyPr/>
                    <a:lstStyle/>
                    <a:p>
                      <a:r>
                        <a:rPr sz="1050" b="1">
                          <a:solidFill>
                            <a:srgbClr val="171A33"/>
                          </a:solidFill>
                          <a:latin typeface="Calibri"/>
                        </a:rPr>
                        <a:t>Dock door / charging bay keypoints</a:t>
                      </a:r>
                    </a:p>
                  </a:txBody>
                  <a:tcPr>
                    <a:solidFill>
                      <a:srgbClr val="FFFFFF"/>
                    </a:solidFill>
                  </a:tcPr>
                </a:tc>
                <a:tc>
                  <a:txBody>
                    <a:bodyPr/>
                    <a:lstStyle/>
                    <a:p>
                      <a:r>
                        <a:rPr sz="1050" b="0">
                          <a:solidFill>
                            <a:srgbClr val="171A33"/>
                          </a:solidFill>
                          <a:latin typeface="Calibri"/>
                        </a:rPr>
                        <a:t>keypoint</a:t>
                      </a:r>
                    </a:p>
                  </a:txBody>
                  <a:tcPr>
                    <a:solidFill>
                      <a:srgbClr val="FFFFFF"/>
                    </a:solidFill>
                  </a:tcPr>
                </a:tc>
                <a:tc>
                  <a:txBody>
                    <a:bodyPr/>
                    <a:lstStyle/>
                    <a:p>
                      <a:r>
                        <a:rPr sz="1050" b="0">
                          <a:solidFill>
                            <a:srgbClr val="171A33"/>
                          </a:solidFill>
                          <a:latin typeface="Calibri"/>
                        </a:rPr>
                        <a:t>Precise docking and alignment targets for final-metre manoeuvres.</a:t>
                      </a:r>
                    </a:p>
                  </a:txBody>
                  <a:tcPr>
                    <a:solidFill>
                      <a:srgbClr val="FFFFFF"/>
                    </a:solidFill>
                  </a:tcPr>
                </a:tc>
              </a:tr>
              <a:tr h="365760">
                <a:tc>
                  <a:txBody>
                    <a:bodyPr/>
                    <a:lstStyle/>
                    <a:p>
                      <a:r>
                        <a:rPr sz="1050" b="1">
                          <a:solidFill>
                            <a:srgbClr val="171A33"/>
                          </a:solidFill>
                          <a:latin typeface="Calibri"/>
                        </a:rPr>
                        <a:t>Scene conditions (fog, low sun, night, rain, site)</a:t>
                      </a:r>
                    </a:p>
                  </a:txBody>
                  <a:tcPr>
                    <a:solidFill>
                      <a:srgbClr val="EEEDFB"/>
                    </a:solidFill>
                  </a:tcPr>
                </a:tc>
                <a:tc>
                  <a:txBody>
                    <a:bodyPr/>
                    <a:lstStyle/>
                    <a:p>
                      <a:r>
                        <a:rPr sz="1050" b="0">
                          <a:solidFill>
                            <a:srgbClr val="171A33"/>
                          </a:solidFill>
                          <a:latin typeface="Calibri"/>
                        </a:rPr>
                        <a:t>frame classification</a:t>
                      </a:r>
                    </a:p>
                  </a:txBody>
                  <a:tcPr>
                    <a:solidFill>
                      <a:srgbClr val="EEEDFB"/>
                    </a:solidFill>
                  </a:tcPr>
                </a:tc>
                <a:tc>
                  <a:txBody>
                    <a:bodyPr/>
                    <a:lstStyle/>
                    <a:p>
                      <a:r>
                        <a:rPr sz="1050" b="0">
                          <a:solidFill>
                            <a:srgbClr val="171A33"/>
                          </a:solidFill>
                          <a:latin typeface="Calibri"/>
                        </a:rPr>
                        <a:t>Lets Active slice model performance by condition and site for the safety case.</a:t>
                      </a:r>
                    </a:p>
                  </a:txBody>
                  <a:tcPr>
                    <a:solidFill>
                      <a:srgbClr val="EEEDF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WHERE ENCORD FITS</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Lead with Annotate then Active, the rest follows</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5</a:t>
            </a:r>
          </a:p>
        </p:txBody>
      </p:sp>
      <p:sp>
        <p:nvSpPr>
          <p:cNvPr id="7" name="Rectangle 6"/>
          <p:cNvSpPr/>
          <p:nvPr/>
        </p:nvSpPr>
        <p:spPr>
          <a:xfrm>
            <a:off x="640080" y="1737360"/>
            <a:ext cx="91440" cy="82296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37360"/>
            <a:ext cx="1280160" cy="274320"/>
          </a:xfrm>
          <a:prstGeom prst="rect">
            <a:avLst/>
          </a:prstGeom>
          <a:noFill/>
        </p:spPr>
        <p:txBody>
          <a:bodyPr wrap="square" anchor="t" lIns="0" rIns="0" tIns="0" bIns="0">
            <a:spAutoFit/>
          </a:bodyPr>
          <a:lstStyle/>
          <a:p>
            <a:pPr algn="l">
              <a:spcAft>
                <a:spcPts val="400"/>
              </a:spcAft>
            </a:pPr>
            <a:r>
              <a:rPr sz="1400" b="1">
                <a:solidFill>
                  <a:srgbClr val="171A33"/>
                </a:solidFill>
                <a:latin typeface="Calibri"/>
              </a:rPr>
              <a:t>Annotate</a:t>
            </a:r>
          </a:p>
        </p:txBody>
      </p:sp>
      <p:sp>
        <p:nvSpPr>
          <p:cNvPr id="9" name="TextBox 8"/>
          <p:cNvSpPr txBox="1"/>
          <p:nvPr/>
        </p:nvSpPr>
        <p:spPr>
          <a:xfrm>
            <a:off x="868680" y="2029967"/>
            <a:ext cx="5120640" cy="640080"/>
          </a:xfrm>
          <a:prstGeom prst="rect">
            <a:avLst/>
          </a:prstGeom>
          <a:noFill/>
        </p:spPr>
        <p:txBody>
          <a:bodyPr wrap="square" anchor="t" lIns="0" rIns="0" tIns="0" bIns="0">
            <a:spAutoFit/>
          </a:bodyPr>
          <a:lstStyle/>
          <a:p>
            <a:pPr algn="l">
              <a:spcAft>
                <a:spcPts val="400"/>
              </a:spcAft>
            </a:pPr>
            <a:r>
              <a:rPr sz="1050" b="0">
                <a:solidFill>
                  <a:srgbClr val="5D6180"/>
                </a:solidFill>
                <a:latin typeface="Calibri"/>
              </a:rPr>
              <a:t>Label video, 3D and images with SAM auto-segmentation and tracking. Ontology, review workflow, managed workforce if needed.</a:t>
            </a:r>
          </a:p>
        </p:txBody>
      </p:sp>
      <p:sp>
        <p:nvSpPr>
          <p:cNvPr id="10" name="Rectangle 9"/>
          <p:cNvSpPr/>
          <p:nvPr/>
        </p:nvSpPr>
        <p:spPr>
          <a:xfrm>
            <a:off x="640080" y="2743200"/>
            <a:ext cx="91440" cy="82296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43200"/>
            <a:ext cx="1280160" cy="274320"/>
          </a:xfrm>
          <a:prstGeom prst="rect">
            <a:avLst/>
          </a:prstGeom>
          <a:noFill/>
        </p:spPr>
        <p:txBody>
          <a:bodyPr wrap="square" anchor="t" lIns="0" rIns="0" tIns="0" bIns="0">
            <a:spAutoFit/>
          </a:bodyPr>
          <a:lstStyle/>
          <a:p>
            <a:pPr algn="l">
              <a:spcAft>
                <a:spcPts val="400"/>
              </a:spcAft>
            </a:pPr>
            <a:r>
              <a:rPr sz="1400" b="1">
                <a:solidFill>
                  <a:srgbClr val="171A33"/>
                </a:solidFill>
                <a:latin typeface="Calibri"/>
              </a:rPr>
              <a:t>Active</a:t>
            </a:r>
          </a:p>
        </p:txBody>
      </p:sp>
      <p:sp>
        <p:nvSpPr>
          <p:cNvPr id="12" name="TextBox 11"/>
          <p:cNvSpPr txBox="1"/>
          <p:nvPr/>
        </p:nvSpPr>
        <p:spPr>
          <a:xfrm>
            <a:off x="868680" y="3035808"/>
            <a:ext cx="5120640" cy="640080"/>
          </a:xfrm>
          <a:prstGeom prst="rect">
            <a:avLst/>
          </a:prstGeom>
          <a:noFill/>
        </p:spPr>
        <p:txBody>
          <a:bodyPr wrap="square" anchor="t" lIns="0" rIns="0" tIns="0" bIns="0">
            <a:spAutoFit/>
          </a:bodyPr>
          <a:lstStyle/>
          <a:p>
            <a:pPr algn="l">
              <a:spcAft>
                <a:spcPts val="400"/>
              </a:spcAft>
            </a:pPr>
            <a:r>
              <a:rPr sz="1050" b="0">
                <a:solidFill>
                  <a:srgbClr val="5D6180"/>
                </a:solidFill>
                <a:latin typeface="Calibri"/>
              </a:rPr>
              <a:t>Import predictions. Accuracy by class, site and condition. Find label errors. Know exactly what to label next.</a:t>
            </a:r>
          </a:p>
        </p:txBody>
      </p:sp>
      <p:sp>
        <p:nvSpPr>
          <p:cNvPr id="13" name="Rectangle 12"/>
          <p:cNvSpPr/>
          <p:nvPr/>
        </p:nvSpPr>
        <p:spPr>
          <a:xfrm>
            <a:off x="640080" y="3749039"/>
            <a:ext cx="91440" cy="822960"/>
          </a:xfrm>
          <a:prstGeom prst="rect">
            <a:avLst/>
          </a:prstGeom>
          <a:solidFill>
            <a:srgbClr val="DF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1280160" cy="274320"/>
          </a:xfrm>
          <a:prstGeom prst="rect">
            <a:avLst/>
          </a:prstGeom>
          <a:noFill/>
        </p:spPr>
        <p:txBody>
          <a:bodyPr wrap="square" anchor="t" lIns="0" rIns="0" tIns="0" bIns="0">
            <a:spAutoFit/>
          </a:bodyPr>
          <a:lstStyle/>
          <a:p>
            <a:pPr algn="l">
              <a:spcAft>
                <a:spcPts val="400"/>
              </a:spcAft>
            </a:pPr>
            <a:r>
              <a:rPr sz="1400" b="1">
                <a:solidFill>
                  <a:srgbClr val="171A33"/>
                </a:solidFill>
                <a:latin typeface="Calibri"/>
              </a:rPr>
              <a:t>Index</a:t>
            </a:r>
          </a:p>
        </p:txBody>
      </p:sp>
      <p:sp>
        <p:nvSpPr>
          <p:cNvPr id="15" name="TextBox 14"/>
          <p:cNvSpPr txBox="1"/>
          <p:nvPr/>
        </p:nvSpPr>
        <p:spPr>
          <a:xfrm>
            <a:off x="868680" y="4041648"/>
            <a:ext cx="5120640" cy="640080"/>
          </a:xfrm>
          <a:prstGeom prst="rect">
            <a:avLst/>
          </a:prstGeom>
          <a:noFill/>
        </p:spPr>
        <p:txBody>
          <a:bodyPr wrap="square" anchor="t" lIns="0" rIns="0" tIns="0" bIns="0">
            <a:spAutoFit/>
          </a:bodyPr>
          <a:lstStyle/>
          <a:p>
            <a:pPr algn="l">
              <a:spcAft>
                <a:spcPts val="400"/>
              </a:spcAft>
            </a:pPr>
            <a:r>
              <a:rPr sz="1050" b="0">
                <a:solidFill>
                  <a:srgbClr val="5D6180"/>
                </a:solidFill>
                <a:latin typeface="Calibri"/>
              </a:rPr>
              <a:t>Register the data where it already lives. Embeddings and quality metrics on every frame. Find the frames worth labelling; drop the repeats.</a:t>
            </a:r>
          </a:p>
        </p:txBody>
      </p:sp>
      <p:sp>
        <p:nvSpPr>
          <p:cNvPr id="16" name="Rectangle 15"/>
          <p:cNvSpPr/>
          <p:nvPr/>
        </p:nvSpPr>
        <p:spPr>
          <a:xfrm>
            <a:off x="640080" y="4754879"/>
            <a:ext cx="91440" cy="822960"/>
          </a:xfrm>
          <a:prstGeom prst="rect">
            <a:avLst/>
          </a:prstGeom>
          <a:solidFill>
            <a:srgbClr val="DF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280160" cy="274320"/>
          </a:xfrm>
          <a:prstGeom prst="rect">
            <a:avLst/>
          </a:prstGeom>
          <a:noFill/>
        </p:spPr>
        <p:txBody>
          <a:bodyPr wrap="square" anchor="t" lIns="0" rIns="0" tIns="0" bIns="0">
            <a:spAutoFit/>
          </a:bodyPr>
          <a:lstStyle/>
          <a:p>
            <a:pPr algn="l">
              <a:spcAft>
                <a:spcPts val="400"/>
              </a:spcAft>
            </a:pPr>
            <a:r>
              <a:rPr sz="1400" b="1">
                <a:solidFill>
                  <a:srgbClr val="171A33"/>
                </a:solidFill>
                <a:latin typeface="Calibri"/>
              </a:rPr>
              <a:t>Agents</a:t>
            </a:r>
          </a:p>
        </p:txBody>
      </p:sp>
      <p:sp>
        <p:nvSpPr>
          <p:cNvPr id="18" name="TextBox 17"/>
          <p:cNvSpPr txBox="1"/>
          <p:nvPr/>
        </p:nvSpPr>
        <p:spPr>
          <a:xfrm>
            <a:off x="868680" y="5047488"/>
            <a:ext cx="5120640" cy="640080"/>
          </a:xfrm>
          <a:prstGeom prst="rect">
            <a:avLst/>
          </a:prstGeom>
          <a:noFill/>
        </p:spPr>
        <p:txBody>
          <a:bodyPr wrap="square" anchor="t" lIns="0" rIns="0" tIns="0" bIns="0">
            <a:spAutoFit/>
          </a:bodyPr>
          <a:lstStyle/>
          <a:p>
            <a:pPr algn="l">
              <a:spcAft>
                <a:spcPts val="400"/>
              </a:spcAft>
            </a:pPr>
            <a:r>
              <a:rPr sz="1050" b="0">
                <a:solidFill>
                  <a:srgbClr val="5D6180"/>
                </a:solidFill>
                <a:latin typeface="Calibri"/>
              </a:rPr>
              <a:t>Run your own model as a workflow stage to pre-label and QA, so people adjudicate rather than draw.</a:t>
            </a:r>
          </a:p>
        </p:txBody>
      </p:sp>
      <p:sp>
        <p:nvSpPr>
          <p:cNvPr id="19" name="Rectangle 18"/>
          <p:cNvSpPr/>
          <p:nvPr/>
        </p:nvSpPr>
        <p:spPr>
          <a:xfrm>
            <a:off x="6583680" y="1737360"/>
            <a:ext cx="4937760" cy="4023360"/>
          </a:xfrm>
          <a:prstGeom prst="rect">
            <a:avLst/>
          </a:prstGeom>
          <a:solidFill>
            <a:srgbClr val="EEED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0" y="1737360"/>
            <a:ext cx="4937760" cy="7315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12280" y="1965960"/>
            <a:ext cx="45720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CLOSEST CASE STUDY</a:t>
            </a:r>
          </a:p>
        </p:txBody>
      </p:sp>
      <p:sp>
        <p:nvSpPr>
          <p:cNvPr id="22" name="TextBox 21"/>
          <p:cNvSpPr txBox="1"/>
          <p:nvPr/>
        </p:nvSpPr>
        <p:spPr>
          <a:xfrm>
            <a:off x="6812280" y="2240280"/>
            <a:ext cx="4572000" cy="457200"/>
          </a:xfrm>
          <a:prstGeom prst="rect">
            <a:avLst/>
          </a:prstGeom>
          <a:noFill/>
        </p:spPr>
        <p:txBody>
          <a:bodyPr wrap="square" anchor="t" lIns="0" rIns="0" tIns="0" bIns="0">
            <a:spAutoFit/>
          </a:bodyPr>
          <a:lstStyle/>
          <a:p>
            <a:pPr algn="l">
              <a:spcAft>
                <a:spcPts val="400"/>
              </a:spcAft>
            </a:pPr>
            <a:r>
              <a:rPr sz="2000" b="1">
                <a:solidFill>
                  <a:srgbClr val="171A33"/>
                </a:solidFill>
                <a:latin typeface="Calibri"/>
              </a:rPr>
              <a:t>Automotus</a:t>
            </a:r>
          </a:p>
        </p:txBody>
      </p:sp>
      <p:sp>
        <p:nvSpPr>
          <p:cNvPr id="23" name="TextBox 22"/>
          <p:cNvSpPr txBox="1"/>
          <p:nvPr/>
        </p:nvSpPr>
        <p:spPr>
          <a:xfrm>
            <a:off x="6812280" y="2743200"/>
            <a:ext cx="4572000" cy="822960"/>
          </a:xfrm>
          <a:prstGeom prst="rect">
            <a:avLst/>
          </a:prstGeom>
          <a:noFill/>
        </p:spPr>
        <p:txBody>
          <a:bodyPr wrap="square" anchor="t" lIns="0" rIns="0" tIns="0" bIns="0">
            <a:spAutoFit/>
          </a:bodyPr>
          <a:lstStyle/>
          <a:p>
            <a:pPr algn="l">
              <a:spcAft>
                <a:spcPts val="400"/>
              </a:spcAft>
            </a:pPr>
            <a:r>
              <a:rPr sz="1400" b="1">
                <a:solidFill>
                  <a:srgbClr val="4F46E5"/>
                </a:solidFill>
                <a:latin typeface="Calibri"/>
              </a:rPr>
              <a:t>+20% mAP, 35% smaller training dataset, 33% lower labelling cost after curating with Encord. Encord also claims 60-80% labelling cost reduction on high-complexity use cases with automation plus active learning.</a:t>
            </a:r>
          </a:p>
        </p:txBody>
      </p:sp>
      <p:sp>
        <p:nvSpPr>
          <p:cNvPr id="24" name="TextBox 23"/>
          <p:cNvSpPr txBox="1"/>
          <p:nvPr/>
        </p:nvSpPr>
        <p:spPr>
          <a:xfrm>
            <a:off x="6812280" y="3566160"/>
            <a:ext cx="4572000" cy="2103120"/>
          </a:xfrm>
          <a:prstGeom prst="rect">
            <a:avLst/>
          </a:prstGeom>
          <a:noFill/>
        </p:spPr>
        <p:txBody>
          <a:bodyPr wrap="square" anchor="t" lIns="0" rIns="0" tIns="0" bIns="0">
            <a:spAutoFit/>
          </a:bodyPr>
          <a:lstStyle/>
          <a:p>
            <a:pPr algn="l">
              <a:spcAft>
                <a:spcPts val="400"/>
              </a:spcAft>
            </a:pPr>
            <a:r>
              <a:rPr sz="1100" b="0">
                <a:solidFill>
                  <a:srgbClr val="171A33"/>
                </a:solidFill>
                <a:latin typeface="Calibri"/>
              </a:rPr>
              <a:t>Fixed-infrastructure cameras watching repetitive vehicle movement in a constrained zone, same shape of problem as a port yard or airside apron: lots of near-duplicate frames, a thin long tail that actually matters, and cost per labelled frame under pressure.</a:t>
            </a:r>
          </a:p>
        </p:txBody>
      </p:sp>
      <p:sp>
        <p:nvSpPr>
          <p:cNvPr id="25" name="TextBox 24"/>
          <p:cNvSpPr txBox="1"/>
          <p:nvPr/>
        </p:nvSpPr>
        <p:spPr>
          <a:xfrm>
            <a:off x="640080" y="5943600"/>
            <a:ext cx="10972800" cy="365760"/>
          </a:xfrm>
          <a:prstGeom prst="rect">
            <a:avLst/>
          </a:prstGeom>
          <a:noFill/>
        </p:spPr>
        <p:txBody>
          <a:bodyPr wrap="square" anchor="t" lIns="0" rIns="0" tIns="0" bIns="0">
            <a:spAutoFit/>
          </a:bodyPr>
          <a:lstStyle/>
          <a:p>
            <a:pPr algn="l">
              <a:spcAft>
                <a:spcPts val="400"/>
              </a:spcAft>
            </a:pPr>
            <a:r>
              <a:rPr sz="1000" b="0">
                <a:solidFill>
                  <a:srgbClr val="5D6180"/>
                </a:solidFill>
                <a:latin typeface="Calibri"/>
              </a:rPr>
              <a:t>Data stays in your bucket. SOC2 Type II, HIPAA, GDPR. Everything the UI does, the SDK does.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PROPOSED NEXT STEP</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A two-week proof of value on one site's data</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6</a:t>
            </a:r>
          </a:p>
        </p:txBody>
      </p:sp>
      <p:sp>
        <p:nvSpPr>
          <p:cNvPr id="7" name="Rounded Rectangle 6"/>
          <p:cNvSpPr/>
          <p:nvPr/>
        </p:nvSpPr>
        <p:spPr>
          <a:xfrm>
            <a:off x="640080" y="182880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82880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1</a:t>
            </a:r>
          </a:p>
        </p:txBody>
      </p:sp>
      <p:sp>
        <p:nvSpPr>
          <p:cNvPr id="9" name="TextBox 8"/>
          <p:cNvSpPr txBox="1"/>
          <p:nvPr/>
        </p:nvSpPr>
        <p:spPr>
          <a:xfrm>
            <a:off x="1280160" y="178308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1, day 1-2: register one site's logs (say Port of Tyne or a Heathrow airside route) from Oxa's own S3 or Azure bucket into Index. Data never moves. Success: embeddings and quality metrics on 100% of frames within 48 hours.</a:t>
            </a:r>
          </a:p>
        </p:txBody>
      </p:sp>
      <p:sp>
        <p:nvSpPr>
          <p:cNvPr id="10" name="Rounded Rectangle 9"/>
          <p:cNvSpPr/>
          <p:nvPr/>
        </p:nvSpPr>
        <p:spPr>
          <a:xfrm>
            <a:off x="640080" y="265176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65176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2</a:t>
            </a:r>
          </a:p>
        </p:txBody>
      </p:sp>
      <p:sp>
        <p:nvSpPr>
          <p:cNvPr id="12" name="TextBox 11"/>
          <p:cNvSpPr txBox="1"/>
          <p:nvPr/>
        </p:nvSpPr>
        <p:spPr>
          <a:xfrm>
            <a:off x="1280160" y="260604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1, day 3-5: build the ontology above with Oxa's perception lead and run de-duplication plus diversity sampling across three repeat passes of the same route. Success metric: frames to label cut by 50% or more while keeping 95% of distinct scenes, benchmarked against Oxa's own selection for the same batch.</a:t>
            </a:r>
          </a:p>
        </p:txBody>
      </p:sp>
      <p:sp>
        <p:nvSpPr>
          <p:cNvPr id="13" name="Rounded Rectangle 12"/>
          <p:cNvSpPr/>
          <p:nvPr/>
        </p:nvSpPr>
        <p:spPr>
          <a:xfrm>
            <a:off x="640080" y="347472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47472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3</a:t>
            </a:r>
          </a:p>
        </p:txBody>
      </p:sp>
      <p:sp>
        <p:nvSpPr>
          <p:cNvPr id="15" name="TextBox 14"/>
          <p:cNvSpPr txBox="1"/>
          <p:nvPr/>
        </p:nvSpPr>
        <p:spPr>
          <a:xfrm>
            <a:off x="1280160" y="342900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2, day 1-3: label the curated slice in Annotate with synced LIDAR cuboids and camera boxes/masks, using interpolation and tracking, plus an Agents stage running Oxa's existing detector for pre-labels. Success: measured minutes per clip versus their current baseline, and review pass rate.</a:t>
            </a:r>
          </a:p>
        </p:txBody>
      </p:sp>
      <p:sp>
        <p:nvSpPr>
          <p:cNvPr id="16" name="Rounded Rectangle 15"/>
          <p:cNvSpPr/>
          <p:nvPr/>
        </p:nvSpPr>
        <p:spPr>
          <a:xfrm>
            <a:off x="640080" y="429768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9768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4</a:t>
            </a:r>
          </a:p>
        </p:txBody>
      </p:sp>
      <p:sp>
        <p:nvSpPr>
          <p:cNvPr id="18" name="TextBox 17"/>
          <p:cNvSpPr txBox="1"/>
          <p:nvPr/>
        </p:nvSpPr>
        <p:spPr>
          <a:xfrm>
            <a:off x="1280160" y="425196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2, day 3-4: import Oxa's current model predictions into Active on a held-out set. Success: a ranked metric-to-failure report naming the three conditions or classes driving most error (expect low sun, hi-vis pedestrians at range, occluded containers).</a:t>
            </a:r>
          </a:p>
        </p:txBody>
      </p:sp>
      <p:sp>
        <p:nvSpPr>
          <p:cNvPr id="19" name="Rounded Rectangle 18"/>
          <p:cNvSpPr/>
          <p:nvPr/>
        </p:nvSpPr>
        <p:spPr>
          <a:xfrm>
            <a:off x="640080" y="5120640"/>
            <a:ext cx="457200" cy="457200"/>
          </a:xfrm>
          <a:prstGeom prst="round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120640"/>
            <a:ext cx="457200" cy="457200"/>
          </a:xfrm>
          <a:prstGeom prst="rect">
            <a:avLst/>
          </a:prstGeom>
          <a:noFill/>
        </p:spPr>
        <p:txBody>
          <a:bodyPr wrap="square" anchor="ctr" lIns="0" rIns="0" tIns="0" bIns="0">
            <a:spAutoFit/>
          </a:bodyPr>
          <a:lstStyle/>
          <a:p>
            <a:pPr algn="ctr">
              <a:spcAft>
                <a:spcPts val="400"/>
              </a:spcAft>
            </a:pPr>
            <a:r>
              <a:rPr sz="1300" b="1">
                <a:solidFill>
                  <a:srgbClr val="FFFFFF"/>
                </a:solidFill>
                <a:latin typeface="Calibri"/>
              </a:rPr>
              <a:t>5</a:t>
            </a:r>
          </a:p>
        </p:txBody>
      </p:sp>
      <p:sp>
        <p:nvSpPr>
          <p:cNvPr id="21" name="TextBox 20"/>
          <p:cNvSpPr txBox="1"/>
          <p:nvPr/>
        </p:nvSpPr>
        <p:spPr>
          <a:xfrm>
            <a:off x="1280160" y="5074920"/>
            <a:ext cx="10241280" cy="777240"/>
          </a:xfrm>
          <a:prstGeom prst="rect">
            <a:avLst/>
          </a:prstGeom>
          <a:noFill/>
        </p:spPr>
        <p:txBody>
          <a:bodyPr wrap="square" anchor="t" lIns="0" rIns="0" tIns="0" bIns="0">
            <a:spAutoFit/>
          </a:bodyPr>
          <a:lstStyle/>
          <a:p>
            <a:pPr algn="l">
              <a:spcAft>
                <a:spcPts val="400"/>
              </a:spcAft>
            </a:pPr>
            <a:r>
              <a:rPr sz="1150" b="0">
                <a:solidFill>
                  <a:srgbClr val="171A33"/>
                </a:solidFill>
                <a:latin typeface="Calibri"/>
              </a:rPr>
              <a:t>Week 2, day 5: train or fine-tune on curated versus random-equal-size picks and compare. Success: curated beats random on mAP50 at equal label spend, mirroring our own 0.48 vs 0.43 warehouse-robot result, plus a signed-off view on whether Encord complements or duplicates Oxa Foundry.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972800" cy="274320"/>
          </a:xfrm>
          <a:prstGeom prst="rect">
            <a:avLst/>
          </a:prstGeom>
          <a:noFill/>
        </p:spPr>
        <p:txBody>
          <a:bodyPr wrap="square" anchor="t" lIns="0" rIns="0" tIns="0" bIns="0">
            <a:spAutoFit/>
          </a:bodyPr>
          <a:lstStyle/>
          <a:p>
            <a:pPr algn="l">
              <a:spcAft>
                <a:spcPts val="400"/>
              </a:spcAft>
            </a:pPr>
            <a:r>
              <a:rPr sz="1000" b="1">
                <a:solidFill>
                  <a:srgbClr val="4F46E5"/>
                </a:solidFill>
                <a:latin typeface="Calibri"/>
              </a:rPr>
              <a:t>LET'S TEST IT</a:t>
            </a:r>
          </a:p>
        </p:txBody>
      </p:sp>
      <p:sp>
        <p:nvSpPr>
          <p:cNvPr id="4" name="TextBox 3"/>
          <p:cNvSpPr txBox="1"/>
          <p:nvPr/>
        </p:nvSpPr>
        <p:spPr>
          <a:xfrm>
            <a:off x="640080" y="685800"/>
            <a:ext cx="10881360" cy="914400"/>
          </a:xfrm>
          <a:prstGeom prst="rect">
            <a:avLst/>
          </a:prstGeom>
          <a:noFill/>
        </p:spPr>
        <p:txBody>
          <a:bodyPr wrap="square" anchor="t" lIns="0" rIns="0" tIns="0" bIns="0">
            <a:spAutoFit/>
          </a:bodyPr>
          <a:lstStyle/>
          <a:p>
            <a:pPr algn="l">
              <a:spcAft>
                <a:spcPts val="400"/>
              </a:spcAft>
            </a:pPr>
            <a:r>
              <a:rPr sz="2600" b="1">
                <a:solidFill>
                  <a:srgbClr val="171A33"/>
                </a:solidFill>
                <a:latin typeface="Calibri"/>
              </a:rPr>
              <a:t>What we'd like to learn from you</a:t>
            </a:r>
          </a:p>
        </p:txBody>
      </p:sp>
      <p:sp>
        <p:nvSpPr>
          <p:cNvPr id="5" name="TextBox 4"/>
          <p:cNvSpPr txBox="1"/>
          <p:nvPr/>
        </p:nvSpPr>
        <p:spPr>
          <a:xfrm>
            <a:off x="640080" y="6446520"/>
            <a:ext cx="7315200" cy="274320"/>
          </a:xfrm>
          <a:prstGeom prst="rect">
            <a:avLst/>
          </a:prstGeom>
          <a:noFill/>
        </p:spPr>
        <p:txBody>
          <a:bodyPr wrap="square" anchor="t" lIns="0" rIns="0" tIns="0" bIns="0">
            <a:spAutoFit/>
          </a:bodyPr>
          <a:lstStyle/>
          <a:p>
            <a:pPr algn="l">
              <a:spcAft>
                <a:spcPts val="400"/>
              </a:spcAft>
            </a:pPr>
            <a:r>
              <a:rPr sz="900" b="0">
                <a:solidFill>
                  <a:srgbClr val="5D6180"/>
                </a:solidFill>
                <a:latin typeface="Calibri"/>
              </a:rPr>
              <a:t>DRAFT for review  ·  Encord  ·  confidential</a:t>
            </a:r>
          </a:p>
        </p:txBody>
      </p:sp>
      <p:sp>
        <p:nvSpPr>
          <p:cNvPr id="6" name="TextBox 5"/>
          <p:cNvSpPr txBox="1"/>
          <p:nvPr/>
        </p:nvSpPr>
        <p:spPr>
          <a:xfrm>
            <a:off x="11094415" y="6446520"/>
            <a:ext cx="457200" cy="274320"/>
          </a:xfrm>
          <a:prstGeom prst="rect">
            <a:avLst/>
          </a:prstGeom>
          <a:noFill/>
        </p:spPr>
        <p:txBody>
          <a:bodyPr wrap="square" anchor="t" lIns="0" rIns="0" tIns="0" bIns="0">
            <a:spAutoFit/>
          </a:bodyPr>
          <a:lstStyle/>
          <a:p>
            <a:pPr algn="r">
              <a:spcAft>
                <a:spcPts val="400"/>
              </a:spcAft>
            </a:pPr>
            <a:r>
              <a:rPr sz="900" b="0">
                <a:solidFill>
                  <a:srgbClr val="5D6180"/>
                </a:solidFill>
                <a:latin typeface="Calibri"/>
              </a:rPr>
              <a:t>7</a:t>
            </a:r>
          </a:p>
        </p:txBody>
      </p:sp>
      <p:sp>
        <p:nvSpPr>
          <p:cNvPr id="7" name="TextBox 6"/>
          <p:cNvSpPr txBox="1"/>
          <p:nvPr/>
        </p:nvSpPr>
        <p:spPr>
          <a:xfrm>
            <a:off x="640080" y="1737360"/>
            <a:ext cx="6583680" cy="4114800"/>
          </a:xfrm>
          <a:prstGeom prst="rect">
            <a:avLst/>
          </a:prstGeom>
          <a:noFill/>
        </p:spPr>
        <p:txBody>
          <a:bodyPr wrap="square" anchor="t" lIns="0" rIns="0" tIns="0" bIns="0">
            <a:spAutoFit/>
          </a:bodyPr>
          <a:lstStyle/>
          <a:p>
            <a:pPr algn="l">
              <a:spcAft>
                <a:spcPts val="1000"/>
              </a:spcAft>
            </a:pPr>
            <a:r>
              <a:rPr sz="1400" b="0">
                <a:solidFill>
                  <a:srgbClr val="171A33"/>
                </a:solidFill>
                <a:latin typeface="Calibri"/>
              </a:rPr>
              <a:t>•  Your October 2025 post on multimodal search: what did you build in Foundry, and where does it stop - is it search and triage only, or does it reach into labelling and model evaluation?</a:t>
            </a:r>
          </a:p>
          <a:p>
            <a:pPr algn="l">
              <a:spcAft>
                <a:spcPts val="1000"/>
              </a:spcAft>
            </a:pPr>
            <a:r>
              <a:rPr sz="1400" b="0">
                <a:solidFill>
                  <a:srgbClr val="171A33"/>
                </a:solidFill>
                <a:latin typeface="Calibri"/>
              </a:rPr>
              <a:t>•  When you stand up a new site like the Dubai JV or Port of Tyne, how much of the labelled corpus from Heathrow actually transfers, and how do you decide what to re-label?</a:t>
            </a:r>
          </a:p>
          <a:p>
            <a:pPr algn="l">
              <a:spcAft>
                <a:spcPts val="1000"/>
              </a:spcAft>
            </a:pPr>
            <a:r>
              <a:rPr sz="1400" b="0">
                <a:solidFill>
                  <a:srgbClr val="171A33"/>
                </a:solidFill>
                <a:latin typeface="Calibri"/>
              </a:rPr>
              <a:t>•  How are 3D cuboids on the point cloud and the 2D camera labels kept consistent today, and who catches it when they disagree?</a:t>
            </a:r>
          </a:p>
          <a:p>
            <a:pPr algn="l">
              <a:spcAft>
                <a:spcPts val="1000"/>
              </a:spcAft>
            </a:pPr>
            <a:r>
              <a:rPr sz="1400" b="0">
                <a:solidFill>
                  <a:srgbClr val="171A33"/>
                </a:solidFill>
                <a:latin typeface="Calibri"/>
              </a:rPr>
              <a:t>•  What is the current path from a disengagement or shadow-mode failure to a labelled training example, and how many days does that round trip take?</a:t>
            </a:r>
          </a:p>
          <a:p>
            <a:pPr algn="l">
              <a:spcAft>
                <a:spcPts val="1000"/>
              </a:spcAft>
            </a:pPr>
            <a:r>
              <a:rPr sz="1400" b="0">
                <a:solidFill>
                  <a:srgbClr val="171A33"/>
                </a:solidFill>
                <a:latin typeface="Calibri"/>
              </a:rPr>
              <a:t>•  Is labelling done in-house, by a vendor, or both, and what is the current cost and throughput per hour of sensor data?</a:t>
            </a:r>
          </a:p>
        </p:txBody>
      </p:sp>
      <p:sp>
        <p:nvSpPr>
          <p:cNvPr id="8" name="Rectangle 7"/>
          <p:cNvSpPr/>
          <p:nvPr/>
        </p:nvSpPr>
        <p:spPr>
          <a:xfrm>
            <a:off x="7680960" y="1737360"/>
            <a:ext cx="3840480" cy="2377440"/>
          </a:xfrm>
          <a:prstGeom prst="rect">
            <a:avLst/>
          </a:prstGeom>
          <a:solidFill>
            <a:srgbClr val="121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79" y="1965960"/>
            <a:ext cx="3383280" cy="274320"/>
          </a:xfrm>
          <a:prstGeom prst="rect">
            <a:avLst/>
          </a:prstGeom>
          <a:noFill/>
        </p:spPr>
        <p:txBody>
          <a:bodyPr wrap="square" anchor="t" lIns="0" rIns="0" tIns="0" bIns="0">
            <a:spAutoFit/>
          </a:bodyPr>
          <a:lstStyle/>
          <a:p>
            <a:pPr algn="l">
              <a:spcAft>
                <a:spcPts val="400"/>
              </a:spcAft>
            </a:pPr>
            <a:r>
              <a:rPr sz="1000" b="1">
                <a:solidFill>
                  <a:srgbClr val="B9BCDC"/>
                </a:solidFill>
                <a:latin typeface="Calibri"/>
              </a:rPr>
              <a:t>CONTACT</a:t>
            </a:r>
          </a:p>
        </p:txBody>
      </p:sp>
      <p:sp>
        <p:nvSpPr>
          <p:cNvPr id="10" name="TextBox 9"/>
          <p:cNvSpPr txBox="1"/>
          <p:nvPr/>
        </p:nvSpPr>
        <p:spPr>
          <a:xfrm>
            <a:off x="7955279" y="2286000"/>
            <a:ext cx="3383280" cy="1645920"/>
          </a:xfrm>
          <a:prstGeom prst="rect">
            <a:avLst/>
          </a:prstGeom>
          <a:noFill/>
        </p:spPr>
        <p:txBody>
          <a:bodyPr wrap="square" anchor="t" lIns="0" rIns="0" tIns="0" bIns="0">
            <a:spAutoFit/>
          </a:bodyPr>
          <a:lstStyle/>
          <a:p>
            <a:pPr algn="l">
              <a:spcAft>
                <a:spcPts val="600"/>
              </a:spcAft>
            </a:pPr>
            <a:r>
              <a:rPr sz="1300" b="0">
                <a:solidFill>
                  <a:srgbClr val="FFFFFF"/>
                </a:solidFill>
                <a:latin typeface="Calibri"/>
              </a:rPr>
              <a:t>Qais Al-Azkawi</a:t>
            </a:r>
          </a:p>
          <a:p>
            <a:pPr algn="l">
              <a:spcAft>
                <a:spcPts val="600"/>
              </a:spcAft>
            </a:pPr>
            <a:r>
              <a:rPr sz="1300" b="0">
                <a:solidFill>
                  <a:srgbClr val="FFFFFF"/>
                </a:solidFill>
                <a:latin typeface="Calibri"/>
              </a:rPr>
              <a:t>Commercial Associate, Encord</a:t>
            </a:r>
          </a:p>
          <a:p>
            <a:pPr algn="l">
              <a:spcAft>
                <a:spcPts val="600"/>
              </a:spcAft>
            </a:pPr>
            <a:r>
              <a:rPr sz="1300" b="0">
                <a:solidFill>
                  <a:srgbClr val="FFFFFF"/>
                </a:solidFill>
                <a:latin typeface="Calibri"/>
              </a:rPr>
              <a:t>qaisqas@gmail.com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