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10"/>
    <p:sldId id="259" r:id="rId11"/>
    <p:sldId id="260" r:id="rId12"/>
    <p:sldId id="261" r:id="rId13"/>
    <p:sldId id="262" r:id="rId1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notesMaster" Target="notesMasters/notesMaster1.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Discovery questions to test this:</a:t>
            </a:r>
          </a:p>
          <a:p>
            <a:r>
              <a:t>- When you install at a new packhouse or take on a new cultivar, how much footage do you collect and how many frames actually get labelled before the cell is trusted to snip?</a:t>
            </a:r>
          </a:p>
          <a:p>
            <a:r>
              <a:t>- Who labels today, the engineering team, an agency or the customer's staff, and in which tool?</a:t>
            </a:r>
          </a:p>
          <a:p>
            <a:r>
              <a:t>- How do you currently decide a model is good enough to go live on a line, and is that a number or a week of watching it run?</a:t>
            </a:r>
          </a:p>
          <a:p>
            <a:r>
              <a:t>- Where does the camera footage live now, your own S3 or Azure bucket, or on the cell PCs at each site, and are packhouse customers restricted on what leaves their premises?</a:t>
            </a:r>
          </a:p>
          <a:p>
            <a:r>
              <a:t>- How do you pair the electronic skin force data with the vision frames, and would you want both reviewed against the same timeline?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Confidence: low</a:t>
            </a:r>
          </a:p>
          <a:p>
            <a:r>
              <a:t>Risks:</a:t>
            </a:r>
          </a:p>
          <a:p>
            <a:r>
              <a:t>- Small hardware-led company in Sedgefield with no advertised CV or ML roles, so the ML team may be two or three people using free tooling and with no budget line for a data platform.</a:t>
            </a:r>
          </a:p>
          <a:p>
            <a:r>
              <a:t>- Vision may be a solved-enough internal problem in their view, with hardware, the skin sensor and install throughput taking priority for spend.</a:t>
            </a:r>
          </a:p>
          <a:p>
            <a:r>
              <a:t>- Footage may sit on cell PCs at customer packhouses with contractual limits on export, which would slow any bucket registration.</a:t>
            </a:r>
          </a:p>
          <a:p>
            <a:r>
              <a:t>- In-house annotation app already built and good enough; switching cost and a CTO's preference for owning the stack.</a:t>
            </a:r>
          </a:p>
          <a:p>
            <a:r>
              <a:t>- No recent funding, hiring or product signals in window, so timing and budget are unknown and this could be a long nurture.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4206240" cy="6858000"/>
          </a:xfrm>
          <a:prstGeom prst="rect">
            <a:avLst/>
          </a:prstGeom>
          <a:solidFill>
            <a:srgbClr val="121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4206240" y="0"/>
            <a:ext cx="109728" cy="6858000"/>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548640"/>
            <a:ext cx="3200400" cy="365760"/>
          </a:xfrm>
          <a:prstGeom prst="rect">
            <a:avLst/>
          </a:prstGeom>
          <a:noFill/>
        </p:spPr>
        <p:txBody>
          <a:bodyPr wrap="square" anchor="t" lIns="0" rIns="0" tIns="0" bIns="0">
            <a:spAutoFit/>
          </a:bodyPr>
          <a:lstStyle/>
          <a:p>
            <a:pPr algn="l">
              <a:spcAft>
                <a:spcPts val="400"/>
              </a:spcAft>
            </a:pPr>
            <a:r>
              <a:rPr sz="1200" b="1">
                <a:solidFill>
                  <a:srgbClr val="FFFFFF"/>
                </a:solidFill>
                <a:latin typeface="Calibri"/>
              </a:rPr>
              <a:t>ENCORD</a:t>
            </a:r>
          </a:p>
        </p:txBody>
      </p:sp>
      <p:sp>
        <p:nvSpPr>
          <p:cNvPr id="5" name="TextBox 4"/>
          <p:cNvSpPr txBox="1"/>
          <p:nvPr/>
        </p:nvSpPr>
        <p:spPr>
          <a:xfrm>
            <a:off x="548640" y="5577840"/>
            <a:ext cx="3200400" cy="914400"/>
          </a:xfrm>
          <a:prstGeom prst="rect">
            <a:avLst/>
          </a:prstGeom>
          <a:noFill/>
        </p:spPr>
        <p:txBody>
          <a:bodyPr wrap="square" anchor="t" lIns="0" rIns="0" tIns="0" bIns="0">
            <a:spAutoFit/>
          </a:bodyPr>
          <a:lstStyle/>
          <a:p>
            <a:pPr algn="l">
              <a:spcAft>
                <a:spcPts val="400"/>
              </a:spcAft>
            </a:pPr>
            <a:r>
              <a:rPr sz="1000" b="0">
                <a:solidFill>
                  <a:srgbClr val="B9BCDC"/>
                </a:solidFill>
                <a:latin typeface="Calibri"/>
              </a:rPr>
              <a:t>Prepared 2026-09-21</a:t>
            </a:r>
          </a:p>
          <a:p>
            <a:pPr algn="l">
              <a:spcAft>
                <a:spcPts val="400"/>
              </a:spcAft>
            </a:pPr>
            <a:r>
              <a:rPr sz="1000" b="0">
                <a:solidFill>
                  <a:srgbClr val="B9BCDC"/>
                </a:solidFill>
                <a:latin typeface="Calibri"/>
              </a:rPr>
              <a:t>Qais Al-Azkawi</a:t>
            </a:r>
          </a:p>
          <a:p>
            <a:pPr algn="l">
              <a:spcAft>
                <a:spcPts val="400"/>
              </a:spcAft>
            </a:pPr>
            <a:r>
              <a:rPr sz="1000" b="0">
                <a:solidFill>
                  <a:srgbClr val="B9BCDC"/>
                </a:solidFill>
                <a:latin typeface="Calibri"/>
              </a:rPr>
              <a:t>DRAFT for review</a:t>
            </a:r>
          </a:p>
        </p:txBody>
      </p:sp>
      <p:sp>
        <p:nvSpPr>
          <p:cNvPr id="6" name="TextBox 5"/>
          <p:cNvSpPr txBox="1"/>
          <p:nvPr/>
        </p:nvSpPr>
        <p:spPr>
          <a:xfrm>
            <a:off x="4846320" y="1828800"/>
            <a:ext cx="6766560" cy="1280160"/>
          </a:xfrm>
          <a:prstGeom prst="rect">
            <a:avLst/>
          </a:prstGeom>
          <a:noFill/>
        </p:spPr>
        <p:txBody>
          <a:bodyPr wrap="square" anchor="t" lIns="0" rIns="0" tIns="0" bIns="0">
            <a:spAutoFit/>
          </a:bodyPr>
          <a:lstStyle/>
          <a:p>
            <a:pPr algn="l">
              <a:spcAft>
                <a:spcPts val="400"/>
              </a:spcAft>
            </a:pPr>
            <a:r>
              <a:rPr sz="4000" b="1">
                <a:solidFill>
                  <a:srgbClr val="171A33"/>
                </a:solidFill>
                <a:latin typeface="Calibri"/>
              </a:rPr>
              <a:t>Encord x Wootzano</a:t>
            </a:r>
          </a:p>
        </p:txBody>
      </p:sp>
      <p:sp>
        <p:nvSpPr>
          <p:cNvPr id="7" name="TextBox 6"/>
          <p:cNvSpPr txBox="1"/>
          <p:nvPr/>
        </p:nvSpPr>
        <p:spPr>
          <a:xfrm>
            <a:off x="4846320" y="3108960"/>
            <a:ext cx="6766560" cy="2011680"/>
          </a:xfrm>
          <a:prstGeom prst="rect">
            <a:avLst/>
          </a:prstGeom>
          <a:noFill/>
        </p:spPr>
        <p:txBody>
          <a:bodyPr wrap="square" anchor="t" lIns="0" rIns="0" tIns="0" bIns="0">
            <a:spAutoFit/>
          </a:bodyPr>
          <a:lstStyle/>
          <a:p>
            <a:pPr algn="l">
              <a:spcAft>
                <a:spcPts val="400"/>
              </a:spcAft>
            </a:pPr>
            <a:r>
              <a:rPr sz="1800" b="0">
                <a:solidFill>
                  <a:srgbClr val="5D6180"/>
                </a:solidFill>
                <a:latin typeface="Calibri"/>
              </a:rPr>
              <a:t>Wootzano sells a robot that must find the stem, judge the weight and snip cleanly on every truss, so its edge is the vision data behind that snip, and every new customer, cultivar and season means relabelling that data faster than a small team can by hand.</a:t>
            </a:r>
          </a:p>
        </p:txBody>
      </p:sp>
      <p:sp>
        <p:nvSpPr>
          <p:cNvPr id="8" name="TextBox 7"/>
          <p:cNvSpPr txBox="1"/>
          <p:nvPr/>
        </p:nvSpPr>
        <p:spPr>
          <a:xfrm>
            <a:off x="4846320" y="5760720"/>
            <a:ext cx="6766560" cy="457200"/>
          </a:xfrm>
          <a:prstGeom prst="rect">
            <a:avLst/>
          </a:prstGeom>
          <a:noFill/>
        </p:spPr>
        <p:txBody>
          <a:bodyPr wrap="square" anchor="t" lIns="0" rIns="0" tIns="0" bIns="0">
            <a:spAutoFit/>
          </a:bodyPr>
          <a:lstStyle/>
          <a:p>
            <a:pPr algn="l">
              <a:spcAft>
                <a:spcPts val="400"/>
              </a:spcAft>
            </a:pPr>
            <a:r>
              <a:rPr sz="1000" b="0">
                <a:solidFill>
                  <a:srgbClr val="5D6180"/>
                </a:solidFill>
                <a:latin typeface="Calibri"/>
              </a:rPr>
              <a:t>A first-meeting point of view. Everything here is our reading of public information; the questions are where we want to be corrected.</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11480"/>
            <a:ext cx="10972800" cy="274320"/>
          </a:xfrm>
          <a:prstGeom prst="rect">
            <a:avLst/>
          </a:prstGeom>
          <a:noFill/>
        </p:spPr>
        <p:txBody>
          <a:bodyPr wrap="square" anchor="t" lIns="0" rIns="0" tIns="0" bIns="0">
            <a:spAutoFit/>
          </a:bodyPr>
          <a:lstStyle/>
          <a:p>
            <a:pPr algn="l">
              <a:spcAft>
                <a:spcPts val="400"/>
              </a:spcAft>
            </a:pPr>
            <a:r>
              <a:rPr sz="1000" b="1">
                <a:solidFill>
                  <a:srgbClr val="4F46E5"/>
                </a:solidFill>
                <a:latin typeface="Calibri"/>
              </a:rPr>
              <a:t>WHAT WE UNDERSTAND</a:t>
            </a:r>
          </a:p>
        </p:txBody>
      </p:sp>
      <p:sp>
        <p:nvSpPr>
          <p:cNvPr id="4" name="TextBox 3"/>
          <p:cNvSpPr txBox="1"/>
          <p:nvPr/>
        </p:nvSpPr>
        <p:spPr>
          <a:xfrm>
            <a:off x="640080" y="685800"/>
            <a:ext cx="10881360" cy="914400"/>
          </a:xfrm>
          <a:prstGeom prst="rect">
            <a:avLst/>
          </a:prstGeom>
          <a:noFill/>
        </p:spPr>
        <p:txBody>
          <a:bodyPr wrap="square" anchor="t" lIns="0" rIns="0" tIns="0" bIns="0">
            <a:spAutoFit/>
          </a:bodyPr>
          <a:lstStyle/>
          <a:p>
            <a:pPr algn="l">
              <a:spcAft>
                <a:spcPts val="400"/>
              </a:spcAft>
            </a:pPr>
            <a:r>
              <a:rPr sz="2600" b="1">
                <a:solidFill>
                  <a:srgbClr val="171A33"/>
                </a:solidFill>
                <a:latin typeface="Calibri"/>
              </a:rPr>
              <a:t>What Wootzano builds, and how we think the data flows</a:t>
            </a:r>
          </a:p>
        </p:txBody>
      </p:sp>
      <p:sp>
        <p:nvSpPr>
          <p:cNvPr id="5" name="TextBox 4"/>
          <p:cNvSpPr txBox="1"/>
          <p:nvPr/>
        </p:nvSpPr>
        <p:spPr>
          <a:xfrm>
            <a:off x="640080" y="6446520"/>
            <a:ext cx="7315200" cy="274320"/>
          </a:xfrm>
          <a:prstGeom prst="rect">
            <a:avLst/>
          </a:prstGeom>
          <a:noFill/>
        </p:spPr>
        <p:txBody>
          <a:bodyPr wrap="square" anchor="t" lIns="0" rIns="0" tIns="0" bIns="0">
            <a:spAutoFit/>
          </a:bodyPr>
          <a:lstStyle/>
          <a:p>
            <a:pPr algn="l">
              <a:spcAft>
                <a:spcPts val="400"/>
              </a:spcAft>
            </a:pPr>
            <a:r>
              <a:rPr sz="900" b="0">
                <a:solidFill>
                  <a:srgbClr val="5D6180"/>
                </a:solidFill>
                <a:latin typeface="Calibri"/>
              </a:rPr>
              <a:t>DRAFT for review  ·  Encord  ·  confidential</a:t>
            </a:r>
          </a:p>
        </p:txBody>
      </p:sp>
      <p:sp>
        <p:nvSpPr>
          <p:cNvPr id="6" name="TextBox 5"/>
          <p:cNvSpPr txBox="1"/>
          <p:nvPr/>
        </p:nvSpPr>
        <p:spPr>
          <a:xfrm>
            <a:off x="11094415" y="6446520"/>
            <a:ext cx="457200" cy="274320"/>
          </a:xfrm>
          <a:prstGeom prst="rect">
            <a:avLst/>
          </a:prstGeom>
          <a:noFill/>
        </p:spPr>
        <p:txBody>
          <a:bodyPr wrap="square" anchor="t" lIns="0" rIns="0" tIns="0" bIns="0">
            <a:spAutoFit/>
          </a:bodyPr>
          <a:lstStyle/>
          <a:p>
            <a:pPr algn="r">
              <a:spcAft>
                <a:spcPts val="400"/>
              </a:spcAft>
            </a:pPr>
            <a:r>
              <a:rPr sz="900" b="0">
                <a:solidFill>
                  <a:srgbClr val="5D6180"/>
                </a:solidFill>
                <a:latin typeface="Calibri"/>
              </a:rPr>
              <a:t>2</a:t>
            </a:r>
          </a:p>
        </p:txBody>
      </p:sp>
      <p:sp>
        <p:nvSpPr>
          <p:cNvPr id="7" name="TextBox 6"/>
          <p:cNvSpPr txBox="1"/>
          <p:nvPr/>
        </p:nvSpPr>
        <p:spPr>
          <a:xfrm>
            <a:off x="640080" y="1737360"/>
            <a:ext cx="5120640" cy="4114800"/>
          </a:xfrm>
          <a:prstGeom prst="rect">
            <a:avLst/>
          </a:prstGeom>
          <a:noFill/>
        </p:spPr>
        <p:txBody>
          <a:bodyPr wrap="square" anchor="t" lIns="0" rIns="0" tIns="0" bIns="0">
            <a:spAutoFit/>
          </a:bodyPr>
          <a:lstStyle/>
          <a:p>
            <a:pPr algn="l">
              <a:spcAft>
                <a:spcPts val="800"/>
              </a:spcAft>
            </a:pPr>
            <a:r>
              <a:rPr sz="1400" b="0">
                <a:solidFill>
                  <a:srgbClr val="171A33"/>
                </a:solidFill>
                <a:latin typeface="Calibri"/>
              </a:rPr>
              <a:t>Avarai is a collaborative robotic packing cell for post-harvest fresh produce, sized to replace one human on a punnet line. It combines a dexterous hand with patented food-safe electronic skin, vision-based stem detection and intelligent weight estimation to snip vine produce to a retailer's target weight without bruising. Packhouses and growers pay, pitched on labour cost per line and payback, with claimed 30% cost saving and 40-50% productivity uplift.</a:t>
            </a:r>
          </a:p>
        </p:txBody>
      </p:sp>
      <p:sp>
        <p:nvSpPr>
          <p:cNvPr id="8" name="TextBox 7"/>
          <p:cNvSpPr txBox="1"/>
          <p:nvPr/>
        </p:nvSpPr>
        <p:spPr>
          <a:xfrm>
            <a:off x="6217920" y="1737360"/>
            <a:ext cx="5303520" cy="274320"/>
          </a:xfrm>
          <a:prstGeom prst="rect">
            <a:avLst/>
          </a:prstGeom>
          <a:noFill/>
        </p:spPr>
        <p:txBody>
          <a:bodyPr wrap="square" anchor="t" lIns="0" rIns="0" tIns="0" bIns="0">
            <a:spAutoFit/>
          </a:bodyPr>
          <a:lstStyle/>
          <a:p>
            <a:pPr algn="l">
              <a:spcAft>
                <a:spcPts val="400"/>
              </a:spcAft>
            </a:pPr>
            <a:r>
              <a:rPr sz="1000" b="1">
                <a:solidFill>
                  <a:srgbClr val="4F46E5"/>
                </a:solidFill>
                <a:latin typeface="Calibri"/>
              </a:rPr>
              <a:t>INFERRED PIPELINE (guesses marked)</a:t>
            </a:r>
          </a:p>
        </p:txBody>
      </p:sp>
      <p:sp>
        <p:nvSpPr>
          <p:cNvPr id="9" name="Oval 8"/>
          <p:cNvSpPr/>
          <p:nvPr/>
        </p:nvSpPr>
        <p:spPr>
          <a:xfrm>
            <a:off x="6217920" y="2103120"/>
            <a:ext cx="384048" cy="384048"/>
          </a:xfrm>
          <a:prstGeom prst="ellipse">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217920" y="2103120"/>
            <a:ext cx="384048" cy="384048"/>
          </a:xfrm>
          <a:prstGeom prst="rect">
            <a:avLst/>
          </a:prstGeom>
          <a:noFill/>
        </p:spPr>
        <p:txBody>
          <a:bodyPr wrap="square" anchor="ctr" lIns="0" rIns="0" tIns="0" bIns="0">
            <a:spAutoFit/>
          </a:bodyPr>
          <a:lstStyle/>
          <a:p>
            <a:pPr algn="ctr">
              <a:spcAft>
                <a:spcPts val="400"/>
              </a:spcAft>
            </a:pPr>
            <a:r>
              <a:rPr sz="1200" b="1">
                <a:solidFill>
                  <a:srgbClr val="FFFFFF"/>
                </a:solidFill>
                <a:latin typeface="Calibri"/>
              </a:rPr>
              <a:t>1</a:t>
            </a:r>
          </a:p>
        </p:txBody>
      </p:sp>
      <p:sp>
        <p:nvSpPr>
          <p:cNvPr id="11" name="TextBox 10"/>
          <p:cNvSpPr txBox="1"/>
          <p:nvPr/>
        </p:nvSpPr>
        <p:spPr>
          <a:xfrm>
            <a:off x="6766560" y="2084831"/>
            <a:ext cx="4754880" cy="640080"/>
          </a:xfrm>
          <a:prstGeom prst="rect">
            <a:avLst/>
          </a:prstGeom>
          <a:noFill/>
        </p:spPr>
        <p:txBody>
          <a:bodyPr wrap="square" anchor="t" lIns="0" rIns="0" tIns="0" bIns="0">
            <a:spAutoFit/>
          </a:bodyPr>
          <a:lstStyle/>
          <a:p>
            <a:pPr algn="l">
              <a:spcAft>
                <a:spcPts val="400"/>
              </a:spcAft>
            </a:pPr>
            <a:r>
              <a:rPr sz="1050" b="0">
                <a:solidFill>
                  <a:srgbClr val="171A33"/>
                </a:solidFill>
                <a:latin typeface="Calibri"/>
              </a:rPr>
              <a:t>Guess: Intel RealSense or similar RGB-D cameras above the conveyor and on the arm capture continuous close-up video of trusses, punnets and the gripper, plus tactile streams from the electronic skin.</a:t>
            </a:r>
          </a:p>
        </p:txBody>
      </p:sp>
      <p:sp>
        <p:nvSpPr>
          <p:cNvPr id="12" name="Oval 11"/>
          <p:cNvSpPr/>
          <p:nvPr/>
        </p:nvSpPr>
        <p:spPr>
          <a:xfrm>
            <a:off x="6217920" y="2761487"/>
            <a:ext cx="384048" cy="384048"/>
          </a:xfrm>
          <a:prstGeom prst="ellipse">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217920" y="2761487"/>
            <a:ext cx="384048" cy="384048"/>
          </a:xfrm>
          <a:prstGeom prst="rect">
            <a:avLst/>
          </a:prstGeom>
          <a:noFill/>
        </p:spPr>
        <p:txBody>
          <a:bodyPr wrap="square" anchor="ctr" lIns="0" rIns="0" tIns="0" bIns="0">
            <a:spAutoFit/>
          </a:bodyPr>
          <a:lstStyle/>
          <a:p>
            <a:pPr algn="ctr">
              <a:spcAft>
                <a:spcPts val="400"/>
              </a:spcAft>
            </a:pPr>
            <a:r>
              <a:rPr sz="1200" b="1">
                <a:solidFill>
                  <a:srgbClr val="FFFFFF"/>
                </a:solidFill>
                <a:latin typeface="Calibri"/>
              </a:rPr>
              <a:t>2</a:t>
            </a:r>
          </a:p>
        </p:txBody>
      </p:sp>
      <p:sp>
        <p:nvSpPr>
          <p:cNvPr id="14" name="TextBox 13"/>
          <p:cNvSpPr txBox="1"/>
          <p:nvPr/>
        </p:nvSpPr>
        <p:spPr>
          <a:xfrm>
            <a:off x="6766560" y="2743199"/>
            <a:ext cx="4754880" cy="640080"/>
          </a:xfrm>
          <a:prstGeom prst="rect">
            <a:avLst/>
          </a:prstGeom>
          <a:noFill/>
        </p:spPr>
        <p:txBody>
          <a:bodyPr wrap="square" anchor="t" lIns="0" rIns="0" tIns="0" bIns="0">
            <a:spAutoFit/>
          </a:bodyPr>
          <a:lstStyle/>
          <a:p>
            <a:pPr algn="l">
              <a:spcAft>
                <a:spcPts val="400"/>
              </a:spcAft>
            </a:pPr>
            <a:r>
              <a:rPr sz="1050" b="0">
                <a:solidFill>
                  <a:srgbClr val="171A33"/>
                </a:solidFill>
                <a:latin typeface="Calibri"/>
              </a:rPr>
              <a:t>Guess: footage is pulled off the cell PC at each packhouse and pooled centrally, likely in object storage or on a NAS in Sedgefield, with little frame-level metadata beyond site, line and date.</a:t>
            </a:r>
          </a:p>
        </p:txBody>
      </p:sp>
      <p:sp>
        <p:nvSpPr>
          <p:cNvPr id="15" name="Oval 14"/>
          <p:cNvSpPr/>
          <p:nvPr/>
        </p:nvSpPr>
        <p:spPr>
          <a:xfrm>
            <a:off x="6217920" y="3419855"/>
            <a:ext cx="384048" cy="384048"/>
          </a:xfrm>
          <a:prstGeom prst="ellipse">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217920" y="3419855"/>
            <a:ext cx="384048" cy="384048"/>
          </a:xfrm>
          <a:prstGeom prst="rect">
            <a:avLst/>
          </a:prstGeom>
          <a:noFill/>
        </p:spPr>
        <p:txBody>
          <a:bodyPr wrap="square" anchor="ctr" lIns="0" rIns="0" tIns="0" bIns="0">
            <a:spAutoFit/>
          </a:bodyPr>
          <a:lstStyle/>
          <a:p>
            <a:pPr algn="ctr">
              <a:spcAft>
                <a:spcPts val="400"/>
              </a:spcAft>
            </a:pPr>
            <a:r>
              <a:rPr sz="1200" b="1">
                <a:solidFill>
                  <a:srgbClr val="FFFFFF"/>
                </a:solidFill>
                <a:latin typeface="Calibri"/>
              </a:rPr>
              <a:t>3</a:t>
            </a:r>
          </a:p>
        </p:txBody>
      </p:sp>
      <p:sp>
        <p:nvSpPr>
          <p:cNvPr id="17" name="TextBox 16"/>
          <p:cNvSpPr txBox="1"/>
          <p:nvPr/>
        </p:nvSpPr>
        <p:spPr>
          <a:xfrm>
            <a:off x="6766560" y="3401567"/>
            <a:ext cx="4754880" cy="640080"/>
          </a:xfrm>
          <a:prstGeom prst="rect">
            <a:avLst/>
          </a:prstGeom>
          <a:noFill/>
        </p:spPr>
        <p:txBody>
          <a:bodyPr wrap="square" anchor="t" lIns="0" rIns="0" tIns="0" bIns="0">
            <a:spAutoFit/>
          </a:bodyPr>
          <a:lstStyle/>
          <a:p>
            <a:pPr algn="l">
              <a:spcAft>
                <a:spcPts val="400"/>
              </a:spcAft>
            </a:pPr>
            <a:r>
              <a:rPr sz="1050" b="0">
                <a:solidFill>
                  <a:srgbClr val="171A33"/>
                </a:solidFill>
                <a:latin typeface="Calibri"/>
              </a:rPr>
              <a:t>Guess: engineers hand-pick frames for labelling, probably with an open source tool (CVAT or Label Studio) or a small in-house web app, and label stems, snip points and fruit masks.</a:t>
            </a:r>
          </a:p>
        </p:txBody>
      </p:sp>
      <p:sp>
        <p:nvSpPr>
          <p:cNvPr id="18" name="Oval 17"/>
          <p:cNvSpPr/>
          <p:nvPr/>
        </p:nvSpPr>
        <p:spPr>
          <a:xfrm>
            <a:off x="6217920" y="4078223"/>
            <a:ext cx="384048" cy="384048"/>
          </a:xfrm>
          <a:prstGeom prst="ellipse">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217920" y="4078223"/>
            <a:ext cx="384048" cy="384048"/>
          </a:xfrm>
          <a:prstGeom prst="rect">
            <a:avLst/>
          </a:prstGeom>
          <a:noFill/>
        </p:spPr>
        <p:txBody>
          <a:bodyPr wrap="square" anchor="ctr" lIns="0" rIns="0" tIns="0" bIns="0">
            <a:spAutoFit/>
          </a:bodyPr>
          <a:lstStyle/>
          <a:p>
            <a:pPr algn="ctr">
              <a:spcAft>
                <a:spcPts val="400"/>
              </a:spcAft>
            </a:pPr>
            <a:r>
              <a:rPr sz="1200" b="1">
                <a:solidFill>
                  <a:srgbClr val="FFFFFF"/>
                </a:solidFill>
                <a:latin typeface="Calibri"/>
              </a:rPr>
              <a:t>4</a:t>
            </a:r>
          </a:p>
        </p:txBody>
      </p:sp>
      <p:sp>
        <p:nvSpPr>
          <p:cNvPr id="20" name="TextBox 19"/>
          <p:cNvSpPr txBox="1"/>
          <p:nvPr/>
        </p:nvSpPr>
        <p:spPr>
          <a:xfrm>
            <a:off x="6766560" y="4059935"/>
            <a:ext cx="4754880" cy="640080"/>
          </a:xfrm>
          <a:prstGeom prst="rect">
            <a:avLst/>
          </a:prstGeom>
          <a:noFill/>
        </p:spPr>
        <p:txBody>
          <a:bodyPr wrap="square" anchor="t" lIns="0" rIns="0" tIns="0" bIns="0">
            <a:spAutoFit/>
          </a:bodyPr>
          <a:lstStyle/>
          <a:p>
            <a:pPr algn="l">
              <a:spcAft>
                <a:spcPts val="400"/>
              </a:spcAft>
            </a:pPr>
            <a:r>
              <a:rPr sz="1050" b="0">
                <a:solidFill>
                  <a:srgbClr val="171A33"/>
                </a:solidFill>
                <a:latin typeface="Calibri"/>
              </a:rPr>
              <a:t>Guess: models for stem and snip-point detection plus weight estimation are trained in-house, with grasp and force policy tuned against the skin sensor data separately.</a:t>
            </a:r>
          </a:p>
        </p:txBody>
      </p:sp>
      <p:sp>
        <p:nvSpPr>
          <p:cNvPr id="21" name="Oval 20"/>
          <p:cNvSpPr/>
          <p:nvPr/>
        </p:nvSpPr>
        <p:spPr>
          <a:xfrm>
            <a:off x="6217920" y="4736591"/>
            <a:ext cx="384048" cy="384048"/>
          </a:xfrm>
          <a:prstGeom prst="ellipse">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217920" y="4736591"/>
            <a:ext cx="384048" cy="384048"/>
          </a:xfrm>
          <a:prstGeom prst="rect">
            <a:avLst/>
          </a:prstGeom>
          <a:noFill/>
        </p:spPr>
        <p:txBody>
          <a:bodyPr wrap="square" anchor="ctr" lIns="0" rIns="0" tIns="0" bIns="0">
            <a:spAutoFit/>
          </a:bodyPr>
          <a:lstStyle/>
          <a:p>
            <a:pPr algn="ctr">
              <a:spcAft>
                <a:spcPts val="400"/>
              </a:spcAft>
            </a:pPr>
            <a:r>
              <a:rPr sz="1200" b="1">
                <a:solidFill>
                  <a:srgbClr val="FFFFFF"/>
                </a:solidFill>
                <a:latin typeface="Calibri"/>
              </a:rPr>
              <a:t>5</a:t>
            </a:r>
          </a:p>
        </p:txBody>
      </p:sp>
      <p:sp>
        <p:nvSpPr>
          <p:cNvPr id="23" name="TextBox 22"/>
          <p:cNvSpPr txBox="1"/>
          <p:nvPr/>
        </p:nvSpPr>
        <p:spPr>
          <a:xfrm>
            <a:off x="6766560" y="4718303"/>
            <a:ext cx="4754880" cy="640080"/>
          </a:xfrm>
          <a:prstGeom prst="rect">
            <a:avLst/>
          </a:prstGeom>
          <a:noFill/>
        </p:spPr>
        <p:txBody>
          <a:bodyPr wrap="square" anchor="t" lIns="0" rIns="0" tIns="0" bIns="0">
            <a:spAutoFit/>
          </a:bodyPr>
          <a:lstStyle/>
          <a:p>
            <a:pPr algn="l">
              <a:spcAft>
                <a:spcPts val="400"/>
              </a:spcAft>
            </a:pPr>
            <a:r>
              <a:rPr sz="1050" b="0">
                <a:solidFill>
                  <a:srgbClr val="171A33"/>
                </a:solidFill>
                <a:latin typeface="Calibri"/>
              </a:rPr>
              <a:t>Guess: validation is qualitative, watching the cell run on a new cultivar during a pilot week and patching failures by adding more frames from that site.</a:t>
            </a:r>
          </a:p>
        </p:txBody>
      </p:sp>
      <p:sp>
        <p:nvSpPr>
          <p:cNvPr id="24" name="Oval 23"/>
          <p:cNvSpPr/>
          <p:nvPr/>
        </p:nvSpPr>
        <p:spPr>
          <a:xfrm>
            <a:off x="6217920" y="5394959"/>
            <a:ext cx="384048" cy="384048"/>
          </a:xfrm>
          <a:prstGeom prst="ellipse">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217920" y="5394959"/>
            <a:ext cx="384048" cy="384048"/>
          </a:xfrm>
          <a:prstGeom prst="rect">
            <a:avLst/>
          </a:prstGeom>
          <a:noFill/>
        </p:spPr>
        <p:txBody>
          <a:bodyPr wrap="square" anchor="ctr" lIns="0" rIns="0" tIns="0" bIns="0">
            <a:spAutoFit/>
          </a:bodyPr>
          <a:lstStyle/>
          <a:p>
            <a:pPr algn="ctr">
              <a:spcAft>
                <a:spcPts val="400"/>
              </a:spcAft>
            </a:pPr>
            <a:r>
              <a:rPr sz="1200" b="1">
                <a:solidFill>
                  <a:srgbClr val="FFFFFF"/>
                </a:solidFill>
                <a:latin typeface="Calibri"/>
              </a:rPr>
              <a:t>6</a:t>
            </a:r>
          </a:p>
        </p:txBody>
      </p:sp>
      <p:sp>
        <p:nvSpPr>
          <p:cNvPr id="26" name="TextBox 25"/>
          <p:cNvSpPr txBox="1"/>
          <p:nvPr/>
        </p:nvSpPr>
        <p:spPr>
          <a:xfrm>
            <a:off x="6766560" y="5376671"/>
            <a:ext cx="4754880" cy="640080"/>
          </a:xfrm>
          <a:prstGeom prst="rect">
            <a:avLst/>
          </a:prstGeom>
          <a:noFill/>
        </p:spPr>
        <p:txBody>
          <a:bodyPr wrap="square" anchor="t" lIns="0" rIns="0" tIns="0" bIns="0">
            <a:spAutoFit/>
          </a:bodyPr>
          <a:lstStyle/>
          <a:p>
            <a:pPr algn="l">
              <a:spcAft>
                <a:spcPts val="400"/>
              </a:spcAft>
            </a:pPr>
            <a:r>
              <a:rPr sz="1050" b="0">
                <a:solidFill>
                  <a:srgbClr val="171A33"/>
                </a:solidFill>
                <a:latin typeface="Calibri"/>
              </a:rPr>
              <a:t>Guess: each new customer, produce type or packaging spec triggers a fresh collection and labelling cycle, which gates how fast installs can scale.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11480"/>
            <a:ext cx="10972800" cy="274320"/>
          </a:xfrm>
          <a:prstGeom prst="rect">
            <a:avLst/>
          </a:prstGeom>
          <a:noFill/>
        </p:spPr>
        <p:txBody>
          <a:bodyPr wrap="square" anchor="t" lIns="0" rIns="0" tIns="0" bIns="0">
            <a:spAutoFit/>
          </a:bodyPr>
          <a:lstStyle/>
          <a:p>
            <a:pPr algn="l">
              <a:spcAft>
                <a:spcPts val="400"/>
              </a:spcAft>
            </a:pPr>
            <a:r>
              <a:rPr sz="1000" b="1">
                <a:solidFill>
                  <a:srgbClr val="4F46E5"/>
                </a:solidFill>
                <a:latin typeface="Calibri"/>
              </a:rPr>
              <a:t>WHERE WE THINK IT HURTS</a:t>
            </a:r>
          </a:p>
        </p:txBody>
      </p:sp>
      <p:sp>
        <p:nvSpPr>
          <p:cNvPr id="4" name="TextBox 3"/>
          <p:cNvSpPr txBox="1"/>
          <p:nvPr/>
        </p:nvSpPr>
        <p:spPr>
          <a:xfrm>
            <a:off x="640080" y="685800"/>
            <a:ext cx="10881360" cy="914400"/>
          </a:xfrm>
          <a:prstGeom prst="rect">
            <a:avLst/>
          </a:prstGeom>
          <a:noFill/>
        </p:spPr>
        <p:txBody>
          <a:bodyPr wrap="square" anchor="t" lIns="0" rIns="0" tIns="0" bIns="0">
            <a:spAutoFit/>
          </a:bodyPr>
          <a:lstStyle/>
          <a:p>
            <a:pPr algn="l">
              <a:spcAft>
                <a:spcPts val="400"/>
              </a:spcAft>
            </a:pPr>
            <a:r>
              <a:rPr sz="2600" b="1">
                <a:solidFill>
                  <a:srgbClr val="171A33"/>
                </a:solidFill>
                <a:latin typeface="Calibri"/>
              </a:rPr>
              <a:t>Three hypotheses, ranked by how sure we are</a:t>
            </a:r>
          </a:p>
        </p:txBody>
      </p:sp>
      <p:sp>
        <p:nvSpPr>
          <p:cNvPr id="5" name="TextBox 4"/>
          <p:cNvSpPr txBox="1"/>
          <p:nvPr/>
        </p:nvSpPr>
        <p:spPr>
          <a:xfrm>
            <a:off x="640080" y="6446520"/>
            <a:ext cx="7315200" cy="274320"/>
          </a:xfrm>
          <a:prstGeom prst="rect">
            <a:avLst/>
          </a:prstGeom>
          <a:noFill/>
        </p:spPr>
        <p:txBody>
          <a:bodyPr wrap="square" anchor="t" lIns="0" rIns="0" tIns="0" bIns="0">
            <a:spAutoFit/>
          </a:bodyPr>
          <a:lstStyle/>
          <a:p>
            <a:pPr algn="l">
              <a:spcAft>
                <a:spcPts val="400"/>
              </a:spcAft>
            </a:pPr>
            <a:r>
              <a:rPr sz="900" b="0">
                <a:solidFill>
                  <a:srgbClr val="5D6180"/>
                </a:solidFill>
                <a:latin typeface="Calibri"/>
              </a:rPr>
              <a:t>DRAFT for review  ·  Encord  ·  confidential</a:t>
            </a:r>
          </a:p>
        </p:txBody>
      </p:sp>
      <p:sp>
        <p:nvSpPr>
          <p:cNvPr id="6" name="TextBox 5"/>
          <p:cNvSpPr txBox="1"/>
          <p:nvPr/>
        </p:nvSpPr>
        <p:spPr>
          <a:xfrm>
            <a:off x="11094415" y="6446520"/>
            <a:ext cx="457200" cy="274320"/>
          </a:xfrm>
          <a:prstGeom prst="rect">
            <a:avLst/>
          </a:prstGeom>
          <a:noFill/>
        </p:spPr>
        <p:txBody>
          <a:bodyPr wrap="square" anchor="t" lIns="0" rIns="0" tIns="0" bIns="0">
            <a:spAutoFit/>
          </a:bodyPr>
          <a:lstStyle/>
          <a:p>
            <a:pPr algn="r">
              <a:spcAft>
                <a:spcPts val="400"/>
              </a:spcAft>
            </a:pPr>
            <a:r>
              <a:rPr sz="900" b="0">
                <a:solidFill>
                  <a:srgbClr val="5D6180"/>
                </a:solidFill>
                <a:latin typeface="Calibri"/>
              </a:rPr>
              <a:t>3</a:t>
            </a:r>
          </a:p>
        </p:txBody>
      </p:sp>
      <p:sp>
        <p:nvSpPr>
          <p:cNvPr id="7" name="Rectangle 6"/>
          <p:cNvSpPr/>
          <p:nvPr/>
        </p:nvSpPr>
        <p:spPr>
          <a:xfrm>
            <a:off x="640080" y="1691640"/>
            <a:ext cx="3520440" cy="4617720"/>
          </a:xfrm>
          <a:prstGeom prst="rect">
            <a:avLst/>
          </a:prstGeom>
          <a:solidFill>
            <a:srgbClr val="EEED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40080" y="1737360"/>
            <a:ext cx="3520440" cy="73152"/>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68680" y="1965960"/>
            <a:ext cx="3063240" cy="274320"/>
          </a:xfrm>
          <a:prstGeom prst="rect">
            <a:avLst/>
          </a:prstGeom>
          <a:noFill/>
        </p:spPr>
        <p:txBody>
          <a:bodyPr wrap="square" anchor="t" lIns="0" rIns="0" tIns="0" bIns="0">
            <a:spAutoFit/>
          </a:bodyPr>
          <a:lstStyle/>
          <a:p>
            <a:pPr algn="l">
              <a:spcAft>
                <a:spcPts val="400"/>
              </a:spcAft>
            </a:pPr>
            <a:r>
              <a:rPr sz="1000" b="1">
                <a:solidFill>
                  <a:srgbClr val="4F46E5"/>
                </a:solidFill>
                <a:latin typeface="Calibri"/>
              </a:rPr>
              <a:t>HYPOTHESIS 1</a:t>
            </a:r>
          </a:p>
        </p:txBody>
      </p:sp>
      <p:sp>
        <p:nvSpPr>
          <p:cNvPr id="10" name="TextBox 9"/>
          <p:cNvSpPr txBox="1"/>
          <p:nvPr/>
        </p:nvSpPr>
        <p:spPr>
          <a:xfrm>
            <a:off x="868680" y="2240280"/>
            <a:ext cx="3063240" cy="1280160"/>
          </a:xfrm>
          <a:prstGeom prst="rect">
            <a:avLst/>
          </a:prstGeom>
          <a:noFill/>
        </p:spPr>
        <p:txBody>
          <a:bodyPr wrap="square" anchor="t" lIns="0" rIns="0" tIns="0" bIns="0">
            <a:spAutoFit/>
          </a:bodyPr>
          <a:lstStyle/>
          <a:p>
            <a:pPr algn="l">
              <a:spcAft>
                <a:spcPts val="400"/>
              </a:spcAft>
            </a:pPr>
            <a:r>
              <a:rPr sz="1200" b="1">
                <a:solidFill>
                  <a:srgbClr val="171A33"/>
                </a:solidFill>
                <a:latin typeface="Calibri"/>
              </a:rPr>
              <a:t>Every new packhouse, cultivar or punnet spec needs a fresh labelled set before the snip is reliable, so data work, not hardware, sets the pace of installs.</a:t>
            </a:r>
          </a:p>
        </p:txBody>
      </p:sp>
      <p:sp>
        <p:nvSpPr>
          <p:cNvPr id="11" name="TextBox 10"/>
          <p:cNvSpPr txBox="1"/>
          <p:nvPr/>
        </p:nvSpPr>
        <p:spPr>
          <a:xfrm>
            <a:off x="868680" y="3520440"/>
            <a:ext cx="3063240" cy="274320"/>
          </a:xfrm>
          <a:prstGeom prst="rect">
            <a:avLst/>
          </a:prstGeom>
          <a:noFill/>
        </p:spPr>
        <p:txBody>
          <a:bodyPr wrap="square" anchor="t" lIns="0" rIns="0" tIns="0" bIns="0">
            <a:spAutoFit/>
          </a:bodyPr>
          <a:lstStyle/>
          <a:p>
            <a:pPr algn="l">
              <a:spcAft>
                <a:spcPts val="400"/>
              </a:spcAft>
            </a:pPr>
            <a:r>
              <a:rPr sz="900" b="1">
                <a:solidFill>
                  <a:srgbClr val="5D6180"/>
                </a:solidFill>
                <a:latin typeface="Calibri"/>
              </a:rPr>
              <a:t>WHY WE THINK SO</a:t>
            </a:r>
          </a:p>
        </p:txBody>
      </p:sp>
      <p:sp>
        <p:nvSpPr>
          <p:cNvPr id="12" name="TextBox 11"/>
          <p:cNvSpPr txBox="1"/>
          <p:nvPr/>
        </p:nvSpPr>
        <p:spPr>
          <a:xfrm>
            <a:off x="868680" y="3749039"/>
            <a:ext cx="3063240" cy="914400"/>
          </a:xfrm>
          <a:prstGeom prst="rect">
            <a:avLst/>
          </a:prstGeom>
          <a:noFill/>
        </p:spPr>
        <p:txBody>
          <a:bodyPr wrap="square" anchor="t" lIns="0" rIns="0" tIns="0" bIns="0">
            <a:spAutoFit/>
          </a:bodyPr>
          <a:lstStyle/>
          <a:p>
            <a:pPr algn="l">
              <a:spcAft>
                <a:spcPts val="400"/>
              </a:spcAft>
            </a:pPr>
            <a:r>
              <a:rPr sz="950" b="0">
                <a:solidFill>
                  <a:srgbClr val="5D6180"/>
                </a:solidFill>
                <a:latin typeface="Calibri"/>
              </a:rPr>
              <a:t>Site promises Day 1 install, Day 2 ready to use, and per-line ROI, which only holds if vision generalises across sites and produce types.</a:t>
            </a:r>
          </a:p>
        </p:txBody>
      </p:sp>
      <p:sp>
        <p:nvSpPr>
          <p:cNvPr id="13" name="TextBox 12"/>
          <p:cNvSpPr txBox="1"/>
          <p:nvPr/>
        </p:nvSpPr>
        <p:spPr>
          <a:xfrm>
            <a:off x="868680" y="4663440"/>
            <a:ext cx="3063240" cy="274320"/>
          </a:xfrm>
          <a:prstGeom prst="rect">
            <a:avLst/>
          </a:prstGeom>
          <a:noFill/>
        </p:spPr>
        <p:txBody>
          <a:bodyPr wrap="square" anchor="t" lIns="0" rIns="0" tIns="0" bIns="0">
            <a:spAutoFit/>
          </a:bodyPr>
          <a:lstStyle/>
          <a:p>
            <a:pPr algn="l">
              <a:spcAft>
                <a:spcPts val="400"/>
              </a:spcAft>
            </a:pPr>
            <a:r>
              <a:rPr sz="900" b="1">
                <a:solidFill>
                  <a:srgbClr val="5D6180"/>
                </a:solidFill>
                <a:latin typeface="Calibri"/>
              </a:rPr>
              <a:t>WHAT ENCORD DOES ABOUT IT</a:t>
            </a:r>
          </a:p>
        </p:txBody>
      </p:sp>
      <p:sp>
        <p:nvSpPr>
          <p:cNvPr id="14" name="TextBox 13"/>
          <p:cNvSpPr txBox="1"/>
          <p:nvPr/>
        </p:nvSpPr>
        <p:spPr>
          <a:xfrm>
            <a:off x="868680" y="4892040"/>
            <a:ext cx="3063240" cy="1371600"/>
          </a:xfrm>
          <a:prstGeom prst="rect">
            <a:avLst/>
          </a:prstGeom>
          <a:noFill/>
        </p:spPr>
        <p:txBody>
          <a:bodyPr wrap="square" anchor="t" lIns="0" rIns="0" tIns="0" bIns="0">
            <a:spAutoFit/>
          </a:bodyPr>
          <a:lstStyle/>
          <a:p>
            <a:pPr algn="l">
              <a:spcAft>
                <a:spcPts val="400"/>
              </a:spcAft>
            </a:pPr>
            <a:r>
              <a:rPr sz="950" b="0">
                <a:solidFill>
                  <a:srgbClr val="171A33"/>
                </a:solidFill>
                <a:latin typeface="Calibri"/>
              </a:rPr>
              <a:t>Annotate with a shared ontology across sites, SAM 3 auto-segmentation and object tracking across native video to label whole truss sequences from a few clicks, then Agents to pre-label new-site footage with their own stem detector so humans only correct.</a:t>
            </a:r>
          </a:p>
        </p:txBody>
      </p:sp>
      <p:sp>
        <p:nvSpPr>
          <p:cNvPr id="15" name="Rectangle 14"/>
          <p:cNvSpPr/>
          <p:nvPr/>
        </p:nvSpPr>
        <p:spPr>
          <a:xfrm>
            <a:off x="4389120" y="1691640"/>
            <a:ext cx="3520440" cy="4617720"/>
          </a:xfrm>
          <a:prstGeom prst="rect">
            <a:avLst/>
          </a:prstGeom>
          <a:solidFill>
            <a:srgbClr val="EEED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389120" y="1737360"/>
            <a:ext cx="3520440" cy="73152"/>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617720" y="1965960"/>
            <a:ext cx="3063240" cy="274320"/>
          </a:xfrm>
          <a:prstGeom prst="rect">
            <a:avLst/>
          </a:prstGeom>
          <a:noFill/>
        </p:spPr>
        <p:txBody>
          <a:bodyPr wrap="square" anchor="t" lIns="0" rIns="0" tIns="0" bIns="0">
            <a:spAutoFit/>
          </a:bodyPr>
          <a:lstStyle/>
          <a:p>
            <a:pPr algn="l">
              <a:spcAft>
                <a:spcPts val="400"/>
              </a:spcAft>
            </a:pPr>
            <a:r>
              <a:rPr sz="1000" b="1">
                <a:solidFill>
                  <a:srgbClr val="4F46E5"/>
                </a:solidFill>
                <a:latin typeface="Calibri"/>
              </a:rPr>
              <a:t>HYPOTHESIS 2</a:t>
            </a:r>
          </a:p>
        </p:txBody>
      </p:sp>
      <p:sp>
        <p:nvSpPr>
          <p:cNvPr id="18" name="TextBox 17"/>
          <p:cNvSpPr txBox="1"/>
          <p:nvPr/>
        </p:nvSpPr>
        <p:spPr>
          <a:xfrm>
            <a:off x="4617720" y="2240280"/>
            <a:ext cx="3063240" cy="1280160"/>
          </a:xfrm>
          <a:prstGeom prst="rect">
            <a:avLst/>
          </a:prstGeom>
          <a:noFill/>
        </p:spPr>
        <p:txBody>
          <a:bodyPr wrap="square" anchor="t" lIns="0" rIns="0" tIns="0" bIns="0">
            <a:spAutoFit/>
          </a:bodyPr>
          <a:lstStyle/>
          <a:p>
            <a:pPr algn="l">
              <a:spcAft>
                <a:spcPts val="400"/>
              </a:spcAft>
            </a:pPr>
            <a:r>
              <a:rPr sz="1200" b="1">
                <a:solidFill>
                  <a:srgbClr val="171A33"/>
                </a:solidFill>
                <a:latin typeface="Calibri"/>
              </a:rPr>
              <a:t>Conveyor footage is overwhelmingly near-duplicate, so the team labels thousands of frames that teach the model nothing while rare defects and odd trusses stay under-represented.</a:t>
            </a:r>
          </a:p>
        </p:txBody>
      </p:sp>
      <p:sp>
        <p:nvSpPr>
          <p:cNvPr id="19" name="TextBox 18"/>
          <p:cNvSpPr txBox="1"/>
          <p:nvPr/>
        </p:nvSpPr>
        <p:spPr>
          <a:xfrm>
            <a:off x="4617720" y="3520440"/>
            <a:ext cx="3063240" cy="274320"/>
          </a:xfrm>
          <a:prstGeom prst="rect">
            <a:avLst/>
          </a:prstGeom>
          <a:noFill/>
        </p:spPr>
        <p:txBody>
          <a:bodyPr wrap="square" anchor="t" lIns="0" rIns="0" tIns="0" bIns="0">
            <a:spAutoFit/>
          </a:bodyPr>
          <a:lstStyle/>
          <a:p>
            <a:pPr algn="l">
              <a:spcAft>
                <a:spcPts val="400"/>
              </a:spcAft>
            </a:pPr>
            <a:r>
              <a:rPr sz="900" b="1">
                <a:solidFill>
                  <a:srgbClr val="5D6180"/>
                </a:solidFill>
                <a:latin typeface="Calibri"/>
              </a:rPr>
              <a:t>WHY WE THINK SO</a:t>
            </a:r>
          </a:p>
        </p:txBody>
      </p:sp>
      <p:sp>
        <p:nvSpPr>
          <p:cNvPr id="20" name="TextBox 19"/>
          <p:cNvSpPr txBox="1"/>
          <p:nvPr/>
        </p:nvSpPr>
        <p:spPr>
          <a:xfrm>
            <a:off x="4617720" y="3749039"/>
            <a:ext cx="3063240" cy="914400"/>
          </a:xfrm>
          <a:prstGeom prst="rect">
            <a:avLst/>
          </a:prstGeom>
          <a:noFill/>
        </p:spPr>
        <p:txBody>
          <a:bodyPr wrap="square" anchor="t" lIns="0" rIns="0" tIns="0" bIns="0">
            <a:spAutoFit/>
          </a:bodyPr>
          <a:lstStyle/>
          <a:p>
            <a:pPr algn="l">
              <a:spcAft>
                <a:spcPts val="400"/>
              </a:spcAft>
            </a:pPr>
            <a:r>
              <a:rPr sz="950" b="0">
                <a:solidFill>
                  <a:srgbClr val="5D6180"/>
                </a:solidFill>
                <a:latin typeface="Calibri"/>
              </a:rPr>
              <a:t>Fixed overhead camera on a repetitive packing line is inherently redundant; no CV job ads found, implying a small team with no curation tooling.</a:t>
            </a:r>
          </a:p>
        </p:txBody>
      </p:sp>
      <p:sp>
        <p:nvSpPr>
          <p:cNvPr id="21" name="TextBox 20"/>
          <p:cNvSpPr txBox="1"/>
          <p:nvPr/>
        </p:nvSpPr>
        <p:spPr>
          <a:xfrm>
            <a:off x="4617720" y="4663440"/>
            <a:ext cx="3063240" cy="274320"/>
          </a:xfrm>
          <a:prstGeom prst="rect">
            <a:avLst/>
          </a:prstGeom>
          <a:noFill/>
        </p:spPr>
        <p:txBody>
          <a:bodyPr wrap="square" anchor="t" lIns="0" rIns="0" tIns="0" bIns="0">
            <a:spAutoFit/>
          </a:bodyPr>
          <a:lstStyle/>
          <a:p>
            <a:pPr algn="l">
              <a:spcAft>
                <a:spcPts val="400"/>
              </a:spcAft>
            </a:pPr>
            <a:r>
              <a:rPr sz="900" b="1">
                <a:solidFill>
                  <a:srgbClr val="5D6180"/>
                </a:solidFill>
                <a:latin typeface="Calibri"/>
              </a:rPr>
              <a:t>WHAT ENCORD DOES ABOUT IT</a:t>
            </a:r>
          </a:p>
        </p:txBody>
      </p:sp>
      <p:sp>
        <p:nvSpPr>
          <p:cNvPr id="22" name="TextBox 21"/>
          <p:cNvSpPr txBox="1"/>
          <p:nvPr/>
        </p:nvSpPr>
        <p:spPr>
          <a:xfrm>
            <a:off x="4617720" y="4892040"/>
            <a:ext cx="3063240" cy="1371600"/>
          </a:xfrm>
          <a:prstGeom prst="rect">
            <a:avLst/>
          </a:prstGeom>
          <a:noFill/>
        </p:spPr>
        <p:txBody>
          <a:bodyPr wrap="square" anchor="t" lIns="0" rIns="0" tIns="0" bIns="0">
            <a:spAutoFit/>
          </a:bodyPr>
          <a:lstStyle/>
          <a:p>
            <a:pPr algn="l">
              <a:spcAft>
                <a:spcPts val="400"/>
              </a:spcAft>
            </a:pPr>
            <a:r>
              <a:rPr sz="950" b="0">
                <a:solidFill>
                  <a:srgbClr val="171A33"/>
                </a:solidFill>
                <a:latin typeface="Calibri"/>
              </a:rPr>
              <a:t>Index registers their existing bucket, no data movement, computes embeddings and per-frame quality metrics, then similarity search and the embedding plot cut duplicates and build Collections of the rare cases worth labelling.</a:t>
            </a:r>
          </a:p>
        </p:txBody>
      </p:sp>
      <p:sp>
        <p:nvSpPr>
          <p:cNvPr id="23" name="Rectangle 22"/>
          <p:cNvSpPr/>
          <p:nvPr/>
        </p:nvSpPr>
        <p:spPr>
          <a:xfrm>
            <a:off x="8138159" y="1691640"/>
            <a:ext cx="3520440" cy="4617720"/>
          </a:xfrm>
          <a:prstGeom prst="rect">
            <a:avLst/>
          </a:prstGeom>
          <a:solidFill>
            <a:srgbClr val="EEED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8138159" y="1737360"/>
            <a:ext cx="3520440" cy="73152"/>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366759" y="1965960"/>
            <a:ext cx="3063240" cy="274320"/>
          </a:xfrm>
          <a:prstGeom prst="rect">
            <a:avLst/>
          </a:prstGeom>
          <a:noFill/>
        </p:spPr>
        <p:txBody>
          <a:bodyPr wrap="square" anchor="t" lIns="0" rIns="0" tIns="0" bIns="0">
            <a:spAutoFit/>
          </a:bodyPr>
          <a:lstStyle/>
          <a:p>
            <a:pPr algn="l">
              <a:spcAft>
                <a:spcPts val="400"/>
              </a:spcAft>
            </a:pPr>
            <a:r>
              <a:rPr sz="1000" b="1">
                <a:solidFill>
                  <a:srgbClr val="4F46E5"/>
                </a:solidFill>
                <a:latin typeface="Calibri"/>
              </a:rPr>
              <a:t>HYPOTHESIS 3</a:t>
            </a:r>
          </a:p>
        </p:txBody>
      </p:sp>
      <p:sp>
        <p:nvSpPr>
          <p:cNvPr id="26" name="TextBox 25"/>
          <p:cNvSpPr txBox="1"/>
          <p:nvPr/>
        </p:nvSpPr>
        <p:spPr>
          <a:xfrm>
            <a:off x="8366759" y="2240280"/>
            <a:ext cx="3063240" cy="1280160"/>
          </a:xfrm>
          <a:prstGeom prst="rect">
            <a:avLst/>
          </a:prstGeom>
          <a:noFill/>
        </p:spPr>
        <p:txBody>
          <a:bodyPr wrap="square" anchor="t" lIns="0" rIns="0" tIns="0" bIns="0">
            <a:spAutoFit/>
          </a:bodyPr>
          <a:lstStyle/>
          <a:p>
            <a:pPr algn="l">
              <a:spcAft>
                <a:spcPts val="400"/>
              </a:spcAft>
            </a:pPr>
            <a:r>
              <a:rPr sz="1200" b="1">
                <a:solidFill>
                  <a:srgbClr val="171A33"/>
                </a:solidFill>
                <a:latin typeface="Calibri"/>
              </a:rPr>
              <a:t>No quantified way to say which failure mode is costing throughput, so model fixes are guessed from watching the cell rather than measured per class and condition.</a:t>
            </a:r>
          </a:p>
        </p:txBody>
      </p:sp>
      <p:sp>
        <p:nvSpPr>
          <p:cNvPr id="27" name="TextBox 26"/>
          <p:cNvSpPr txBox="1"/>
          <p:nvPr/>
        </p:nvSpPr>
        <p:spPr>
          <a:xfrm>
            <a:off x="8366759" y="3520440"/>
            <a:ext cx="3063240" cy="274320"/>
          </a:xfrm>
          <a:prstGeom prst="rect">
            <a:avLst/>
          </a:prstGeom>
          <a:noFill/>
        </p:spPr>
        <p:txBody>
          <a:bodyPr wrap="square" anchor="t" lIns="0" rIns="0" tIns="0" bIns="0">
            <a:spAutoFit/>
          </a:bodyPr>
          <a:lstStyle/>
          <a:p>
            <a:pPr algn="l">
              <a:spcAft>
                <a:spcPts val="400"/>
              </a:spcAft>
            </a:pPr>
            <a:r>
              <a:rPr sz="900" b="1">
                <a:solidFill>
                  <a:srgbClr val="5D6180"/>
                </a:solidFill>
                <a:latin typeface="Calibri"/>
              </a:rPr>
              <a:t>WHY WE THINK SO</a:t>
            </a:r>
          </a:p>
        </p:txBody>
      </p:sp>
      <p:sp>
        <p:nvSpPr>
          <p:cNvPr id="28" name="TextBox 27"/>
          <p:cNvSpPr txBox="1"/>
          <p:nvPr/>
        </p:nvSpPr>
        <p:spPr>
          <a:xfrm>
            <a:off x="8366759" y="3749039"/>
            <a:ext cx="3063240" cy="914400"/>
          </a:xfrm>
          <a:prstGeom prst="rect">
            <a:avLst/>
          </a:prstGeom>
          <a:noFill/>
        </p:spPr>
        <p:txBody>
          <a:bodyPr wrap="square" anchor="t" lIns="0" rIns="0" tIns="0" bIns="0">
            <a:spAutoFit/>
          </a:bodyPr>
          <a:lstStyle/>
          <a:p>
            <a:pPr algn="l">
              <a:spcAft>
                <a:spcPts val="400"/>
              </a:spcAft>
            </a:pPr>
            <a:r>
              <a:rPr sz="950" b="0">
                <a:solidFill>
                  <a:srgbClr val="5D6180"/>
                </a:solidFill>
                <a:latin typeface="Calibri"/>
              </a:rPr>
              <a:t>Marketing leads on precision snipping and clean stem detection, but nothing on site suggests a measured evaluation loop; no ML hires advertised.</a:t>
            </a:r>
          </a:p>
        </p:txBody>
      </p:sp>
      <p:sp>
        <p:nvSpPr>
          <p:cNvPr id="29" name="TextBox 28"/>
          <p:cNvSpPr txBox="1"/>
          <p:nvPr/>
        </p:nvSpPr>
        <p:spPr>
          <a:xfrm>
            <a:off x="8366759" y="4663440"/>
            <a:ext cx="3063240" cy="274320"/>
          </a:xfrm>
          <a:prstGeom prst="rect">
            <a:avLst/>
          </a:prstGeom>
          <a:noFill/>
        </p:spPr>
        <p:txBody>
          <a:bodyPr wrap="square" anchor="t" lIns="0" rIns="0" tIns="0" bIns="0">
            <a:spAutoFit/>
          </a:bodyPr>
          <a:lstStyle/>
          <a:p>
            <a:pPr algn="l">
              <a:spcAft>
                <a:spcPts val="400"/>
              </a:spcAft>
            </a:pPr>
            <a:r>
              <a:rPr sz="900" b="1">
                <a:solidFill>
                  <a:srgbClr val="5D6180"/>
                </a:solidFill>
                <a:latin typeface="Calibri"/>
              </a:rPr>
              <a:t>WHAT ENCORD DOES ABOUT IT</a:t>
            </a:r>
          </a:p>
        </p:txBody>
      </p:sp>
      <p:sp>
        <p:nvSpPr>
          <p:cNvPr id="30" name="TextBox 29"/>
          <p:cNvSpPr txBox="1"/>
          <p:nvPr/>
        </p:nvSpPr>
        <p:spPr>
          <a:xfrm>
            <a:off x="8366759" y="4892040"/>
            <a:ext cx="3063240" cy="1371600"/>
          </a:xfrm>
          <a:prstGeom prst="rect">
            <a:avLst/>
          </a:prstGeom>
          <a:noFill/>
        </p:spPr>
        <p:txBody>
          <a:bodyPr wrap="square" anchor="t" lIns="0" rIns="0" tIns="0" bIns="0">
            <a:spAutoFit/>
          </a:bodyPr>
          <a:lstStyle/>
          <a:p>
            <a:pPr algn="l">
              <a:spcAft>
                <a:spcPts val="400"/>
              </a:spcAft>
            </a:pPr>
            <a:r>
              <a:rPr sz="950" b="0">
                <a:solidFill>
                  <a:srgbClr val="171A33"/>
                </a:solidFill>
                <a:latin typeface="Calibri"/>
              </a:rPr>
              <a:t>Active imports their predictions for mAP, F1, PR curves and confusion matrix, sliced by class, site or any data metric, and metric-to-failure correlation points at which frames to label next.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11480"/>
            <a:ext cx="10972800" cy="274320"/>
          </a:xfrm>
          <a:prstGeom prst="rect">
            <a:avLst/>
          </a:prstGeom>
          <a:noFill/>
        </p:spPr>
        <p:txBody>
          <a:bodyPr wrap="square" anchor="t" lIns="0" rIns="0" tIns="0" bIns="0">
            <a:spAutoFit/>
          </a:bodyPr>
          <a:lstStyle/>
          <a:p>
            <a:pPr algn="l">
              <a:spcAft>
                <a:spcPts val="400"/>
              </a:spcAft>
            </a:pPr>
            <a:r>
              <a:rPr sz="1000" b="1">
                <a:solidFill>
                  <a:srgbClr val="4F46E5"/>
                </a:solidFill>
                <a:latin typeface="Calibri"/>
              </a:rPr>
              <a:t>A STARTING ONTOLOGY</a:t>
            </a:r>
          </a:p>
        </p:txBody>
      </p:sp>
      <p:sp>
        <p:nvSpPr>
          <p:cNvPr id="4" name="TextBox 3"/>
          <p:cNvSpPr txBox="1"/>
          <p:nvPr/>
        </p:nvSpPr>
        <p:spPr>
          <a:xfrm>
            <a:off x="640080" y="685800"/>
            <a:ext cx="10881360" cy="914400"/>
          </a:xfrm>
          <a:prstGeom prst="rect">
            <a:avLst/>
          </a:prstGeom>
          <a:noFill/>
        </p:spPr>
        <p:txBody>
          <a:bodyPr wrap="square" anchor="t" lIns="0" rIns="0" tIns="0" bIns="0">
            <a:spAutoFit/>
          </a:bodyPr>
          <a:lstStyle/>
          <a:p>
            <a:pPr algn="l">
              <a:spcAft>
                <a:spcPts val="400"/>
              </a:spcAft>
            </a:pPr>
            <a:r>
              <a:rPr sz="2600" b="1">
                <a:solidFill>
                  <a:srgbClr val="171A33"/>
                </a:solidFill>
                <a:latin typeface="Calibri"/>
              </a:rPr>
              <a:t>What we would label for Wootzano, and how</a:t>
            </a:r>
          </a:p>
        </p:txBody>
      </p:sp>
      <p:sp>
        <p:nvSpPr>
          <p:cNvPr id="5" name="TextBox 4"/>
          <p:cNvSpPr txBox="1"/>
          <p:nvPr/>
        </p:nvSpPr>
        <p:spPr>
          <a:xfrm>
            <a:off x="640080" y="6446520"/>
            <a:ext cx="7315200" cy="274320"/>
          </a:xfrm>
          <a:prstGeom prst="rect">
            <a:avLst/>
          </a:prstGeom>
          <a:noFill/>
        </p:spPr>
        <p:txBody>
          <a:bodyPr wrap="square" anchor="t" lIns="0" rIns="0" tIns="0" bIns="0">
            <a:spAutoFit/>
          </a:bodyPr>
          <a:lstStyle/>
          <a:p>
            <a:pPr algn="l">
              <a:spcAft>
                <a:spcPts val="400"/>
              </a:spcAft>
            </a:pPr>
            <a:r>
              <a:rPr sz="900" b="0">
                <a:solidFill>
                  <a:srgbClr val="5D6180"/>
                </a:solidFill>
                <a:latin typeface="Calibri"/>
              </a:rPr>
              <a:t>DRAFT for review  ·  Encord  ·  confidential</a:t>
            </a:r>
          </a:p>
        </p:txBody>
      </p:sp>
      <p:sp>
        <p:nvSpPr>
          <p:cNvPr id="6" name="TextBox 5"/>
          <p:cNvSpPr txBox="1"/>
          <p:nvPr/>
        </p:nvSpPr>
        <p:spPr>
          <a:xfrm>
            <a:off x="11094415" y="6446520"/>
            <a:ext cx="457200" cy="274320"/>
          </a:xfrm>
          <a:prstGeom prst="rect">
            <a:avLst/>
          </a:prstGeom>
          <a:noFill/>
        </p:spPr>
        <p:txBody>
          <a:bodyPr wrap="square" anchor="t" lIns="0" rIns="0" tIns="0" bIns="0">
            <a:spAutoFit/>
          </a:bodyPr>
          <a:lstStyle/>
          <a:p>
            <a:pPr algn="r">
              <a:spcAft>
                <a:spcPts val="400"/>
              </a:spcAft>
            </a:pPr>
            <a:r>
              <a:rPr sz="900" b="0">
                <a:solidFill>
                  <a:srgbClr val="5D6180"/>
                </a:solidFill>
                <a:latin typeface="Calibri"/>
              </a:rPr>
              <a:t>4</a:t>
            </a:r>
          </a:p>
        </p:txBody>
      </p:sp>
      <p:sp>
        <p:nvSpPr>
          <p:cNvPr id="7" name="TextBox 6"/>
          <p:cNvSpPr txBox="1"/>
          <p:nvPr/>
        </p:nvSpPr>
        <p:spPr>
          <a:xfrm>
            <a:off x="640080" y="1691640"/>
            <a:ext cx="10972800" cy="365760"/>
          </a:xfrm>
          <a:prstGeom prst="rect">
            <a:avLst/>
          </a:prstGeom>
          <a:noFill/>
        </p:spPr>
        <p:txBody>
          <a:bodyPr wrap="square" anchor="t" lIns="0" rIns="0" tIns="0" bIns="0">
            <a:spAutoFit/>
          </a:bodyPr>
          <a:lstStyle/>
          <a:p>
            <a:pPr algn="l">
              <a:spcAft>
                <a:spcPts val="400"/>
              </a:spcAft>
            </a:pPr>
            <a:r>
              <a:rPr sz="1200" b="0">
                <a:solidFill>
                  <a:srgbClr val="5D6180"/>
                </a:solidFill>
                <a:latin typeface="Calibri"/>
              </a:rPr>
              <a:t>A proposal to argue with. The shapes matter: they decide what the model can learn and what the labellers spend time on.</a:t>
            </a:r>
          </a:p>
        </p:txBody>
      </p:sp>
      <p:graphicFrame>
        <p:nvGraphicFramePr>
          <p:cNvPr id="8" name="Table 7"/>
          <p:cNvGraphicFramePr>
            <a:graphicFrameLocks noGrp="1"/>
          </p:cNvGraphicFramePr>
          <p:nvPr/>
        </p:nvGraphicFramePr>
        <p:xfrm>
          <a:off x="640080" y="2194560"/>
          <a:ext cx="10881360" cy="3291840"/>
        </p:xfrm>
        <a:graphic>
          <a:graphicData uri="http://schemas.openxmlformats.org/drawingml/2006/table">
            <a:tbl>
              <a:tblPr firstRow="1" bandRow="1">
                <a:tableStyleId>{5C22544A-7EE6-4342-B048-85BDC9FD1C3A}</a:tableStyleId>
              </a:tblPr>
              <a:tblGrid>
                <a:gridCol w="2926080"/>
                <a:gridCol w="1828800"/>
                <a:gridCol w="6126480"/>
              </a:tblGrid>
              <a:tr h="365760">
                <a:tc>
                  <a:txBody>
                    <a:bodyPr/>
                    <a:lstStyle/>
                    <a:p>
                      <a:r>
                        <a:rPr sz="1100" b="1">
                          <a:solidFill>
                            <a:srgbClr val="FFFFFF"/>
                          </a:solidFill>
                          <a:latin typeface="Calibri"/>
                        </a:rPr>
                        <a:t>Class</a:t>
                      </a:r>
                    </a:p>
                  </a:txBody>
                  <a:tcPr>
                    <a:solidFill>
                      <a:srgbClr val="4F46E5"/>
                    </a:solidFill>
                  </a:tcPr>
                </a:tc>
                <a:tc>
                  <a:txBody>
                    <a:bodyPr/>
                    <a:lstStyle/>
                    <a:p>
                      <a:r>
                        <a:rPr sz="1100" b="1">
                          <a:solidFill>
                            <a:srgbClr val="FFFFFF"/>
                          </a:solidFill>
                          <a:latin typeface="Calibri"/>
                        </a:rPr>
                        <a:t>Shape</a:t>
                      </a:r>
                    </a:p>
                  </a:txBody>
                  <a:tcPr>
                    <a:solidFill>
                      <a:srgbClr val="4F46E5"/>
                    </a:solidFill>
                  </a:tcPr>
                </a:tc>
                <a:tc>
                  <a:txBody>
                    <a:bodyPr/>
                    <a:lstStyle/>
                    <a:p>
                      <a:r>
                        <a:rPr sz="1100" b="1">
                          <a:solidFill>
                            <a:srgbClr val="FFFFFF"/>
                          </a:solidFill>
                          <a:latin typeface="Calibri"/>
                        </a:rPr>
                        <a:t>Why this shape</a:t>
                      </a:r>
                    </a:p>
                  </a:txBody>
                  <a:tcPr>
                    <a:solidFill>
                      <a:srgbClr val="4F46E5"/>
                    </a:solidFill>
                  </a:tcPr>
                </a:tc>
              </a:tr>
              <a:tr h="365760">
                <a:tc>
                  <a:txBody>
                    <a:bodyPr/>
                    <a:lstStyle/>
                    <a:p>
                      <a:r>
                        <a:rPr sz="1050" b="1">
                          <a:solidFill>
                            <a:srgbClr val="171A33"/>
                          </a:solidFill>
                          <a:latin typeface="Calibri"/>
                        </a:rPr>
                        <a:t>Truss stem / vine</a:t>
                      </a:r>
                    </a:p>
                  </a:txBody>
                  <a:tcPr>
                    <a:solidFill>
                      <a:srgbClr val="FFFFFF"/>
                    </a:solidFill>
                  </a:tcPr>
                </a:tc>
                <a:tc>
                  <a:txBody>
                    <a:bodyPr/>
                    <a:lstStyle/>
                    <a:p>
                      <a:r>
                        <a:rPr sz="1050" b="0">
                          <a:solidFill>
                            <a:srgbClr val="171A33"/>
                          </a:solidFill>
                          <a:latin typeface="Calibri"/>
                        </a:rPr>
                        <a:t>polyline</a:t>
                      </a:r>
                    </a:p>
                  </a:txBody>
                  <a:tcPr>
                    <a:solidFill>
                      <a:srgbClr val="FFFFFF"/>
                    </a:solidFill>
                  </a:tcPr>
                </a:tc>
                <a:tc>
                  <a:txBody>
                    <a:bodyPr/>
                    <a:lstStyle/>
                    <a:p>
                      <a:r>
                        <a:rPr sz="1050" b="0">
                          <a:solidFill>
                            <a:srgbClr val="171A33"/>
                          </a:solidFill>
                          <a:latin typeface="Calibri"/>
                        </a:rPr>
                        <a:t>Stem is a thin curved structure; a polyline captures path and branch order for snipping.</a:t>
                      </a:r>
                    </a:p>
                  </a:txBody>
                  <a:tcPr>
                    <a:solidFill>
                      <a:srgbClr val="FFFFFF"/>
                    </a:solidFill>
                  </a:tcPr>
                </a:tc>
              </a:tr>
              <a:tr h="365760">
                <a:tc>
                  <a:txBody>
                    <a:bodyPr/>
                    <a:lstStyle/>
                    <a:p>
                      <a:r>
                        <a:rPr sz="1050" b="1">
                          <a:solidFill>
                            <a:srgbClr val="171A33"/>
                          </a:solidFill>
                          <a:latin typeface="Calibri"/>
                        </a:rPr>
                        <a:t>Snip point</a:t>
                      </a:r>
                    </a:p>
                  </a:txBody>
                  <a:tcPr>
                    <a:solidFill>
                      <a:srgbClr val="EEEDFB"/>
                    </a:solidFill>
                  </a:tcPr>
                </a:tc>
                <a:tc>
                  <a:txBody>
                    <a:bodyPr/>
                    <a:lstStyle/>
                    <a:p>
                      <a:r>
                        <a:rPr sz="1050" b="0">
                          <a:solidFill>
                            <a:srgbClr val="171A33"/>
                          </a:solidFill>
                          <a:latin typeface="Calibri"/>
                        </a:rPr>
                        <a:t>keypoint</a:t>
                      </a:r>
                    </a:p>
                  </a:txBody>
                  <a:tcPr>
                    <a:solidFill>
                      <a:srgbClr val="EEEDFB"/>
                    </a:solidFill>
                  </a:tcPr>
                </a:tc>
                <a:tc>
                  <a:txBody>
                    <a:bodyPr/>
                    <a:lstStyle/>
                    <a:p>
                      <a:r>
                        <a:rPr sz="1050" b="0">
                          <a:solidFill>
                            <a:srgbClr val="171A33"/>
                          </a:solidFill>
                          <a:latin typeface="Calibri"/>
                        </a:rPr>
                        <a:t>The exact cut location the gripper and cutter must target.</a:t>
                      </a:r>
                    </a:p>
                  </a:txBody>
                  <a:tcPr>
                    <a:solidFill>
                      <a:srgbClr val="EEEDFB"/>
                    </a:solidFill>
                  </a:tcPr>
                </a:tc>
              </a:tr>
              <a:tr h="365760">
                <a:tc>
                  <a:txBody>
                    <a:bodyPr/>
                    <a:lstStyle/>
                    <a:p>
                      <a:r>
                        <a:rPr sz="1050" b="1">
                          <a:solidFill>
                            <a:srgbClr val="171A33"/>
                          </a:solidFill>
                          <a:latin typeface="Calibri"/>
                        </a:rPr>
                        <a:t>Individual fruit (tomato/berry)</a:t>
                      </a:r>
                    </a:p>
                  </a:txBody>
                  <a:tcPr>
                    <a:solidFill>
                      <a:srgbClr val="FFFFFF"/>
                    </a:solidFill>
                  </a:tcPr>
                </a:tc>
                <a:tc>
                  <a:txBody>
                    <a:bodyPr/>
                    <a:lstStyle/>
                    <a:p>
                      <a:r>
                        <a:rPr sz="1050" b="0">
                          <a:solidFill>
                            <a:srgbClr val="171A33"/>
                          </a:solidFill>
                          <a:latin typeface="Calibri"/>
                        </a:rPr>
                        <a:t>bitmask</a:t>
                      </a:r>
                    </a:p>
                  </a:txBody>
                  <a:tcPr>
                    <a:solidFill>
                      <a:srgbClr val="FFFFFF"/>
                    </a:solidFill>
                  </a:tcPr>
                </a:tc>
                <a:tc>
                  <a:txBody>
                    <a:bodyPr/>
                    <a:lstStyle/>
                    <a:p>
                      <a:r>
                        <a:rPr sz="1050" b="0">
                          <a:solidFill>
                            <a:srgbClr val="171A33"/>
                          </a:solidFill>
                          <a:latin typeface="Calibri"/>
                        </a:rPr>
                        <a:t>Per-fruit pixel masks feed size and weight estimation on touching, overlapping produce.</a:t>
                      </a:r>
                    </a:p>
                  </a:txBody>
                  <a:tcPr>
                    <a:solidFill>
                      <a:srgbClr val="FFFFFF"/>
                    </a:solidFill>
                  </a:tcPr>
                </a:tc>
              </a:tr>
              <a:tr h="365760">
                <a:tc>
                  <a:txBody>
                    <a:bodyPr/>
                    <a:lstStyle/>
                    <a:p>
                      <a:r>
                        <a:rPr sz="1050" b="1">
                          <a:solidFill>
                            <a:srgbClr val="171A33"/>
                          </a:solidFill>
                          <a:latin typeface="Calibri"/>
                        </a:rPr>
                        <a:t>Calyx / stalk attachment</a:t>
                      </a:r>
                    </a:p>
                  </a:txBody>
                  <a:tcPr>
                    <a:solidFill>
                      <a:srgbClr val="EEEDFB"/>
                    </a:solidFill>
                  </a:tcPr>
                </a:tc>
                <a:tc>
                  <a:txBody>
                    <a:bodyPr/>
                    <a:lstStyle/>
                    <a:p>
                      <a:r>
                        <a:rPr sz="1050" b="0">
                          <a:solidFill>
                            <a:srgbClr val="171A33"/>
                          </a:solidFill>
                          <a:latin typeface="Calibri"/>
                        </a:rPr>
                        <a:t>keypoint</a:t>
                      </a:r>
                    </a:p>
                  </a:txBody>
                  <a:tcPr>
                    <a:solidFill>
                      <a:srgbClr val="EEEDFB"/>
                    </a:solidFill>
                  </a:tcPr>
                </a:tc>
                <a:tc>
                  <a:txBody>
                    <a:bodyPr/>
                    <a:lstStyle/>
                    <a:p>
                      <a:r>
                        <a:rPr sz="1050" b="0">
                          <a:solidFill>
                            <a:srgbClr val="171A33"/>
                          </a:solidFill>
                          <a:latin typeface="Calibri"/>
                        </a:rPr>
                        <a:t>Anchor for orientation and for judging whether a fruit detaches cleanly.</a:t>
                      </a:r>
                    </a:p>
                  </a:txBody>
                  <a:tcPr>
                    <a:solidFill>
                      <a:srgbClr val="EEEDFB"/>
                    </a:solidFill>
                  </a:tcPr>
                </a:tc>
              </a:tr>
              <a:tr h="365760">
                <a:tc>
                  <a:txBody>
                    <a:bodyPr/>
                    <a:lstStyle/>
                    <a:p>
                      <a:r>
                        <a:rPr sz="1050" b="1">
                          <a:solidFill>
                            <a:srgbClr val="171A33"/>
                          </a:solidFill>
                          <a:latin typeface="Calibri"/>
                        </a:rPr>
                        <a:t>Grasp region on fruit</a:t>
                      </a:r>
                    </a:p>
                  </a:txBody>
                  <a:tcPr>
                    <a:solidFill>
                      <a:srgbClr val="FFFFFF"/>
                    </a:solidFill>
                  </a:tcPr>
                </a:tc>
                <a:tc>
                  <a:txBody>
                    <a:bodyPr/>
                    <a:lstStyle/>
                    <a:p>
                      <a:r>
                        <a:rPr sz="1050" b="0">
                          <a:solidFill>
                            <a:srgbClr val="171A33"/>
                          </a:solidFill>
                          <a:latin typeface="Calibri"/>
                        </a:rPr>
                        <a:t>polygon</a:t>
                      </a:r>
                    </a:p>
                  </a:txBody>
                  <a:tcPr>
                    <a:solidFill>
                      <a:srgbClr val="FFFFFF"/>
                    </a:solidFill>
                  </a:tcPr>
                </a:tc>
                <a:tc>
                  <a:txBody>
                    <a:bodyPr/>
                    <a:lstStyle/>
                    <a:p>
                      <a:r>
                        <a:rPr sz="1050" b="0">
                          <a:solidFill>
                            <a:srgbClr val="171A33"/>
                          </a:solidFill>
                          <a:latin typeface="Calibri"/>
                        </a:rPr>
                        <a:t>Links vision to electronic-skin force targets for bruise-free handling.</a:t>
                      </a:r>
                    </a:p>
                  </a:txBody>
                  <a:tcPr>
                    <a:solidFill>
                      <a:srgbClr val="FFFFFF"/>
                    </a:solidFill>
                  </a:tcPr>
                </a:tc>
              </a:tr>
              <a:tr h="365760">
                <a:tc>
                  <a:txBody>
                    <a:bodyPr/>
                    <a:lstStyle/>
                    <a:p>
                      <a:r>
                        <a:rPr sz="1050" b="1">
                          <a:solidFill>
                            <a:srgbClr val="171A33"/>
                          </a:solidFill>
                          <a:latin typeface="Calibri"/>
                        </a:rPr>
                        <a:t>Defect (bruise, split, mould, rot)</a:t>
                      </a:r>
                    </a:p>
                  </a:txBody>
                  <a:tcPr>
                    <a:solidFill>
                      <a:srgbClr val="EEEDFB"/>
                    </a:solidFill>
                  </a:tcPr>
                </a:tc>
                <a:tc>
                  <a:txBody>
                    <a:bodyPr/>
                    <a:lstStyle/>
                    <a:p>
                      <a:r>
                        <a:rPr sz="1050" b="0">
                          <a:solidFill>
                            <a:srgbClr val="171A33"/>
                          </a:solidFill>
                          <a:latin typeface="Calibri"/>
                        </a:rPr>
                        <a:t>polygon</a:t>
                      </a:r>
                    </a:p>
                  </a:txBody>
                  <a:tcPr>
                    <a:solidFill>
                      <a:srgbClr val="EEEDFB"/>
                    </a:solidFill>
                  </a:tcPr>
                </a:tc>
                <a:tc>
                  <a:txBody>
                    <a:bodyPr/>
                    <a:lstStyle/>
                    <a:p>
                      <a:r>
                        <a:rPr sz="1050" b="0">
                          <a:solidFill>
                            <a:srgbClr val="171A33"/>
                          </a:solidFill>
                          <a:latin typeface="Calibri"/>
                        </a:rPr>
                        <a:t>Irregular boundaries; drives reject decisions and retailer quality specs.</a:t>
                      </a:r>
                    </a:p>
                  </a:txBody>
                  <a:tcPr>
                    <a:solidFill>
                      <a:srgbClr val="EEEDFB"/>
                    </a:solidFill>
                  </a:tcPr>
                </a:tc>
              </a:tr>
              <a:tr h="365760">
                <a:tc>
                  <a:txBody>
                    <a:bodyPr/>
                    <a:lstStyle/>
                    <a:p>
                      <a:r>
                        <a:rPr sz="1050" b="1">
                          <a:solidFill>
                            <a:srgbClr val="171A33"/>
                          </a:solidFill>
                          <a:latin typeface="Calibri"/>
                        </a:rPr>
                        <a:t>Punnet / tray and fill state</a:t>
                      </a:r>
                    </a:p>
                  </a:txBody>
                  <a:tcPr>
                    <a:solidFill>
                      <a:srgbClr val="FFFFFF"/>
                    </a:solidFill>
                  </a:tcPr>
                </a:tc>
                <a:tc>
                  <a:txBody>
                    <a:bodyPr/>
                    <a:lstStyle/>
                    <a:p>
                      <a:r>
                        <a:rPr sz="1050" b="0">
                          <a:solidFill>
                            <a:srgbClr val="171A33"/>
                          </a:solidFill>
                          <a:latin typeface="Calibri"/>
                        </a:rPr>
                        <a:t>bounding box</a:t>
                      </a:r>
                    </a:p>
                  </a:txBody>
                  <a:tcPr>
                    <a:solidFill>
                      <a:srgbClr val="FFFFFF"/>
                    </a:solidFill>
                  </a:tcPr>
                </a:tc>
                <a:tc>
                  <a:txBody>
                    <a:bodyPr/>
                    <a:lstStyle/>
                    <a:p>
                      <a:r>
                        <a:rPr sz="1050" b="0">
                          <a:solidFill>
                            <a:srgbClr val="171A33"/>
                          </a:solidFill>
                          <a:latin typeface="Calibri"/>
                        </a:rPr>
                        <a:t>Tracks target container and packed weight progress on the line.</a:t>
                      </a:r>
                    </a:p>
                  </a:txBody>
                  <a:tcPr>
                    <a:solidFill>
                      <a:srgbClr val="FFFFFF"/>
                    </a:solidFill>
                  </a:tcPr>
                </a:tc>
              </a:tr>
              <a:tr h="365760">
                <a:tc>
                  <a:txBody>
                    <a:bodyPr/>
                    <a:lstStyle/>
                    <a:p>
                      <a:r>
                        <a:rPr sz="1050" b="1">
                          <a:solidFill>
                            <a:srgbClr val="171A33"/>
                          </a:solidFill>
                          <a:latin typeface="Calibri"/>
                        </a:rPr>
                        <a:t>Frame condition (cultivar, site, lighting, occlusion, wet)</a:t>
                      </a:r>
                    </a:p>
                  </a:txBody>
                  <a:tcPr>
                    <a:solidFill>
                      <a:srgbClr val="EEEDFB"/>
                    </a:solidFill>
                  </a:tcPr>
                </a:tc>
                <a:tc>
                  <a:txBody>
                    <a:bodyPr/>
                    <a:lstStyle/>
                    <a:p>
                      <a:r>
                        <a:rPr sz="1050" b="0">
                          <a:solidFill>
                            <a:srgbClr val="171A33"/>
                          </a:solidFill>
                          <a:latin typeface="Calibri"/>
                        </a:rPr>
                        <a:t>frame classification</a:t>
                      </a:r>
                    </a:p>
                  </a:txBody>
                  <a:tcPr>
                    <a:solidFill>
                      <a:srgbClr val="EEEDFB"/>
                    </a:solidFill>
                  </a:tcPr>
                </a:tc>
                <a:tc>
                  <a:txBody>
                    <a:bodyPr/>
                    <a:lstStyle/>
                    <a:p>
                      <a:r>
                        <a:rPr sz="1050" b="0">
                          <a:solidFill>
                            <a:srgbClr val="171A33"/>
                          </a:solidFill>
                          <a:latin typeface="Calibri"/>
                        </a:rPr>
                        <a:t>Lets them slice model performance by packhouse and produce type in Active.</a:t>
                      </a:r>
                    </a:p>
                  </a:txBody>
                  <a:tcPr>
                    <a:solidFill>
                      <a:srgbClr val="EEEDFB"/>
                    </a:solidFill>
                  </a:tcPr>
                </a:tc>
              </a:tr>
            </a:tbl>
          </a:graphicData>
        </a:graphic>
      </p:graphicFrame>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11480"/>
            <a:ext cx="10972800" cy="274320"/>
          </a:xfrm>
          <a:prstGeom prst="rect">
            <a:avLst/>
          </a:prstGeom>
          <a:noFill/>
        </p:spPr>
        <p:txBody>
          <a:bodyPr wrap="square" anchor="t" lIns="0" rIns="0" tIns="0" bIns="0">
            <a:spAutoFit/>
          </a:bodyPr>
          <a:lstStyle/>
          <a:p>
            <a:pPr algn="l">
              <a:spcAft>
                <a:spcPts val="400"/>
              </a:spcAft>
            </a:pPr>
            <a:r>
              <a:rPr sz="1000" b="1">
                <a:solidFill>
                  <a:srgbClr val="4F46E5"/>
                </a:solidFill>
                <a:latin typeface="Calibri"/>
              </a:rPr>
              <a:t>WHERE ENCORD FITS</a:t>
            </a:r>
          </a:p>
        </p:txBody>
      </p:sp>
      <p:sp>
        <p:nvSpPr>
          <p:cNvPr id="4" name="TextBox 3"/>
          <p:cNvSpPr txBox="1"/>
          <p:nvPr/>
        </p:nvSpPr>
        <p:spPr>
          <a:xfrm>
            <a:off x="640080" y="685800"/>
            <a:ext cx="10881360" cy="914400"/>
          </a:xfrm>
          <a:prstGeom prst="rect">
            <a:avLst/>
          </a:prstGeom>
          <a:noFill/>
        </p:spPr>
        <p:txBody>
          <a:bodyPr wrap="square" anchor="t" lIns="0" rIns="0" tIns="0" bIns="0">
            <a:spAutoFit/>
          </a:bodyPr>
          <a:lstStyle/>
          <a:p>
            <a:pPr algn="l">
              <a:spcAft>
                <a:spcPts val="400"/>
              </a:spcAft>
            </a:pPr>
            <a:r>
              <a:rPr sz="2600" b="1">
                <a:solidFill>
                  <a:srgbClr val="171A33"/>
                </a:solidFill>
                <a:latin typeface="Calibri"/>
              </a:rPr>
              <a:t>Lead with Annotate then Index, the rest follows</a:t>
            </a:r>
          </a:p>
        </p:txBody>
      </p:sp>
      <p:sp>
        <p:nvSpPr>
          <p:cNvPr id="5" name="TextBox 4"/>
          <p:cNvSpPr txBox="1"/>
          <p:nvPr/>
        </p:nvSpPr>
        <p:spPr>
          <a:xfrm>
            <a:off x="640080" y="6446520"/>
            <a:ext cx="7315200" cy="274320"/>
          </a:xfrm>
          <a:prstGeom prst="rect">
            <a:avLst/>
          </a:prstGeom>
          <a:noFill/>
        </p:spPr>
        <p:txBody>
          <a:bodyPr wrap="square" anchor="t" lIns="0" rIns="0" tIns="0" bIns="0">
            <a:spAutoFit/>
          </a:bodyPr>
          <a:lstStyle/>
          <a:p>
            <a:pPr algn="l">
              <a:spcAft>
                <a:spcPts val="400"/>
              </a:spcAft>
            </a:pPr>
            <a:r>
              <a:rPr sz="900" b="0">
                <a:solidFill>
                  <a:srgbClr val="5D6180"/>
                </a:solidFill>
                <a:latin typeface="Calibri"/>
              </a:rPr>
              <a:t>DRAFT for review  ·  Encord  ·  confidential</a:t>
            </a:r>
          </a:p>
        </p:txBody>
      </p:sp>
      <p:sp>
        <p:nvSpPr>
          <p:cNvPr id="6" name="TextBox 5"/>
          <p:cNvSpPr txBox="1"/>
          <p:nvPr/>
        </p:nvSpPr>
        <p:spPr>
          <a:xfrm>
            <a:off x="11094415" y="6446520"/>
            <a:ext cx="457200" cy="274320"/>
          </a:xfrm>
          <a:prstGeom prst="rect">
            <a:avLst/>
          </a:prstGeom>
          <a:noFill/>
        </p:spPr>
        <p:txBody>
          <a:bodyPr wrap="square" anchor="t" lIns="0" rIns="0" tIns="0" bIns="0">
            <a:spAutoFit/>
          </a:bodyPr>
          <a:lstStyle/>
          <a:p>
            <a:pPr algn="r">
              <a:spcAft>
                <a:spcPts val="400"/>
              </a:spcAft>
            </a:pPr>
            <a:r>
              <a:rPr sz="900" b="0">
                <a:solidFill>
                  <a:srgbClr val="5D6180"/>
                </a:solidFill>
                <a:latin typeface="Calibri"/>
              </a:rPr>
              <a:t>5</a:t>
            </a:r>
          </a:p>
        </p:txBody>
      </p:sp>
      <p:sp>
        <p:nvSpPr>
          <p:cNvPr id="7" name="Rectangle 6"/>
          <p:cNvSpPr/>
          <p:nvPr/>
        </p:nvSpPr>
        <p:spPr>
          <a:xfrm>
            <a:off x="640080" y="1737360"/>
            <a:ext cx="91440" cy="822960"/>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68680" y="1737360"/>
            <a:ext cx="1280160" cy="274320"/>
          </a:xfrm>
          <a:prstGeom prst="rect">
            <a:avLst/>
          </a:prstGeom>
          <a:noFill/>
        </p:spPr>
        <p:txBody>
          <a:bodyPr wrap="square" anchor="t" lIns="0" rIns="0" tIns="0" bIns="0">
            <a:spAutoFit/>
          </a:bodyPr>
          <a:lstStyle/>
          <a:p>
            <a:pPr algn="l">
              <a:spcAft>
                <a:spcPts val="400"/>
              </a:spcAft>
            </a:pPr>
            <a:r>
              <a:rPr sz="1400" b="1">
                <a:solidFill>
                  <a:srgbClr val="171A33"/>
                </a:solidFill>
                <a:latin typeface="Calibri"/>
              </a:rPr>
              <a:t>Annotate</a:t>
            </a:r>
          </a:p>
        </p:txBody>
      </p:sp>
      <p:sp>
        <p:nvSpPr>
          <p:cNvPr id="9" name="TextBox 8"/>
          <p:cNvSpPr txBox="1"/>
          <p:nvPr/>
        </p:nvSpPr>
        <p:spPr>
          <a:xfrm>
            <a:off x="868680" y="2029967"/>
            <a:ext cx="5120640" cy="640080"/>
          </a:xfrm>
          <a:prstGeom prst="rect">
            <a:avLst/>
          </a:prstGeom>
          <a:noFill/>
        </p:spPr>
        <p:txBody>
          <a:bodyPr wrap="square" anchor="t" lIns="0" rIns="0" tIns="0" bIns="0">
            <a:spAutoFit/>
          </a:bodyPr>
          <a:lstStyle/>
          <a:p>
            <a:pPr algn="l">
              <a:spcAft>
                <a:spcPts val="400"/>
              </a:spcAft>
            </a:pPr>
            <a:r>
              <a:rPr sz="1050" b="0">
                <a:solidFill>
                  <a:srgbClr val="5D6180"/>
                </a:solidFill>
                <a:latin typeface="Calibri"/>
              </a:rPr>
              <a:t>Label video, 3D and images with SAM auto-segmentation and tracking. Ontology, review workflow, managed workforce if needed.</a:t>
            </a:r>
          </a:p>
        </p:txBody>
      </p:sp>
      <p:sp>
        <p:nvSpPr>
          <p:cNvPr id="10" name="Rectangle 9"/>
          <p:cNvSpPr/>
          <p:nvPr/>
        </p:nvSpPr>
        <p:spPr>
          <a:xfrm>
            <a:off x="640080" y="2743200"/>
            <a:ext cx="91440" cy="822960"/>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8680" y="2743200"/>
            <a:ext cx="1280160" cy="274320"/>
          </a:xfrm>
          <a:prstGeom prst="rect">
            <a:avLst/>
          </a:prstGeom>
          <a:noFill/>
        </p:spPr>
        <p:txBody>
          <a:bodyPr wrap="square" anchor="t" lIns="0" rIns="0" tIns="0" bIns="0">
            <a:spAutoFit/>
          </a:bodyPr>
          <a:lstStyle/>
          <a:p>
            <a:pPr algn="l">
              <a:spcAft>
                <a:spcPts val="400"/>
              </a:spcAft>
            </a:pPr>
            <a:r>
              <a:rPr sz="1400" b="1">
                <a:solidFill>
                  <a:srgbClr val="171A33"/>
                </a:solidFill>
                <a:latin typeface="Calibri"/>
              </a:rPr>
              <a:t>Index</a:t>
            </a:r>
          </a:p>
        </p:txBody>
      </p:sp>
      <p:sp>
        <p:nvSpPr>
          <p:cNvPr id="12" name="TextBox 11"/>
          <p:cNvSpPr txBox="1"/>
          <p:nvPr/>
        </p:nvSpPr>
        <p:spPr>
          <a:xfrm>
            <a:off x="868680" y="3035808"/>
            <a:ext cx="5120640" cy="640080"/>
          </a:xfrm>
          <a:prstGeom prst="rect">
            <a:avLst/>
          </a:prstGeom>
          <a:noFill/>
        </p:spPr>
        <p:txBody>
          <a:bodyPr wrap="square" anchor="t" lIns="0" rIns="0" tIns="0" bIns="0">
            <a:spAutoFit/>
          </a:bodyPr>
          <a:lstStyle/>
          <a:p>
            <a:pPr algn="l">
              <a:spcAft>
                <a:spcPts val="400"/>
              </a:spcAft>
            </a:pPr>
            <a:r>
              <a:rPr sz="1050" b="0">
                <a:solidFill>
                  <a:srgbClr val="5D6180"/>
                </a:solidFill>
                <a:latin typeface="Calibri"/>
              </a:rPr>
              <a:t>Register the data where it already lives. Embeddings and quality metrics on every frame. Find the frames worth labelling; drop the repeats.</a:t>
            </a:r>
          </a:p>
        </p:txBody>
      </p:sp>
      <p:sp>
        <p:nvSpPr>
          <p:cNvPr id="13" name="Rectangle 12"/>
          <p:cNvSpPr/>
          <p:nvPr/>
        </p:nvSpPr>
        <p:spPr>
          <a:xfrm>
            <a:off x="640080" y="3749039"/>
            <a:ext cx="91440" cy="822960"/>
          </a:xfrm>
          <a:prstGeom prst="rect">
            <a:avLst/>
          </a:prstGeom>
          <a:solidFill>
            <a:srgbClr val="DFE2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68680" y="3749039"/>
            <a:ext cx="1280160" cy="274320"/>
          </a:xfrm>
          <a:prstGeom prst="rect">
            <a:avLst/>
          </a:prstGeom>
          <a:noFill/>
        </p:spPr>
        <p:txBody>
          <a:bodyPr wrap="square" anchor="t" lIns="0" rIns="0" tIns="0" bIns="0">
            <a:spAutoFit/>
          </a:bodyPr>
          <a:lstStyle/>
          <a:p>
            <a:pPr algn="l">
              <a:spcAft>
                <a:spcPts val="400"/>
              </a:spcAft>
            </a:pPr>
            <a:r>
              <a:rPr sz="1400" b="1">
                <a:solidFill>
                  <a:srgbClr val="171A33"/>
                </a:solidFill>
                <a:latin typeface="Calibri"/>
              </a:rPr>
              <a:t>Active</a:t>
            </a:r>
          </a:p>
        </p:txBody>
      </p:sp>
      <p:sp>
        <p:nvSpPr>
          <p:cNvPr id="15" name="TextBox 14"/>
          <p:cNvSpPr txBox="1"/>
          <p:nvPr/>
        </p:nvSpPr>
        <p:spPr>
          <a:xfrm>
            <a:off x="868680" y="4041648"/>
            <a:ext cx="5120640" cy="640080"/>
          </a:xfrm>
          <a:prstGeom prst="rect">
            <a:avLst/>
          </a:prstGeom>
          <a:noFill/>
        </p:spPr>
        <p:txBody>
          <a:bodyPr wrap="square" anchor="t" lIns="0" rIns="0" tIns="0" bIns="0">
            <a:spAutoFit/>
          </a:bodyPr>
          <a:lstStyle/>
          <a:p>
            <a:pPr algn="l">
              <a:spcAft>
                <a:spcPts val="400"/>
              </a:spcAft>
            </a:pPr>
            <a:r>
              <a:rPr sz="1050" b="0">
                <a:solidFill>
                  <a:srgbClr val="5D6180"/>
                </a:solidFill>
                <a:latin typeface="Calibri"/>
              </a:rPr>
              <a:t>Import predictions. Accuracy by class, site and condition. Find label errors. Know exactly what to label next.</a:t>
            </a:r>
          </a:p>
        </p:txBody>
      </p:sp>
      <p:sp>
        <p:nvSpPr>
          <p:cNvPr id="16" name="Rectangle 15"/>
          <p:cNvSpPr/>
          <p:nvPr/>
        </p:nvSpPr>
        <p:spPr>
          <a:xfrm>
            <a:off x="640080" y="4754879"/>
            <a:ext cx="91440" cy="822960"/>
          </a:xfrm>
          <a:prstGeom prst="rect">
            <a:avLst/>
          </a:prstGeom>
          <a:solidFill>
            <a:srgbClr val="DFE2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68680" y="4754879"/>
            <a:ext cx="1280160" cy="274320"/>
          </a:xfrm>
          <a:prstGeom prst="rect">
            <a:avLst/>
          </a:prstGeom>
          <a:noFill/>
        </p:spPr>
        <p:txBody>
          <a:bodyPr wrap="square" anchor="t" lIns="0" rIns="0" tIns="0" bIns="0">
            <a:spAutoFit/>
          </a:bodyPr>
          <a:lstStyle/>
          <a:p>
            <a:pPr algn="l">
              <a:spcAft>
                <a:spcPts val="400"/>
              </a:spcAft>
            </a:pPr>
            <a:r>
              <a:rPr sz="1400" b="1">
                <a:solidFill>
                  <a:srgbClr val="171A33"/>
                </a:solidFill>
                <a:latin typeface="Calibri"/>
              </a:rPr>
              <a:t>Agents</a:t>
            </a:r>
          </a:p>
        </p:txBody>
      </p:sp>
      <p:sp>
        <p:nvSpPr>
          <p:cNvPr id="18" name="TextBox 17"/>
          <p:cNvSpPr txBox="1"/>
          <p:nvPr/>
        </p:nvSpPr>
        <p:spPr>
          <a:xfrm>
            <a:off x="868680" y="5047488"/>
            <a:ext cx="5120640" cy="640080"/>
          </a:xfrm>
          <a:prstGeom prst="rect">
            <a:avLst/>
          </a:prstGeom>
          <a:noFill/>
        </p:spPr>
        <p:txBody>
          <a:bodyPr wrap="square" anchor="t" lIns="0" rIns="0" tIns="0" bIns="0">
            <a:spAutoFit/>
          </a:bodyPr>
          <a:lstStyle/>
          <a:p>
            <a:pPr algn="l">
              <a:spcAft>
                <a:spcPts val="400"/>
              </a:spcAft>
            </a:pPr>
            <a:r>
              <a:rPr sz="1050" b="0">
                <a:solidFill>
                  <a:srgbClr val="5D6180"/>
                </a:solidFill>
                <a:latin typeface="Calibri"/>
              </a:rPr>
              <a:t>Run your own model as a workflow stage to pre-label and QA, so people adjudicate rather than draw.</a:t>
            </a:r>
          </a:p>
        </p:txBody>
      </p:sp>
      <p:sp>
        <p:nvSpPr>
          <p:cNvPr id="19" name="Rectangle 18"/>
          <p:cNvSpPr/>
          <p:nvPr/>
        </p:nvSpPr>
        <p:spPr>
          <a:xfrm>
            <a:off x="6583680" y="1737360"/>
            <a:ext cx="4937760" cy="4023360"/>
          </a:xfrm>
          <a:prstGeom prst="rect">
            <a:avLst/>
          </a:prstGeom>
          <a:solidFill>
            <a:srgbClr val="EEED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583680" y="1737360"/>
            <a:ext cx="4937760" cy="73152"/>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812280" y="1965960"/>
            <a:ext cx="4572000" cy="274320"/>
          </a:xfrm>
          <a:prstGeom prst="rect">
            <a:avLst/>
          </a:prstGeom>
          <a:noFill/>
        </p:spPr>
        <p:txBody>
          <a:bodyPr wrap="square" anchor="t" lIns="0" rIns="0" tIns="0" bIns="0">
            <a:spAutoFit/>
          </a:bodyPr>
          <a:lstStyle/>
          <a:p>
            <a:pPr algn="l">
              <a:spcAft>
                <a:spcPts val="400"/>
              </a:spcAft>
            </a:pPr>
            <a:r>
              <a:rPr sz="1000" b="1">
                <a:solidFill>
                  <a:srgbClr val="4F46E5"/>
                </a:solidFill>
                <a:latin typeface="Calibri"/>
              </a:rPr>
              <a:t>CLOSEST CASE STUDY</a:t>
            </a:r>
          </a:p>
        </p:txBody>
      </p:sp>
      <p:sp>
        <p:nvSpPr>
          <p:cNvPr id="22" name="TextBox 21"/>
          <p:cNvSpPr txBox="1"/>
          <p:nvPr/>
        </p:nvSpPr>
        <p:spPr>
          <a:xfrm>
            <a:off x="6812280" y="2240280"/>
            <a:ext cx="4572000" cy="457200"/>
          </a:xfrm>
          <a:prstGeom prst="rect">
            <a:avLst/>
          </a:prstGeom>
          <a:noFill/>
        </p:spPr>
        <p:txBody>
          <a:bodyPr wrap="square" anchor="t" lIns="0" rIns="0" tIns="0" bIns="0">
            <a:spAutoFit/>
          </a:bodyPr>
          <a:lstStyle/>
          <a:p>
            <a:pPr algn="l">
              <a:spcAft>
                <a:spcPts val="400"/>
              </a:spcAft>
            </a:pPr>
            <a:r>
              <a:rPr sz="2000" b="1">
                <a:solidFill>
                  <a:srgbClr val="171A33"/>
                </a:solidFill>
                <a:latin typeface="Calibri"/>
              </a:rPr>
              <a:t>Automotus</a:t>
            </a:r>
          </a:p>
        </p:txBody>
      </p:sp>
      <p:sp>
        <p:nvSpPr>
          <p:cNvPr id="23" name="TextBox 22"/>
          <p:cNvSpPr txBox="1"/>
          <p:nvPr/>
        </p:nvSpPr>
        <p:spPr>
          <a:xfrm>
            <a:off x="6812280" y="2743200"/>
            <a:ext cx="4572000" cy="822960"/>
          </a:xfrm>
          <a:prstGeom prst="rect">
            <a:avLst/>
          </a:prstGeom>
          <a:noFill/>
        </p:spPr>
        <p:txBody>
          <a:bodyPr wrap="square" anchor="t" lIns="0" rIns="0" tIns="0" bIns="0">
            <a:spAutoFit/>
          </a:bodyPr>
          <a:lstStyle/>
          <a:p>
            <a:pPr algn="l">
              <a:spcAft>
                <a:spcPts val="400"/>
              </a:spcAft>
            </a:pPr>
            <a:r>
              <a:rPr sz="1400" b="1">
                <a:solidFill>
                  <a:srgbClr val="4F46E5"/>
                </a:solidFill>
                <a:latin typeface="Calibri"/>
              </a:rPr>
              <a:t>+20% mAP, 35% smaller dataset, 33% lower labelling cost after curating with Encord.</a:t>
            </a:r>
          </a:p>
        </p:txBody>
      </p:sp>
      <p:sp>
        <p:nvSpPr>
          <p:cNvPr id="24" name="TextBox 23"/>
          <p:cNvSpPr txBox="1"/>
          <p:nvPr/>
        </p:nvSpPr>
        <p:spPr>
          <a:xfrm>
            <a:off x="6812280" y="3566160"/>
            <a:ext cx="4572000" cy="2103120"/>
          </a:xfrm>
          <a:prstGeom prst="rect">
            <a:avLst/>
          </a:prstGeom>
          <a:noFill/>
        </p:spPr>
        <p:txBody>
          <a:bodyPr wrap="square" anchor="t" lIns="0" rIns="0" tIns="0" bIns="0">
            <a:spAutoFit/>
          </a:bodyPr>
          <a:lstStyle/>
          <a:p>
            <a:pPr algn="l">
              <a:spcAft>
                <a:spcPts val="400"/>
              </a:spcAft>
            </a:pPr>
            <a:r>
              <a:rPr sz="1100" b="0">
                <a:solidFill>
                  <a:srgbClr val="171A33"/>
                </a:solidFill>
                <a:latin typeface="Calibri"/>
              </a:rPr>
              <a:t>Fixed cameras producing a continuous, highly repetitive stream of a narrow scene, exactly like an overhead conveyor view. The win came from curating which frames to label rather than labelling more, which is the shape of Wootzano's problem when onboarding each new packhouse.</a:t>
            </a:r>
          </a:p>
        </p:txBody>
      </p:sp>
      <p:sp>
        <p:nvSpPr>
          <p:cNvPr id="25" name="TextBox 24"/>
          <p:cNvSpPr txBox="1"/>
          <p:nvPr/>
        </p:nvSpPr>
        <p:spPr>
          <a:xfrm>
            <a:off x="640080" y="5943600"/>
            <a:ext cx="10972800" cy="365760"/>
          </a:xfrm>
          <a:prstGeom prst="rect">
            <a:avLst/>
          </a:prstGeom>
          <a:noFill/>
        </p:spPr>
        <p:txBody>
          <a:bodyPr wrap="square" anchor="t" lIns="0" rIns="0" tIns="0" bIns="0">
            <a:spAutoFit/>
          </a:bodyPr>
          <a:lstStyle/>
          <a:p>
            <a:pPr algn="l">
              <a:spcAft>
                <a:spcPts val="400"/>
              </a:spcAft>
            </a:pPr>
            <a:r>
              <a:rPr sz="1000" b="0">
                <a:solidFill>
                  <a:srgbClr val="5D6180"/>
                </a:solidFill>
                <a:latin typeface="Calibri"/>
              </a:rPr>
              <a:t>Data stays in your bucket. SOC2 Type II, HIPAA, GDPR. Everything the UI does, the SDK does.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11480"/>
            <a:ext cx="10972800" cy="274320"/>
          </a:xfrm>
          <a:prstGeom prst="rect">
            <a:avLst/>
          </a:prstGeom>
          <a:noFill/>
        </p:spPr>
        <p:txBody>
          <a:bodyPr wrap="square" anchor="t" lIns="0" rIns="0" tIns="0" bIns="0">
            <a:spAutoFit/>
          </a:bodyPr>
          <a:lstStyle/>
          <a:p>
            <a:pPr algn="l">
              <a:spcAft>
                <a:spcPts val="400"/>
              </a:spcAft>
            </a:pPr>
            <a:r>
              <a:rPr sz="1000" b="1">
                <a:solidFill>
                  <a:srgbClr val="4F46E5"/>
                </a:solidFill>
                <a:latin typeface="Calibri"/>
              </a:rPr>
              <a:t>PROPOSED NEXT STEP</a:t>
            </a:r>
          </a:p>
        </p:txBody>
      </p:sp>
      <p:sp>
        <p:nvSpPr>
          <p:cNvPr id="4" name="TextBox 3"/>
          <p:cNvSpPr txBox="1"/>
          <p:nvPr/>
        </p:nvSpPr>
        <p:spPr>
          <a:xfrm>
            <a:off x="640080" y="685800"/>
            <a:ext cx="10881360" cy="914400"/>
          </a:xfrm>
          <a:prstGeom prst="rect">
            <a:avLst/>
          </a:prstGeom>
          <a:noFill/>
        </p:spPr>
        <p:txBody>
          <a:bodyPr wrap="square" anchor="t" lIns="0" rIns="0" tIns="0" bIns="0">
            <a:spAutoFit/>
          </a:bodyPr>
          <a:lstStyle/>
          <a:p>
            <a:pPr algn="l">
              <a:spcAft>
                <a:spcPts val="400"/>
              </a:spcAft>
            </a:pPr>
            <a:r>
              <a:rPr sz="2600" b="1">
                <a:solidFill>
                  <a:srgbClr val="171A33"/>
                </a:solidFill>
                <a:latin typeface="Calibri"/>
              </a:rPr>
              <a:t>A two-week proof of value on one site's data</a:t>
            </a:r>
          </a:p>
        </p:txBody>
      </p:sp>
      <p:sp>
        <p:nvSpPr>
          <p:cNvPr id="5" name="TextBox 4"/>
          <p:cNvSpPr txBox="1"/>
          <p:nvPr/>
        </p:nvSpPr>
        <p:spPr>
          <a:xfrm>
            <a:off x="640080" y="6446520"/>
            <a:ext cx="7315200" cy="274320"/>
          </a:xfrm>
          <a:prstGeom prst="rect">
            <a:avLst/>
          </a:prstGeom>
          <a:noFill/>
        </p:spPr>
        <p:txBody>
          <a:bodyPr wrap="square" anchor="t" lIns="0" rIns="0" tIns="0" bIns="0">
            <a:spAutoFit/>
          </a:bodyPr>
          <a:lstStyle/>
          <a:p>
            <a:pPr algn="l">
              <a:spcAft>
                <a:spcPts val="400"/>
              </a:spcAft>
            </a:pPr>
            <a:r>
              <a:rPr sz="900" b="0">
                <a:solidFill>
                  <a:srgbClr val="5D6180"/>
                </a:solidFill>
                <a:latin typeface="Calibri"/>
              </a:rPr>
              <a:t>DRAFT for review  ·  Encord  ·  confidential</a:t>
            </a:r>
          </a:p>
        </p:txBody>
      </p:sp>
      <p:sp>
        <p:nvSpPr>
          <p:cNvPr id="6" name="TextBox 5"/>
          <p:cNvSpPr txBox="1"/>
          <p:nvPr/>
        </p:nvSpPr>
        <p:spPr>
          <a:xfrm>
            <a:off x="11094415" y="6446520"/>
            <a:ext cx="457200" cy="274320"/>
          </a:xfrm>
          <a:prstGeom prst="rect">
            <a:avLst/>
          </a:prstGeom>
          <a:noFill/>
        </p:spPr>
        <p:txBody>
          <a:bodyPr wrap="square" anchor="t" lIns="0" rIns="0" tIns="0" bIns="0">
            <a:spAutoFit/>
          </a:bodyPr>
          <a:lstStyle/>
          <a:p>
            <a:pPr algn="r">
              <a:spcAft>
                <a:spcPts val="400"/>
              </a:spcAft>
            </a:pPr>
            <a:r>
              <a:rPr sz="900" b="0">
                <a:solidFill>
                  <a:srgbClr val="5D6180"/>
                </a:solidFill>
                <a:latin typeface="Calibri"/>
              </a:rPr>
              <a:t>6</a:t>
            </a:r>
          </a:p>
        </p:txBody>
      </p:sp>
      <p:sp>
        <p:nvSpPr>
          <p:cNvPr id="7" name="Rounded Rectangle 6"/>
          <p:cNvSpPr/>
          <p:nvPr/>
        </p:nvSpPr>
        <p:spPr>
          <a:xfrm>
            <a:off x="640080" y="1828800"/>
            <a:ext cx="457200" cy="457200"/>
          </a:xfrm>
          <a:prstGeom prst="round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1828800"/>
            <a:ext cx="457200" cy="457200"/>
          </a:xfrm>
          <a:prstGeom prst="rect">
            <a:avLst/>
          </a:prstGeom>
          <a:noFill/>
        </p:spPr>
        <p:txBody>
          <a:bodyPr wrap="square" anchor="ctr" lIns="0" rIns="0" tIns="0" bIns="0">
            <a:spAutoFit/>
          </a:bodyPr>
          <a:lstStyle/>
          <a:p>
            <a:pPr algn="ctr">
              <a:spcAft>
                <a:spcPts val="400"/>
              </a:spcAft>
            </a:pPr>
            <a:r>
              <a:rPr sz="1300" b="1">
                <a:solidFill>
                  <a:srgbClr val="FFFFFF"/>
                </a:solidFill>
                <a:latin typeface="Calibri"/>
              </a:rPr>
              <a:t>1</a:t>
            </a:r>
          </a:p>
        </p:txBody>
      </p:sp>
      <p:sp>
        <p:nvSpPr>
          <p:cNvPr id="9" name="TextBox 8"/>
          <p:cNvSpPr txBox="1"/>
          <p:nvPr/>
        </p:nvSpPr>
        <p:spPr>
          <a:xfrm>
            <a:off x="1280160" y="1783080"/>
            <a:ext cx="10241280" cy="777240"/>
          </a:xfrm>
          <a:prstGeom prst="rect">
            <a:avLst/>
          </a:prstGeom>
          <a:noFill/>
        </p:spPr>
        <p:txBody>
          <a:bodyPr wrap="square" anchor="t" lIns="0" rIns="0" tIns="0" bIns="0">
            <a:spAutoFit/>
          </a:bodyPr>
          <a:lstStyle/>
          <a:p>
            <a:pPr algn="l">
              <a:spcAft>
                <a:spcPts val="400"/>
              </a:spcAft>
            </a:pPr>
            <a:r>
              <a:rPr sz="1150" b="0">
                <a:solidFill>
                  <a:srgbClr val="171A33"/>
                </a:solidFill>
                <a:latin typeface="Calibri"/>
              </a:rPr>
              <a:t>Week 1, day 1-2: register one bucket of existing line footage from two sites or two cultivars into Index, data stays in their storage, and generate embeddings plus brightness, sharpness and uniqueness metrics per frame.</a:t>
            </a:r>
          </a:p>
        </p:txBody>
      </p:sp>
      <p:sp>
        <p:nvSpPr>
          <p:cNvPr id="10" name="Rounded Rectangle 9"/>
          <p:cNvSpPr/>
          <p:nvPr/>
        </p:nvSpPr>
        <p:spPr>
          <a:xfrm>
            <a:off x="640080" y="2651760"/>
            <a:ext cx="457200" cy="457200"/>
          </a:xfrm>
          <a:prstGeom prst="round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0080" y="2651760"/>
            <a:ext cx="457200" cy="457200"/>
          </a:xfrm>
          <a:prstGeom prst="rect">
            <a:avLst/>
          </a:prstGeom>
          <a:noFill/>
        </p:spPr>
        <p:txBody>
          <a:bodyPr wrap="square" anchor="ctr" lIns="0" rIns="0" tIns="0" bIns="0">
            <a:spAutoFit/>
          </a:bodyPr>
          <a:lstStyle/>
          <a:p>
            <a:pPr algn="ctr">
              <a:spcAft>
                <a:spcPts val="400"/>
              </a:spcAft>
            </a:pPr>
            <a:r>
              <a:rPr sz="1300" b="1">
                <a:solidFill>
                  <a:srgbClr val="FFFFFF"/>
                </a:solidFill>
                <a:latin typeface="Calibri"/>
              </a:rPr>
              <a:t>2</a:t>
            </a:r>
          </a:p>
        </p:txBody>
      </p:sp>
      <p:sp>
        <p:nvSpPr>
          <p:cNvPr id="12" name="TextBox 11"/>
          <p:cNvSpPr txBox="1"/>
          <p:nvPr/>
        </p:nvSpPr>
        <p:spPr>
          <a:xfrm>
            <a:off x="1280160" y="2606040"/>
            <a:ext cx="10241280" cy="777240"/>
          </a:xfrm>
          <a:prstGeom prst="rect">
            <a:avLst/>
          </a:prstGeom>
          <a:noFill/>
        </p:spPr>
        <p:txBody>
          <a:bodyPr wrap="square" anchor="t" lIns="0" rIns="0" tIns="0" bIns="0">
            <a:spAutoFit/>
          </a:bodyPr>
          <a:lstStyle/>
          <a:p>
            <a:pPr algn="l">
              <a:spcAft>
                <a:spcPts val="400"/>
              </a:spcAft>
            </a:pPr>
            <a:r>
              <a:rPr sz="1150" b="0">
                <a:solidFill>
                  <a:srgbClr val="171A33"/>
                </a:solidFill>
                <a:latin typeface="Calibri"/>
              </a:rPr>
              <a:t>Week 1, day 3-5: build the truss, stem, snip point, fruit, defect and punnet ontology in Annotate; label roughly 1,000 frames using SAM 3, object tracking and interpolation across video, with a review stage in the workflow. Metric: labelled frames per annotator hour versus their current tool.</a:t>
            </a:r>
          </a:p>
        </p:txBody>
      </p:sp>
      <p:sp>
        <p:nvSpPr>
          <p:cNvPr id="13" name="Rounded Rectangle 12"/>
          <p:cNvSpPr/>
          <p:nvPr/>
        </p:nvSpPr>
        <p:spPr>
          <a:xfrm>
            <a:off x="640080" y="3474720"/>
            <a:ext cx="457200" cy="457200"/>
          </a:xfrm>
          <a:prstGeom prst="round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0080" y="3474720"/>
            <a:ext cx="457200" cy="457200"/>
          </a:xfrm>
          <a:prstGeom prst="rect">
            <a:avLst/>
          </a:prstGeom>
          <a:noFill/>
        </p:spPr>
        <p:txBody>
          <a:bodyPr wrap="square" anchor="ctr" lIns="0" rIns="0" tIns="0" bIns="0">
            <a:spAutoFit/>
          </a:bodyPr>
          <a:lstStyle/>
          <a:p>
            <a:pPr algn="ctr">
              <a:spcAft>
                <a:spcPts val="400"/>
              </a:spcAft>
            </a:pPr>
            <a:r>
              <a:rPr sz="1300" b="1">
                <a:solidFill>
                  <a:srgbClr val="FFFFFF"/>
                </a:solidFill>
                <a:latin typeface="Calibri"/>
              </a:rPr>
              <a:t>3</a:t>
            </a:r>
          </a:p>
        </p:txBody>
      </p:sp>
      <p:sp>
        <p:nvSpPr>
          <p:cNvPr id="15" name="TextBox 14"/>
          <p:cNvSpPr txBox="1"/>
          <p:nvPr/>
        </p:nvSpPr>
        <p:spPr>
          <a:xfrm>
            <a:off x="1280160" y="3429000"/>
            <a:ext cx="10241280" cy="777240"/>
          </a:xfrm>
          <a:prstGeom prst="rect">
            <a:avLst/>
          </a:prstGeom>
          <a:noFill/>
        </p:spPr>
        <p:txBody>
          <a:bodyPr wrap="square" anchor="t" lIns="0" rIns="0" tIns="0" bIns="0">
            <a:spAutoFit/>
          </a:bodyPr>
          <a:lstStyle/>
          <a:p>
            <a:pPr algn="l">
              <a:spcAft>
                <a:spcPts val="400"/>
              </a:spcAft>
            </a:pPr>
            <a:r>
              <a:rPr sz="1150" b="0">
                <a:solidFill>
                  <a:srgbClr val="171A33"/>
                </a:solidFill>
                <a:latin typeface="Calibri"/>
              </a:rPr>
              <a:t>Week 2, day 6-8: use similarity search and diversity sampling to create a curated Collection and a random Collection of equal size from the same footage; train their stem/snip model on each. Metric: mAP50 on a held-out site, curated versus random.</a:t>
            </a:r>
          </a:p>
        </p:txBody>
      </p:sp>
      <p:sp>
        <p:nvSpPr>
          <p:cNvPr id="16" name="Rounded Rectangle 15"/>
          <p:cNvSpPr/>
          <p:nvPr/>
        </p:nvSpPr>
        <p:spPr>
          <a:xfrm>
            <a:off x="640080" y="4297680"/>
            <a:ext cx="457200" cy="457200"/>
          </a:xfrm>
          <a:prstGeom prst="round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40080" y="4297680"/>
            <a:ext cx="457200" cy="457200"/>
          </a:xfrm>
          <a:prstGeom prst="rect">
            <a:avLst/>
          </a:prstGeom>
          <a:noFill/>
        </p:spPr>
        <p:txBody>
          <a:bodyPr wrap="square" anchor="ctr" lIns="0" rIns="0" tIns="0" bIns="0">
            <a:spAutoFit/>
          </a:bodyPr>
          <a:lstStyle/>
          <a:p>
            <a:pPr algn="ctr">
              <a:spcAft>
                <a:spcPts val="400"/>
              </a:spcAft>
            </a:pPr>
            <a:r>
              <a:rPr sz="1300" b="1">
                <a:solidFill>
                  <a:srgbClr val="FFFFFF"/>
                </a:solidFill>
                <a:latin typeface="Calibri"/>
              </a:rPr>
              <a:t>4</a:t>
            </a:r>
          </a:p>
        </p:txBody>
      </p:sp>
      <p:sp>
        <p:nvSpPr>
          <p:cNvPr id="18" name="TextBox 17"/>
          <p:cNvSpPr txBox="1"/>
          <p:nvPr/>
        </p:nvSpPr>
        <p:spPr>
          <a:xfrm>
            <a:off x="1280160" y="4251960"/>
            <a:ext cx="10241280" cy="777240"/>
          </a:xfrm>
          <a:prstGeom prst="rect">
            <a:avLst/>
          </a:prstGeom>
          <a:noFill/>
        </p:spPr>
        <p:txBody>
          <a:bodyPr wrap="square" anchor="t" lIns="0" rIns="0" tIns="0" bIns="0">
            <a:spAutoFit/>
          </a:bodyPr>
          <a:lstStyle/>
          <a:p>
            <a:pPr algn="l">
              <a:spcAft>
                <a:spcPts val="400"/>
              </a:spcAft>
            </a:pPr>
            <a:r>
              <a:rPr sz="1150" b="0">
                <a:solidFill>
                  <a:srgbClr val="171A33"/>
                </a:solidFill>
                <a:latin typeface="Calibri"/>
              </a:rPr>
              <a:t>Week 2, day 9-10: import their current production model's predictions into Active, review confusion matrix and PR curves sliced by cultivar, site and lighting, and run label validation to surface mislabelled snip points. Metric: number of label errors found and the top two failure slices named.</a:t>
            </a:r>
          </a:p>
        </p:txBody>
      </p:sp>
      <p:sp>
        <p:nvSpPr>
          <p:cNvPr id="19" name="Rounded Rectangle 18"/>
          <p:cNvSpPr/>
          <p:nvPr/>
        </p:nvSpPr>
        <p:spPr>
          <a:xfrm>
            <a:off x="640080" y="5120640"/>
            <a:ext cx="457200" cy="457200"/>
          </a:xfrm>
          <a:prstGeom prst="round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0080" y="5120640"/>
            <a:ext cx="457200" cy="457200"/>
          </a:xfrm>
          <a:prstGeom prst="rect">
            <a:avLst/>
          </a:prstGeom>
          <a:noFill/>
        </p:spPr>
        <p:txBody>
          <a:bodyPr wrap="square" anchor="ctr" lIns="0" rIns="0" tIns="0" bIns="0">
            <a:spAutoFit/>
          </a:bodyPr>
          <a:lstStyle/>
          <a:p>
            <a:pPr algn="ctr">
              <a:spcAft>
                <a:spcPts val="400"/>
              </a:spcAft>
            </a:pPr>
            <a:r>
              <a:rPr sz="1300" b="1">
                <a:solidFill>
                  <a:srgbClr val="FFFFFF"/>
                </a:solidFill>
                <a:latin typeface="Calibri"/>
              </a:rPr>
              <a:t>5</a:t>
            </a:r>
          </a:p>
        </p:txBody>
      </p:sp>
      <p:sp>
        <p:nvSpPr>
          <p:cNvPr id="21" name="TextBox 20"/>
          <p:cNvSpPr txBox="1"/>
          <p:nvPr/>
        </p:nvSpPr>
        <p:spPr>
          <a:xfrm>
            <a:off x="1280160" y="5074920"/>
            <a:ext cx="10241280" cy="777240"/>
          </a:xfrm>
          <a:prstGeom prst="rect">
            <a:avLst/>
          </a:prstGeom>
          <a:noFill/>
        </p:spPr>
        <p:txBody>
          <a:bodyPr wrap="square" anchor="t" lIns="0" rIns="0" tIns="0" bIns="0">
            <a:spAutoFit/>
          </a:bodyPr>
          <a:lstStyle/>
          <a:p>
            <a:pPr algn="l">
              <a:spcAft>
                <a:spcPts val="400"/>
              </a:spcAft>
            </a:pPr>
            <a:r>
              <a:rPr sz="1150" b="0">
                <a:solidFill>
                  <a:srgbClr val="171A33"/>
                </a:solidFill>
                <a:latin typeface="Calibri"/>
              </a:rPr>
              <a:t>Wrap-up: agree a target for frames to label per new site onboarding and a go/no-go threshold, for example 50% fewer frames labelled at equal or better mAP, plus an Agents stage that pre-labels new footage with their own detector.</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09728"/>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411480"/>
            <a:ext cx="10972800" cy="274320"/>
          </a:xfrm>
          <a:prstGeom prst="rect">
            <a:avLst/>
          </a:prstGeom>
          <a:noFill/>
        </p:spPr>
        <p:txBody>
          <a:bodyPr wrap="square" anchor="t" lIns="0" rIns="0" tIns="0" bIns="0">
            <a:spAutoFit/>
          </a:bodyPr>
          <a:lstStyle/>
          <a:p>
            <a:pPr algn="l">
              <a:spcAft>
                <a:spcPts val="400"/>
              </a:spcAft>
            </a:pPr>
            <a:r>
              <a:rPr sz="1000" b="1">
                <a:solidFill>
                  <a:srgbClr val="4F46E5"/>
                </a:solidFill>
                <a:latin typeface="Calibri"/>
              </a:rPr>
              <a:t>LET'S TEST IT</a:t>
            </a:r>
          </a:p>
        </p:txBody>
      </p:sp>
      <p:sp>
        <p:nvSpPr>
          <p:cNvPr id="4" name="TextBox 3"/>
          <p:cNvSpPr txBox="1"/>
          <p:nvPr/>
        </p:nvSpPr>
        <p:spPr>
          <a:xfrm>
            <a:off x="640080" y="685800"/>
            <a:ext cx="10881360" cy="914400"/>
          </a:xfrm>
          <a:prstGeom prst="rect">
            <a:avLst/>
          </a:prstGeom>
          <a:noFill/>
        </p:spPr>
        <p:txBody>
          <a:bodyPr wrap="square" anchor="t" lIns="0" rIns="0" tIns="0" bIns="0">
            <a:spAutoFit/>
          </a:bodyPr>
          <a:lstStyle/>
          <a:p>
            <a:pPr algn="l">
              <a:spcAft>
                <a:spcPts val="400"/>
              </a:spcAft>
            </a:pPr>
            <a:r>
              <a:rPr sz="2600" b="1">
                <a:solidFill>
                  <a:srgbClr val="171A33"/>
                </a:solidFill>
                <a:latin typeface="Calibri"/>
              </a:rPr>
              <a:t>What we'd like to learn from you</a:t>
            </a:r>
          </a:p>
        </p:txBody>
      </p:sp>
      <p:sp>
        <p:nvSpPr>
          <p:cNvPr id="5" name="TextBox 4"/>
          <p:cNvSpPr txBox="1"/>
          <p:nvPr/>
        </p:nvSpPr>
        <p:spPr>
          <a:xfrm>
            <a:off x="640080" y="6446520"/>
            <a:ext cx="7315200" cy="274320"/>
          </a:xfrm>
          <a:prstGeom prst="rect">
            <a:avLst/>
          </a:prstGeom>
          <a:noFill/>
        </p:spPr>
        <p:txBody>
          <a:bodyPr wrap="square" anchor="t" lIns="0" rIns="0" tIns="0" bIns="0">
            <a:spAutoFit/>
          </a:bodyPr>
          <a:lstStyle/>
          <a:p>
            <a:pPr algn="l">
              <a:spcAft>
                <a:spcPts val="400"/>
              </a:spcAft>
            </a:pPr>
            <a:r>
              <a:rPr sz="900" b="0">
                <a:solidFill>
                  <a:srgbClr val="5D6180"/>
                </a:solidFill>
                <a:latin typeface="Calibri"/>
              </a:rPr>
              <a:t>DRAFT for review  ·  Encord  ·  confidential</a:t>
            </a:r>
          </a:p>
        </p:txBody>
      </p:sp>
      <p:sp>
        <p:nvSpPr>
          <p:cNvPr id="6" name="TextBox 5"/>
          <p:cNvSpPr txBox="1"/>
          <p:nvPr/>
        </p:nvSpPr>
        <p:spPr>
          <a:xfrm>
            <a:off x="11094415" y="6446520"/>
            <a:ext cx="457200" cy="274320"/>
          </a:xfrm>
          <a:prstGeom prst="rect">
            <a:avLst/>
          </a:prstGeom>
          <a:noFill/>
        </p:spPr>
        <p:txBody>
          <a:bodyPr wrap="square" anchor="t" lIns="0" rIns="0" tIns="0" bIns="0">
            <a:spAutoFit/>
          </a:bodyPr>
          <a:lstStyle/>
          <a:p>
            <a:pPr algn="r">
              <a:spcAft>
                <a:spcPts val="400"/>
              </a:spcAft>
            </a:pPr>
            <a:r>
              <a:rPr sz="900" b="0">
                <a:solidFill>
                  <a:srgbClr val="5D6180"/>
                </a:solidFill>
                <a:latin typeface="Calibri"/>
              </a:rPr>
              <a:t>7</a:t>
            </a:r>
          </a:p>
        </p:txBody>
      </p:sp>
      <p:sp>
        <p:nvSpPr>
          <p:cNvPr id="7" name="TextBox 6"/>
          <p:cNvSpPr txBox="1"/>
          <p:nvPr/>
        </p:nvSpPr>
        <p:spPr>
          <a:xfrm>
            <a:off x="640080" y="1737360"/>
            <a:ext cx="6583680" cy="4114800"/>
          </a:xfrm>
          <a:prstGeom prst="rect">
            <a:avLst/>
          </a:prstGeom>
          <a:noFill/>
        </p:spPr>
        <p:txBody>
          <a:bodyPr wrap="square" anchor="t" lIns="0" rIns="0" tIns="0" bIns="0">
            <a:spAutoFit/>
          </a:bodyPr>
          <a:lstStyle/>
          <a:p>
            <a:pPr algn="l">
              <a:spcAft>
                <a:spcPts val="1000"/>
              </a:spcAft>
            </a:pPr>
            <a:r>
              <a:rPr sz="1400" b="0">
                <a:solidFill>
                  <a:srgbClr val="171A33"/>
                </a:solidFill>
                <a:latin typeface="Calibri"/>
              </a:rPr>
              <a:t>•  When you install at a new packhouse or take on a new cultivar, how much footage do you collect and how many frames actually get labelled before the cell is trusted to snip?</a:t>
            </a:r>
          </a:p>
          <a:p>
            <a:pPr algn="l">
              <a:spcAft>
                <a:spcPts val="1000"/>
              </a:spcAft>
            </a:pPr>
            <a:r>
              <a:rPr sz="1400" b="0">
                <a:solidFill>
                  <a:srgbClr val="171A33"/>
                </a:solidFill>
                <a:latin typeface="Calibri"/>
              </a:rPr>
              <a:t>•  Who labels today, the engineering team, an agency or the customer's staff, and in which tool?</a:t>
            </a:r>
          </a:p>
          <a:p>
            <a:pPr algn="l">
              <a:spcAft>
                <a:spcPts val="1000"/>
              </a:spcAft>
            </a:pPr>
            <a:r>
              <a:rPr sz="1400" b="0">
                <a:solidFill>
                  <a:srgbClr val="171A33"/>
                </a:solidFill>
                <a:latin typeface="Calibri"/>
              </a:rPr>
              <a:t>•  How do you currently decide a model is good enough to go live on a line, and is that a number or a week of watching it run?</a:t>
            </a:r>
          </a:p>
          <a:p>
            <a:pPr algn="l">
              <a:spcAft>
                <a:spcPts val="1000"/>
              </a:spcAft>
            </a:pPr>
            <a:r>
              <a:rPr sz="1400" b="0">
                <a:solidFill>
                  <a:srgbClr val="171A33"/>
                </a:solidFill>
                <a:latin typeface="Calibri"/>
              </a:rPr>
              <a:t>•  Where does the camera footage live now, your own S3 or Azure bucket, or on the cell PCs at each site, and are packhouse customers restricted on what leaves their premises?</a:t>
            </a:r>
          </a:p>
          <a:p>
            <a:pPr algn="l">
              <a:spcAft>
                <a:spcPts val="1000"/>
              </a:spcAft>
            </a:pPr>
            <a:r>
              <a:rPr sz="1400" b="0">
                <a:solidFill>
                  <a:srgbClr val="171A33"/>
                </a:solidFill>
                <a:latin typeface="Calibri"/>
              </a:rPr>
              <a:t>•  How do you pair the electronic skin force data with the vision frames, and would you want both reviewed against the same timeline?</a:t>
            </a:r>
          </a:p>
        </p:txBody>
      </p:sp>
      <p:sp>
        <p:nvSpPr>
          <p:cNvPr id="8" name="Rectangle 7"/>
          <p:cNvSpPr/>
          <p:nvPr/>
        </p:nvSpPr>
        <p:spPr>
          <a:xfrm>
            <a:off x="7680960" y="1737360"/>
            <a:ext cx="3840480" cy="2377440"/>
          </a:xfrm>
          <a:prstGeom prst="rect">
            <a:avLst/>
          </a:prstGeom>
          <a:solidFill>
            <a:srgbClr val="121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955279" y="1965960"/>
            <a:ext cx="3383280" cy="274320"/>
          </a:xfrm>
          <a:prstGeom prst="rect">
            <a:avLst/>
          </a:prstGeom>
          <a:noFill/>
        </p:spPr>
        <p:txBody>
          <a:bodyPr wrap="square" anchor="t" lIns="0" rIns="0" tIns="0" bIns="0">
            <a:spAutoFit/>
          </a:bodyPr>
          <a:lstStyle/>
          <a:p>
            <a:pPr algn="l">
              <a:spcAft>
                <a:spcPts val="400"/>
              </a:spcAft>
            </a:pPr>
            <a:r>
              <a:rPr sz="1000" b="1">
                <a:solidFill>
                  <a:srgbClr val="B9BCDC"/>
                </a:solidFill>
                <a:latin typeface="Calibri"/>
              </a:rPr>
              <a:t>CONTACT</a:t>
            </a:r>
          </a:p>
        </p:txBody>
      </p:sp>
      <p:sp>
        <p:nvSpPr>
          <p:cNvPr id="10" name="TextBox 9"/>
          <p:cNvSpPr txBox="1"/>
          <p:nvPr/>
        </p:nvSpPr>
        <p:spPr>
          <a:xfrm>
            <a:off x="7955279" y="2286000"/>
            <a:ext cx="3383280" cy="1645920"/>
          </a:xfrm>
          <a:prstGeom prst="rect">
            <a:avLst/>
          </a:prstGeom>
          <a:noFill/>
        </p:spPr>
        <p:txBody>
          <a:bodyPr wrap="square" anchor="t" lIns="0" rIns="0" tIns="0" bIns="0">
            <a:spAutoFit/>
          </a:bodyPr>
          <a:lstStyle/>
          <a:p>
            <a:pPr algn="l">
              <a:spcAft>
                <a:spcPts val="600"/>
              </a:spcAft>
            </a:pPr>
            <a:r>
              <a:rPr sz="1300" b="0">
                <a:solidFill>
                  <a:srgbClr val="FFFFFF"/>
                </a:solidFill>
                <a:latin typeface="Calibri"/>
              </a:rPr>
              <a:t>Qais Al-Azkawi</a:t>
            </a:r>
          </a:p>
          <a:p>
            <a:pPr algn="l">
              <a:spcAft>
                <a:spcPts val="600"/>
              </a:spcAft>
            </a:pPr>
            <a:r>
              <a:rPr sz="1300" b="0">
                <a:solidFill>
                  <a:srgbClr val="FFFFFF"/>
                </a:solidFill>
                <a:latin typeface="Calibri"/>
              </a:rPr>
              <a:t>Commercial Associate, Encord</a:t>
            </a:r>
          </a:p>
          <a:p>
            <a:pPr algn="l">
              <a:spcAft>
                <a:spcPts val="600"/>
              </a:spcAft>
            </a:pPr>
            <a:r>
              <a:rPr sz="1300" b="0">
                <a:solidFill>
                  <a:srgbClr val="FFFFFF"/>
                </a:solidFill>
                <a:latin typeface="Calibri"/>
              </a:rPr>
              <a:t>qaisqas@gmail.com</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