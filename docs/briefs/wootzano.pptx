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When you commission a new packhouse or a new cultivar, how many frames do you label and how long does it take before Avarai hits the required snip accuracy?</a:t>
            </a:r>
          </a:p>
          <a:p>
            <a:r>
              <a:t>- Where does the footage from deployed cells actually live today, and is it centralised or still on the industrial PC at each site?</a:t>
            </a:r>
          </a:p>
          <a:p>
            <a:r>
              <a:t>- Who draws the stem polylines and snip points right now, your engineers, a contracted crew, or packhouse staff, and in what tool?</a:t>
            </a:r>
          </a:p>
          <a:p>
            <a:r>
              <a:t>- When a site reports bad snips or bruised fruit, how do you find the matching frames and decide what to label next?</a:t>
            </a:r>
          </a:p>
          <a:p>
            <a:r>
              <a:t>- Are the electronic skin readings time-synced with the camera frames, and do you ever want to review them alongside the video in one place?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low</a:t>
            </a:r>
          </a:p>
          <a:p>
            <a:r>
              <a:t>Risks:</a:t>
            </a:r>
          </a:p>
          <a:p>
            <a:r>
              <a:t>- Thin evidence: no ML job ads, no recent signals and no public engineering blog, so the labelling pain is inferred from the product rather than observed. Team may be tiny and doing everything with CVAT plus scripts.</a:t>
            </a:r>
          </a:p>
          <a:p>
            <a:r>
              <a:t>- Hardware-first culture; the differentiator they market is the electronic skin, so vision data tooling may not have budget ownership or urgency.</a:t>
            </a:r>
          </a:p>
          <a:p>
            <a:r>
              <a:t>- Possible reliance on an Intel or integrator partner for the vision stack, which would move the buying decision outside Wootzano.</a:t>
            </a:r>
          </a:p>
          <a:p>
            <a:r>
              <a:t>- Company size and funding stage mean a per-seat platform may be priced above what a sub-ten-person engineering team will approve without a clear per-line ROI story.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2026-10-05</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Wootzano</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Wootzano sells a per-line ROI promise (clean snip, no bruising, day two live), and every new packhouse, cultivar and season quietly forces another round of vision labelling that a small team has to absorb; that recurring cost is where Encord fits.</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Wootzano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Avarai is a collaborative robotic packing cell for post-harvest fresh produce, sized to replace one human station on a packing line, with a dexterous hand covered in a patented food-safe electronic skin and a vision system that detects stems and snips vine produce to a target punnet weight. Buyers are packhouse operators and growers who pay against labour cost per line, with claims of 30% cost saving and 40-50% productivity increase. Economic buyer is likely the CTO or founder, since the team appears small and no ML job ads are visible.</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Cameras (likely RGB plus depth, Intel RealSense given the stated Intel partnership) capture top-down and side views of vine trusses and punnets on the conveyor; GUESS, no hardware detail published.</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Frames are recorded per cell and per site, probably to local NVRs or an industrial PC, then shipped or synced to a central store for training; GUESS on whether anything is centralised today.</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Engineers hand pick interesting clips, mostly ones from failed snips, bruised fruit or missed stems reported by the site; GUESS, but typical for a small robotics team without curation tooling.</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Labelling is done in-house or with a small outsourced crew using an open source tool (CVAT or similar) for stems, fruit instances and snip points; GUESS.</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Detection and segmentation models are retrained and validated on a held out set, then deployed to the cell; weight estimation and grasp force likely combine vision output with electronic skin readings, tuned rather than learned end to end.</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Field performance is judged by line metrics (punnets per minute, reject rate, bruising complaints) rather than by model metrics tied back to specific data slices; GUESS.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Every new site, cultivar or season shifts lighting, trusses and punnet types, so the vision model needs re-labelling and retraining before a cell can be commissioned at the promised day two.</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Site promises Day 1 install, Day 2 ready to use, and adaptability across produce; that only holds if new produce data turns round in days, not weeks.</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with SAM 3 auto-segmentation, object tracking and interpolation on native video to label a new cultivar fast, plus a managed labelling workforce for peaks. Ontology reuse means one stem and fruit schema applies across sites without rebuilding the project.</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Conveyor footage is highly repetitive, so engineers label near identical frames and still miss the rare failures (hidden stems, overlapping trusses, damaged fruit) that cause bad snips.</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Fixed camera on a moving line plus the marketing emphasis on a clean precise snip every time implies the value sits in rare edge cases, not the average frame.</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frames from your own S3 or Azure bucket with no data movement, computes embeddings and quality metrics, and lets you de-duplicate and similarity search for the rare truss geometries. Our own test cut frames to label by 61% while keeping 95% of scenes.</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No clear way to tell which data to label next, so retraining is driven by whichever site complained most recently rather than by measured failure modes.</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No ML job ads and no public ML engineering team suggests a thin team with no dedicated evaluation tooling; inferred, not stated.</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imports your predictions and gives mAP, F1, confusion matrix and PR curves sliced by class, site or any data metric, with metric-to-failure correlation telling you which frames to label next. Also flags label errors in existing stem and fruit annotations.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Wootzano,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Vine stem / truss backbone</a:t>
                      </a:r>
                    </a:p>
                  </a:txBody>
                  <a:tcPr>
                    <a:solidFill>
                      <a:srgbClr val="FFFFFF"/>
                    </a:solidFill>
                  </a:tcPr>
                </a:tc>
                <a:tc>
                  <a:txBody>
                    <a:bodyPr/>
                    <a:lstStyle/>
                    <a:p>
                      <a:r>
                        <a:rPr sz="1050" b="0">
                          <a:solidFill>
                            <a:srgbClr val="171A33"/>
                          </a:solidFill>
                          <a:latin typeface="Calibri"/>
                        </a:rPr>
                        <a:t>polyline</a:t>
                      </a:r>
                    </a:p>
                  </a:txBody>
                  <a:tcPr>
                    <a:solidFill>
                      <a:srgbClr val="FFFFFF"/>
                    </a:solidFill>
                  </a:tcPr>
                </a:tc>
                <a:tc>
                  <a:txBody>
                    <a:bodyPr/>
                    <a:lstStyle/>
                    <a:p>
                      <a:r>
                        <a:rPr sz="1050" b="0">
                          <a:solidFill>
                            <a:srgbClr val="171A33"/>
                          </a:solidFill>
                          <a:latin typeface="Calibri"/>
                        </a:rPr>
                        <a:t>Snip location depends on stem path, not a box; polyline captures branching geometry</a:t>
                      </a:r>
                    </a:p>
                  </a:txBody>
                  <a:tcPr>
                    <a:solidFill>
                      <a:srgbClr val="FFFFFF"/>
                    </a:solidFill>
                  </a:tcPr>
                </a:tc>
              </a:tr>
              <a:tr h="365760">
                <a:tc>
                  <a:txBody>
                    <a:bodyPr/>
                    <a:lstStyle/>
                    <a:p>
                      <a:r>
                        <a:rPr sz="1050" b="1">
                          <a:solidFill>
                            <a:srgbClr val="171A33"/>
                          </a:solidFill>
                          <a:latin typeface="Calibri"/>
                        </a:rPr>
                        <a:t>Snip point</a:t>
                      </a:r>
                    </a:p>
                  </a:txBody>
                  <a:tcPr>
                    <a:solidFill>
                      <a:srgbClr val="EEEDFB"/>
                    </a:solidFill>
                  </a:tcPr>
                </a:tc>
                <a:tc>
                  <a:txBody>
                    <a:bodyPr/>
                    <a:lstStyle/>
                    <a:p>
                      <a:r>
                        <a:rPr sz="1050" b="0">
                          <a:solidFill>
                            <a:srgbClr val="171A33"/>
                          </a:solidFill>
                          <a:latin typeface="Calibri"/>
                        </a:rPr>
                        <a:t>keypoint</a:t>
                      </a:r>
                    </a:p>
                  </a:txBody>
                  <a:tcPr>
                    <a:solidFill>
                      <a:srgbClr val="EEEDFB"/>
                    </a:solidFill>
                  </a:tcPr>
                </a:tc>
                <a:tc>
                  <a:txBody>
                    <a:bodyPr/>
                    <a:lstStyle/>
                    <a:p>
                      <a:r>
                        <a:rPr sz="1050" b="0">
                          <a:solidFill>
                            <a:srgbClr val="171A33"/>
                          </a:solidFill>
                          <a:latin typeface="Calibri"/>
                        </a:rPr>
                        <a:t>The single actionable output of the vision system, needs pixel level supervision</a:t>
                      </a:r>
                    </a:p>
                  </a:txBody>
                  <a:tcPr>
                    <a:solidFill>
                      <a:srgbClr val="EEEDFB"/>
                    </a:solidFill>
                  </a:tcPr>
                </a:tc>
              </a:tr>
              <a:tr h="365760">
                <a:tc>
                  <a:txBody>
                    <a:bodyPr/>
                    <a:lstStyle/>
                    <a:p>
                      <a:r>
                        <a:rPr sz="1050" b="1">
                          <a:solidFill>
                            <a:srgbClr val="171A33"/>
                          </a:solidFill>
                          <a:latin typeface="Calibri"/>
                        </a:rPr>
                        <a:t>Individual fruit instance</a:t>
                      </a:r>
                    </a:p>
                  </a:txBody>
                  <a:tcPr>
                    <a:solidFill>
                      <a:srgbClr val="FFFFFF"/>
                    </a:solidFill>
                  </a:tcPr>
                </a:tc>
                <a:tc>
                  <a:txBody>
                    <a:bodyPr/>
                    <a:lstStyle/>
                    <a:p>
                      <a:r>
                        <a:rPr sz="1050" b="0">
                          <a:solidFill>
                            <a:srgbClr val="171A33"/>
                          </a:solidFill>
                          <a:latin typeface="Calibri"/>
                        </a:rPr>
                        <a:t>bitmask</a:t>
                      </a:r>
                    </a:p>
                  </a:txBody>
                  <a:tcPr>
                    <a:solidFill>
                      <a:srgbClr val="FFFFFF"/>
                    </a:solidFill>
                  </a:tcPr>
                </a:tc>
                <a:tc>
                  <a:txBody>
                    <a:bodyPr/>
                    <a:lstStyle/>
                    <a:p>
                      <a:r>
                        <a:rPr sz="1050" b="0">
                          <a:solidFill>
                            <a:srgbClr val="171A33"/>
                          </a:solidFill>
                          <a:latin typeface="Calibri"/>
                        </a:rPr>
                        <a:t>Overlapping tomatoes on a truss need instance masks for weight estimation</a:t>
                      </a:r>
                    </a:p>
                  </a:txBody>
                  <a:tcPr>
                    <a:solidFill>
                      <a:srgbClr val="FFFFFF"/>
                    </a:solidFill>
                  </a:tcPr>
                </a:tc>
              </a:tr>
              <a:tr h="365760">
                <a:tc>
                  <a:txBody>
                    <a:bodyPr/>
                    <a:lstStyle/>
                    <a:p>
                      <a:r>
                        <a:rPr sz="1050" b="1">
                          <a:solidFill>
                            <a:srgbClr val="171A33"/>
                          </a:solidFill>
                          <a:latin typeface="Calibri"/>
                        </a:rPr>
                        <a:t>Calyx / stem-fruit junction</a:t>
                      </a:r>
                    </a:p>
                  </a:txBody>
                  <a:tcPr>
                    <a:solidFill>
                      <a:srgbClr val="EEEDFB"/>
                    </a:solidFill>
                  </a:tcPr>
                </a:tc>
                <a:tc>
                  <a:txBody>
                    <a:bodyPr/>
                    <a:lstStyle/>
                    <a:p>
                      <a:r>
                        <a:rPr sz="1050" b="0">
                          <a:solidFill>
                            <a:srgbClr val="171A33"/>
                          </a:solidFill>
                          <a:latin typeface="Calibri"/>
                        </a:rPr>
                        <a:t>keypoint</a:t>
                      </a:r>
                    </a:p>
                  </a:txBody>
                  <a:tcPr>
                    <a:solidFill>
                      <a:srgbClr val="EEEDFB"/>
                    </a:solidFill>
                  </a:tcPr>
                </a:tc>
                <a:tc>
                  <a:txBody>
                    <a:bodyPr/>
                    <a:lstStyle/>
                    <a:p>
                      <a:r>
                        <a:rPr sz="1050" b="0">
                          <a:solidFill>
                            <a:srgbClr val="171A33"/>
                          </a:solidFill>
                          <a:latin typeface="Calibri"/>
                        </a:rPr>
                        <a:t>Anchors grasp planning and separates fruit from stem for clean cuts</a:t>
                      </a:r>
                    </a:p>
                  </a:txBody>
                  <a:tcPr>
                    <a:solidFill>
                      <a:srgbClr val="EEEDFB"/>
                    </a:solidFill>
                  </a:tcPr>
                </a:tc>
              </a:tr>
              <a:tr h="365760">
                <a:tc>
                  <a:txBody>
                    <a:bodyPr/>
                    <a:lstStyle/>
                    <a:p>
                      <a:r>
                        <a:rPr sz="1050" b="1">
                          <a:solidFill>
                            <a:srgbClr val="171A33"/>
                          </a:solidFill>
                          <a:latin typeface="Calibri"/>
                        </a:rPr>
                        <a:t>Punnet / tray</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Target container detection for placement and fill-level checks</a:t>
                      </a:r>
                    </a:p>
                  </a:txBody>
                  <a:tcPr>
                    <a:solidFill>
                      <a:srgbClr val="FFFFFF"/>
                    </a:solidFill>
                  </a:tcPr>
                </a:tc>
              </a:tr>
              <a:tr h="365760">
                <a:tc>
                  <a:txBody>
                    <a:bodyPr/>
                    <a:lstStyle/>
                    <a:p>
                      <a:r>
                        <a:rPr sz="1050" b="1">
                          <a:solidFill>
                            <a:srgbClr val="171A33"/>
                          </a:solidFill>
                          <a:latin typeface="Calibri"/>
                        </a:rPr>
                        <a:t>Surface defect or bruise</a:t>
                      </a:r>
                    </a:p>
                  </a:txBody>
                  <a:tcPr>
                    <a:solidFill>
                      <a:srgbClr val="EEEDFB"/>
                    </a:solidFill>
                  </a:tcPr>
                </a:tc>
                <a:tc>
                  <a:txBody>
                    <a:bodyPr/>
                    <a:lstStyle/>
                    <a:p>
                      <a:r>
                        <a:rPr sz="1050" b="0">
                          <a:solidFill>
                            <a:srgbClr val="171A33"/>
                          </a:solidFill>
                          <a:latin typeface="Calibri"/>
                        </a:rPr>
                        <a:t>polygon</a:t>
                      </a:r>
                    </a:p>
                  </a:txBody>
                  <a:tcPr>
                    <a:solidFill>
                      <a:srgbClr val="EEEDFB"/>
                    </a:solidFill>
                  </a:tcPr>
                </a:tc>
                <a:tc>
                  <a:txBody>
                    <a:bodyPr/>
                    <a:lstStyle/>
                    <a:p>
                      <a:r>
                        <a:rPr sz="1050" b="0">
                          <a:solidFill>
                            <a:srgbClr val="171A33"/>
                          </a:solidFill>
                          <a:latin typeface="Calibri"/>
                        </a:rPr>
                        <a:t>Grade and reject decisions; polygon handles irregular blemish shapes</a:t>
                      </a:r>
                    </a:p>
                  </a:txBody>
                  <a:tcPr>
                    <a:solidFill>
                      <a:srgbClr val="EEEDFB"/>
                    </a:solidFill>
                  </a:tcPr>
                </a:tc>
              </a:tr>
              <a:tr h="365760">
                <a:tc>
                  <a:txBody>
                    <a:bodyPr/>
                    <a:lstStyle/>
                    <a:p>
                      <a:r>
                        <a:rPr sz="1050" b="1">
                          <a:solidFill>
                            <a:srgbClr val="171A33"/>
                          </a:solidFill>
                          <a:latin typeface="Calibri"/>
                        </a:rPr>
                        <a:t>Grasp region on produce</a:t>
                      </a:r>
                    </a:p>
                  </a:txBody>
                  <a:tcPr>
                    <a:solidFill>
                      <a:srgbClr val="FFFFFF"/>
                    </a:solidFill>
                  </a:tcPr>
                </a:tc>
                <a:tc>
                  <a:txBody>
                    <a:bodyPr/>
                    <a:lstStyle/>
                    <a:p>
                      <a:r>
                        <a:rPr sz="1050" b="0">
                          <a:solidFill>
                            <a:srgbClr val="171A33"/>
                          </a:solidFill>
                          <a:latin typeface="Calibri"/>
                        </a:rPr>
                        <a:t>polygon</a:t>
                      </a:r>
                    </a:p>
                  </a:txBody>
                  <a:tcPr>
                    <a:solidFill>
                      <a:srgbClr val="FFFFFF"/>
                    </a:solidFill>
                  </a:tcPr>
                </a:tc>
                <a:tc>
                  <a:txBody>
                    <a:bodyPr/>
                    <a:lstStyle/>
                    <a:p>
                      <a:r>
                        <a:rPr sz="1050" b="0">
                          <a:solidFill>
                            <a:srgbClr val="171A33"/>
                          </a:solidFill>
                          <a:latin typeface="Calibri"/>
                        </a:rPr>
                        <a:t>Links vision to the electronic skin force policy and bruise avoidance</a:t>
                      </a:r>
                    </a:p>
                  </a:txBody>
                  <a:tcPr>
                    <a:solidFill>
                      <a:srgbClr val="FFFFFF"/>
                    </a:solidFill>
                  </a:tcPr>
                </a:tc>
              </a:tr>
              <a:tr h="365760">
                <a:tc>
                  <a:txBody>
                    <a:bodyPr/>
                    <a:lstStyle/>
                    <a:p>
                      <a:r>
                        <a:rPr sz="1050" b="1">
                          <a:solidFill>
                            <a:srgbClr val="171A33"/>
                          </a:solidFill>
                          <a:latin typeface="Calibri"/>
                        </a:rPr>
                        <a:t>Frame condition (cultivar, site, lighting, occlusion level)</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Lets you slice model performance by site and season in Active</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Annotate then Index,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Automotus</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+20% mAP, 35% smaller dataset, 33% lower labelling cost after curating with Encord.</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Fixed cameras watching a repetitive scene with huge frame volume and rare events that matter, exactly like a packing line conveyor. They cut dataset size through curation rather than labelling more.</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1-2: register one site's recorded footage from your existing bucket into Index (data stays in your storage), generate embeddings and quality metrics, and report how many frames are near duplicates versus genuinely distinct trusses.</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3-5: build the stem, fruit, calyx, snip point and defect ontology in Annotate, label 300-500 curated frames using SAM 3 and video tracking, and measure minutes per frame against your current tool.</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1-2: run your current detector as an Agents pre-labelling stage so annotators correct rather than draw; target 50% or better reduction in hand drawn objects.</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3-4: import your model predictions into Active, produce mAP and F1 sliced by cultivar, occlusion and lighting, and rank which failure slice to label next.</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5: train on the curated pick versus a random pick of equal size and compare snip point error and stem detection mAP. Success = equal or better accuracy from 40-60% fewer labelled frames, plus a documented minutes-per-frame reduction.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When you commission a new packhouse or a new cultivar, how many frames do you label and how long does it take before Avarai hits the required snip accuracy?</a:t>
            </a:r>
          </a:p>
          <a:p>
            <a:pPr algn="l">
              <a:spcAft>
                <a:spcPts val="1000"/>
              </a:spcAft>
            </a:pPr>
            <a:r>
              <a:rPr sz="1400" b="0">
                <a:solidFill>
                  <a:srgbClr val="171A33"/>
                </a:solidFill>
                <a:latin typeface="Calibri"/>
              </a:rPr>
              <a:t>•  Where does the footage from deployed cells actually live today, and is it centralised or still on the industrial PC at each site?</a:t>
            </a:r>
          </a:p>
          <a:p>
            <a:pPr algn="l">
              <a:spcAft>
                <a:spcPts val="1000"/>
              </a:spcAft>
            </a:pPr>
            <a:r>
              <a:rPr sz="1400" b="0">
                <a:solidFill>
                  <a:srgbClr val="171A33"/>
                </a:solidFill>
                <a:latin typeface="Calibri"/>
              </a:rPr>
              <a:t>•  Who draws the stem polylines and snip points right now, your engineers, a contracted crew, or packhouse staff, and in what tool?</a:t>
            </a:r>
          </a:p>
          <a:p>
            <a:pPr algn="l">
              <a:spcAft>
                <a:spcPts val="1000"/>
              </a:spcAft>
            </a:pPr>
            <a:r>
              <a:rPr sz="1400" b="0">
                <a:solidFill>
                  <a:srgbClr val="171A33"/>
                </a:solidFill>
                <a:latin typeface="Calibri"/>
              </a:rPr>
              <a:t>•  When a site reports bad snips or bruised fruit, how do you find the matching frames and decide what to label next?</a:t>
            </a:r>
          </a:p>
          <a:p>
            <a:pPr algn="l">
              <a:spcAft>
                <a:spcPts val="1000"/>
              </a:spcAft>
            </a:pPr>
            <a:r>
              <a:rPr sz="1400" b="0">
                <a:solidFill>
                  <a:srgbClr val="171A33"/>
                </a:solidFill>
                <a:latin typeface="Calibri"/>
              </a:rPr>
              <a:t>•  Are the electronic skin readings time-synced with the camera frames, and do you ever want to review them alongside the video in one place?</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