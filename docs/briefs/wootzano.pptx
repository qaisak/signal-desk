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questions to test this:</a:t>
            </a:r>
          </a:p>
          <a:p>
            <a:r>
              <a:t>- When you commission a new packhouse or a new variety, how many frames do you label before the cell is ready, and who does that labelling?</a:t>
            </a:r>
          </a:p>
          <a:p>
            <a:r>
              <a:t>- How do you currently decide which recorded frames are worth annotating, and how much of what you label turns out to be near-duplicate?</a:t>
            </a:r>
          </a:p>
          <a:p>
            <a:r>
              <a:t>- What does a snip failure look like in your logs, and how do you trace it back to the training data that caused it?</a:t>
            </a:r>
          </a:p>
          <a:p>
            <a:r>
              <a:t>- Do you evaluate stem detection and weight estimation per site and per variety, or only by line throughput after rollout?</a:t>
            </a:r>
          </a:p>
          <a:p>
            <a:r>
              <a:t>- Does footage stay on site in each packhouse, or does it come back to your own cloud storage, and what have customers said about data leaving their premises?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Confidence: low</a:t>
            </a:r>
          </a:p>
          <a:p>
            <a:r>
              <a:t>Risks:</a:t>
            </a:r>
          </a:p>
          <a:p>
            <a:r>
              <a:t>- Small, hardware-led team with no CV or ML job ads open, so labelling may be handled informally in-house with CVAT and seen as free.</a:t>
            </a:r>
          </a:p>
          <a:p>
            <a:r>
              <a:t>- Robotics capital spend may leave no budget line for data tooling; the buying case has to be framed as commissioning time per new site.</a:t>
            </a:r>
          </a:p>
          <a:p>
            <a:r>
              <a:t>- Packhouse customers may forbid footage leaving their site, which limits what can be centralised (Encord's bucket-registration model helps, but needs checking early).</a:t>
            </a:r>
          </a:p>
          <a:p>
            <a:r>
              <a:t>- Evidence base is thin: no recent signals, no job ads, and our understanding of their crops, sensors and volumes is largely inference.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21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0624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ENCORD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577840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9BCDC"/>
                </a:solidFill>
                <a:latin typeface="Calibri"/>
              </a:rPr>
              <a:t>Prepared 2026-09-28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9BCDC"/>
                </a:solidFill>
                <a:latin typeface="Calibri"/>
              </a:rPr>
              <a:t>Qais Al-Azkawi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9BCDC"/>
                </a:solidFill>
                <a:latin typeface="Calibri"/>
              </a:rPr>
              <a:t>DRAFT for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828800"/>
            <a:ext cx="6766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71A33"/>
                </a:solidFill>
                <a:latin typeface="Calibri"/>
              </a:rPr>
              <a:t>Encord x Wootzano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3108960"/>
            <a:ext cx="6766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6180"/>
                </a:solidFill>
                <a:latin typeface="Calibri"/>
              </a:rPr>
              <a:t>Wootzano's accuracy claim rests on stem detection and clean snips across endless near-identical conveyor frames, so the win is curating which frames to label and proving snip accuracy per crop, not labelling more.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57607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D6180"/>
                </a:solidFill>
                <a:latin typeface="Calibri"/>
              </a:rPr>
              <a:t>A first-meeting point of view. Everything here is our reading of public information; the questions are where we want to be corrected.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WHAT WE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What Wootzano builds, and how we think the data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Wootzano sells Avarai, a collaborative robotic packing cell for post-harvest fresh produce, with a food-safe dexterous hand using patented electronic skin and a vision system that detects stems, estimates weight and snips vine produce to a retailer's target weight. Buyers are packhouses and growers, paid for on a per-line ROI case (up to 50% less human labour, 30% cost saving per line). Robots are installed on site, so models must hold up across customer sites, lighting, crops and seasons.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3736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INFERRED PIPELINE (guesses marked)</a:t>
            </a:r>
          </a:p>
        </p:txBody>
      </p:sp>
      <p:sp>
        <p:nvSpPr>
          <p:cNvPr id="9" name="Oval 8"/>
          <p:cNvSpPr/>
          <p:nvPr/>
        </p:nvSpPr>
        <p:spPr>
          <a:xfrm>
            <a:off x="6217920" y="2103120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103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084831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Cameras (guess: Intel RealSense RGB-D, given the stated Intel partnership) capture close-up frames of trusses and punnets on the conveyor at each installed cell.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761487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761487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743199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Guess: frames are recorded locally per site, then shipped or synced to central storage; unclear whether all sites stream back or only on-request clips during commissioning.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3419855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41985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401567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Engineers select clips by hand around failures (missed stem, bad snip, bruising, dropped fruit) and label stems, fruit and snip points in an open-source or in-house tool (guess: CVAT or similar).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4078223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4078223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059935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Detection / segmentation and weight-estimation models are retrained centrally, validated on a held-out set, then pushed to cells.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4736591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73659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718303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Guess: field performance is judged by packhouse throughput and reject rates rather than per-class mAP, so model regressions per crop variety are hard to see before rollout.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5394959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5394959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376671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Tactile e-skin data is likely handled in a separate stream from vision, with no shared record of what happened in a given grasp.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WHERE WE THINK IT HURTS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Three hypotheses, ranked by how sure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3520440" cy="461772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52044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HYPOTHESIS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71A33"/>
                </a:solidFill>
                <a:latin typeface="Calibri"/>
              </a:rPr>
              <a:t>Near-duplicate conveyor frames dominate. Labelling budget goes on the thousandth ordinary truss while rare failure modes (tangled vines, occluded stems, soft or damaged fruit) stay under-represented.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WHY WE THINK 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D6180"/>
                </a:solidFill>
                <a:latin typeface="Calibri"/>
              </a:rPr>
              <a:t>A fixed-camera cell running a full packhouse shift produces highly repetitive imagery; the site sells consistency ("a clean, precise snip, each and every time").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63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WHAT ENCORD DOES ABOUT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89204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71A33"/>
                </a:solidFill>
                <a:latin typeface="Calibri"/>
              </a:rPr>
              <a:t>Index registers frames in their own bucket, computes embeddings and quality metrics, and lets them de-duplicate and diversity-sample into Collections. Our own warehouse-stream test cut frames to label by 61% while keeping 95% of racks, and the curated pick beat a random pick of equal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691640"/>
            <a:ext cx="3520440" cy="461772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737360"/>
            <a:ext cx="352044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9659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HYPOTHESIS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240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71A33"/>
                </a:solidFill>
                <a:latin typeface="Calibri"/>
              </a:rPr>
              <a:t>Each new site, crop variety or season is a cold start. Labelling a fresh set by hand delays go-live, which conflicts with the "Day 1 install, Day 2 ready" promise.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520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WHY WE THINK 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749039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D6180"/>
                </a:solidFill>
                <a:latin typeface="Calibri"/>
              </a:rPr>
              <a:t>Site promises next-day readiness and adaptability across produce; a deployed-robot business inevitably faces per-packhouse lighting, punnet and variety drift.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663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WHAT ENCORD DOES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89204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71A33"/>
                </a:solidFill>
                <a:latin typeface="Calibri"/>
              </a:rPr>
              <a:t>Agents run their existing detector as a pre-labelling stage in the workflow, so a new site's data arrives part-labelled and humans only correct. Annotate adds SAM 3 auto-segmentation, object tracking and interpolation on native video for fruit and truss masks.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59" y="1691640"/>
            <a:ext cx="3520440" cy="461772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59" y="1737360"/>
            <a:ext cx="352044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19659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HYPOTHESIS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2240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71A33"/>
                </a:solidFill>
                <a:latin typeface="Calibri"/>
              </a:rPr>
              <a:t>No clear way to prove which data fixes a snip failure. Model changes are judged by packhouse throughput after rollout, which is slow and expensive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3520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WHY WE THINK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9" y="3749039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D6180"/>
                </a:solidFill>
                <a:latin typeface="Calibri"/>
              </a:rPr>
              <a:t>Marketing quantifies line productivity, not model metrics; no ML or CV job ads found, suggesting a small team with no dedicated data or evaluation tooling.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4663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WHAT ENCORD DOES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59" y="489204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71A33"/>
                </a:solidFill>
                <a:latin typeface="Calibri"/>
              </a:rPr>
              <a:t>Active imports their predictions for mAP/mAR/F1, PR curves and confusion matrix, sliced by class, IoU threshold and any data metric (for example blur or occlusion). Metric-to-failure correlation names which frames to label next, and label validation surfaces stem labels that are simply wrong.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A STARTING ONTOLOGY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What we would label for Wootzano, and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D6180"/>
                </a:solidFill>
                <a:latin typeface="Calibri"/>
              </a:rPr>
              <a:t>A proposal to argue with. The shapes matter: they decide what the model can learn and what the labellers spend time 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this shape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Vine / truss 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polyline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Stem geometry drives the snip; a centreline is more useful than a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Snip point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keypoint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The exact cut location the controller needs, evaluated as pixel error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Individual fruit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bitmask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Per-fruit area feeds weight estimation to the retailer's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Grasp point on fruit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keypoint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Links vision to the e-skin force decision for the dexterous hand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Punnet / tray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bounding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Placement and fill checks against retailer packing 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Defect or damage (bruise, split, mould)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polygon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Reject decisions and evidence that handling caused no bruising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Occlusion / tangled truss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frame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Flags the hard frames worth over-sampling in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Crop variety and site conditions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frame classification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Lets them slice model performance per packhouse, variety and shift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WHERE ENCORD 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Lead with Index then Annotate, the rest follows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91440" cy="8229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Register the data where it already lives. Embeddings and quality metrics on every frame. Find the frames worth labelling; drop the repeats.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91440" cy="8229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432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Annotate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3580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Label video, 3D and images with SAM auto-segmentation and tracking. Ontology, review workflow, managed workforce if needed.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39"/>
            <a:ext cx="91440" cy="822960"/>
          </a:xfrm>
          <a:prstGeom prst="rect">
            <a:avLst/>
          </a:prstGeom>
          <a:solidFill>
            <a:srgbClr val="DF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49039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Active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Import predictions. Accuracy by class, site and condition. Find label errors. Know exactly what to label next.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79"/>
            <a:ext cx="91440" cy="822960"/>
          </a:xfrm>
          <a:prstGeom prst="rect">
            <a:avLst/>
          </a:prstGeom>
          <a:solidFill>
            <a:srgbClr val="DF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54879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Run your own model as a workflow stage to pre-label and QA, so people adjudicate rather than draw.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737360"/>
            <a:ext cx="4937760" cy="402336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1737360"/>
            <a:ext cx="493776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19659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CLOSEST CASE STUDY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2402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71A33"/>
                </a:solidFill>
                <a:latin typeface="Calibri"/>
              </a:rPr>
              <a:t>Automotus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743200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+20% mAP, 35% smaller dataset, 33% lower labelling cost after curating with Encord.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5661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71A33"/>
                </a:solidFill>
                <a:latin typeface="Calibri"/>
              </a:rPr>
              <a:t>Fixed cameras producing huge volumes of repetitive street footage, same problem as a fixed cell over a conveyor: the constraint is choosing which frames deserve labels, not annotation speed alone.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D6180"/>
                </a:solidFill>
                <a:latin typeface="Calibri"/>
              </a:rPr>
              <a:t>Data stays in your bucket. SOC2 Type II, HIPAA, GDPR. Everything the UI does, the SDK does.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PROPOSED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A two-week proof of value on one site's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78308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1, day 1-2: register one packhouse's recorded footage from their own S3/GCS bucket in Index (data never moves), generate embeddings and quality metrics, show the duplicate clusters and the blurred or badly lit tail.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60604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1, day 3-5: build two Collections of equal size from the same footage, one random and one de-duplicated plus diversity-sampled. Success metric: at least 40% fewer frames needed to cover the same set of distinct trusses and punnets.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2900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2, day 1-2: set up the stem polyline, snip keypoint, fruit bitmask and defect ontology in Annotate with SAM 3 and object tracking on native video; measure minutes per truss versus their current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9768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5196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2, day 3-4: if they can share a model, run it as an Agent pre-labelling stage and import predictions into Active. Success metric: percentage of pre-labels accepted without edit, plus a confusion matrix and per-slice F1 on stem detection.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2064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0749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2, day 5: train or fine-tune on the curated Collection versus the random one of equal size. Success metric: higher snip-point accuracy and stem F1 on a held-out packhouse, and a ranked list of the next 500 frames to label.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LET'S TEST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What we'd like to learn from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65836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When you commission a new packhouse or a new variety, how many frames do you label before the cell is ready, and who does that labelling?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How do you currently decide which recorded frames are worth annotating, and how much of what you label turns out to be near-duplicate?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What does a snip failure look like in your logs, and how do you trace it back to the training data that caused it?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Do you evaluate stem detection and weight estimation per site and per variety, or only by line throughput after rollout?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Does footage stay on site in each packhouse, or does it come back to your own cloud storage, and what have customers said about data leaving their premises?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37360"/>
            <a:ext cx="3840480" cy="2377440"/>
          </a:xfrm>
          <a:prstGeom prst="rect">
            <a:avLst/>
          </a:prstGeom>
          <a:solidFill>
            <a:srgbClr val="121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6596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9BCDC"/>
                </a:solidFill>
                <a:latin typeface="Calibri"/>
              </a:rPr>
              <a:t>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286000"/>
            <a:ext cx="3383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Qais Al-Azkawi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Commercial Associate, Encord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qaisqas@gmail.com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