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questions to test this:</a:t>
            </a:r>
          </a:p>
          <a:p>
            <a:r>
              <a:t>- When you commission a new packhouse or a new cultivar, how many frames do you label and how long does it take before Avarai hits the required snip accuracy?</a:t>
            </a:r>
          </a:p>
          <a:p>
            <a:r>
              <a:t>- Where does the footage from deployed cells actually live today, and is it centralised or still on the industrial PC at each site?</a:t>
            </a:r>
          </a:p>
          <a:p>
            <a:r>
              <a:t>- Who draws the stem polylines and snip points right now, your engineers, a contracted crew, or packhouse staff, and in what tool?</a:t>
            </a:r>
          </a:p>
          <a:p>
            <a:r>
              <a:t>- When a site reports bad snips or bruised fruit, how do you find the matching frames and decide what to label next?</a:t>
            </a:r>
          </a:p>
          <a:p>
            <a:r>
              <a:t>- Are the electronic skin readings time-synced with the camera frames, and do you ever want to review them alongside the video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low</a:t>
            </a:r>
          </a:p>
          <a:p>
            <a:r>
              <a:t>Risks:</a:t>
            </a:r>
          </a:p>
          <a:p>
            <a:r>
              <a:t>- Thin evidence: no ML job ads, no recent signals and no public engineering blog, so the labelling pain is inferred from the product rather than observed. Team may be tiny and doing everything with CVAT plus scripts.</a:t>
            </a:r>
          </a:p>
          <a:p>
            <a:r>
              <a:t>- Hardware-first culture; the differentiator they market is the electronic skin, so vision data tooling may not have budget ownership or urgency.</a:t>
            </a:r>
          </a:p>
          <a:p>
            <a:r>
              <a:t>- Possible reliance on an Intel or integrator partner for the vision stack, which would move the buying decision outside Wootzano.</a:t>
            </a:r>
          </a:p>
          <a:p>
            <a:r>
              <a:t>- Company size and funding stage mean a per-seat platform may be priced above what a sub-ten-person engineering team will approve without a clear per-line ROI 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109728"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3200400" cy="365760"/>
          </a:xfrm>
          <a:prstGeom prst="rect">
            <a:avLst/>
          </a:prstGeom>
          <a:noFill/>
        </p:spPr>
        <p:txBody>
          <a:bodyPr wrap="square" anchor="t" lIns="0" rIns="0" tIns="0" bIns="0">
            <a:spAutoFit/>
          </a:bodyPr>
          <a:lstStyle/>
          <a:p>
            <a:pPr algn="l">
              <a:spcAft>
                <a:spcPts val="400"/>
              </a:spcAft>
            </a:pPr>
            <a:r>
              <a:rPr sz="1200" b="1">
                <a:solidFill>
                  <a:srgbClr val="FFFFFF"/>
                </a:solidFill>
                <a:latin typeface="Calibri"/>
              </a:rPr>
              <a:t>ENCORD</a:t>
            </a:r>
          </a:p>
        </p:txBody>
      </p:sp>
      <p:sp>
        <p:nvSpPr>
          <p:cNvPr id="5" name="TextBox 4"/>
          <p:cNvSpPr txBox="1"/>
          <p:nvPr/>
        </p:nvSpPr>
        <p:spPr>
          <a:xfrm>
            <a:off x="548640" y="5577840"/>
            <a:ext cx="3200400" cy="914400"/>
          </a:xfrm>
          <a:prstGeom prst="rect">
            <a:avLst/>
          </a:prstGeom>
          <a:noFill/>
        </p:spPr>
        <p:txBody>
          <a:bodyPr wrap="square" anchor="t" lIns="0" rIns="0" tIns="0" bIns="0">
            <a:spAutoFit/>
          </a:bodyPr>
          <a:lstStyle/>
          <a:p>
            <a:pPr algn="l">
              <a:spcAft>
                <a:spcPts val="400"/>
              </a:spcAft>
            </a:pPr>
            <a:r>
              <a:rPr sz="1000" b="0">
                <a:solidFill>
                  <a:srgbClr val="B9BCDC"/>
                </a:solidFill>
                <a:latin typeface="Calibri"/>
              </a:rPr>
              <a:t>Prepared 2026-10-05</a:t>
            </a:r>
          </a:p>
          <a:p>
            <a:pPr algn="l">
              <a:spcAft>
                <a:spcPts val="400"/>
              </a:spcAft>
            </a:pPr>
            <a:r>
              <a:rPr sz="1000" b="0">
                <a:solidFill>
                  <a:srgbClr val="B9BCDC"/>
                </a:solidFill>
                <a:latin typeface="Calibri"/>
              </a:rPr>
              <a:t>Qais Al-Azkawi</a:t>
            </a:r>
          </a:p>
          <a:p>
            <a:pPr algn="l">
              <a:spcAft>
                <a:spcPts val="400"/>
              </a:spcAft>
            </a:pPr>
            <a:r>
              <a:rPr sz="1000" b="0">
                <a:solidFill>
                  <a:srgbClr val="B9BCDC"/>
                </a:solidFill>
                <a:latin typeface="Calibri"/>
              </a:rPr>
              <a:t>DRAFT for review</a:t>
            </a:r>
          </a:p>
        </p:txBody>
      </p:sp>
      <p:sp>
        <p:nvSpPr>
          <p:cNvPr id="6" name="TextBox 5"/>
          <p:cNvSpPr txBox="1"/>
          <p:nvPr/>
        </p:nvSpPr>
        <p:spPr>
          <a:xfrm>
            <a:off x="4846320" y="1828800"/>
            <a:ext cx="6766560" cy="1280160"/>
          </a:xfrm>
          <a:prstGeom prst="rect">
            <a:avLst/>
          </a:prstGeom>
          <a:noFill/>
        </p:spPr>
        <p:txBody>
          <a:bodyPr wrap="square" anchor="t" lIns="0" rIns="0" tIns="0" bIns="0">
            <a:spAutoFit/>
          </a:bodyPr>
          <a:lstStyle/>
          <a:p>
            <a:pPr algn="l">
              <a:spcAft>
                <a:spcPts val="400"/>
              </a:spcAft>
            </a:pPr>
            <a:r>
              <a:rPr sz="4000" b="1">
                <a:solidFill>
                  <a:srgbClr val="171A33"/>
                </a:solidFill>
                <a:latin typeface="Calibri"/>
              </a:rPr>
              <a:t>Encord x Wootzano</a:t>
            </a:r>
          </a:p>
        </p:txBody>
      </p:sp>
      <p:sp>
        <p:nvSpPr>
          <p:cNvPr id="7" name="TextBox 6"/>
          <p:cNvSpPr txBox="1"/>
          <p:nvPr/>
        </p:nvSpPr>
        <p:spPr>
          <a:xfrm>
            <a:off x="4846320" y="3108960"/>
            <a:ext cx="6766560" cy="2011680"/>
          </a:xfrm>
          <a:prstGeom prst="rect">
            <a:avLst/>
          </a:prstGeom>
          <a:noFill/>
        </p:spPr>
        <p:txBody>
          <a:bodyPr wrap="square" anchor="t" lIns="0" rIns="0" tIns="0" bIns="0">
            <a:spAutoFit/>
          </a:bodyPr>
          <a:lstStyle/>
          <a:p>
            <a:pPr algn="l">
              <a:spcAft>
                <a:spcPts val="400"/>
              </a:spcAft>
            </a:pPr>
            <a:r>
              <a:rPr sz="1800" b="0">
                <a:solidFill>
                  <a:srgbClr val="5D6180"/>
                </a:solidFill>
                <a:latin typeface="Calibri"/>
              </a:rPr>
              <a:t>Wootzano sells a per-line ROI promise (clean snip, no bruising, day two live), and every new packhouse, cultivar and season quietly forces another round of vision labelling that a small team has to absorb; that recurring cost is where Encord fits.</a:t>
            </a:r>
          </a:p>
        </p:txBody>
      </p:sp>
      <p:sp>
        <p:nvSpPr>
          <p:cNvPr id="8" name="TextBox 7"/>
          <p:cNvSpPr txBox="1"/>
          <p:nvPr/>
        </p:nvSpPr>
        <p:spPr>
          <a:xfrm>
            <a:off x="4846320" y="5760720"/>
            <a:ext cx="6766560" cy="45720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A first-meeting point of view. Everything here is our reading of public information; the questions are where we want to be corrected.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WHAT WE UNDERSTAND</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Wootzano builds, and how we think the data flows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2</a:t>
            </a:r>
          </a:p>
        </p:txBody>
      </p:sp>
      <p:sp>
        <p:nvSpPr>
          <p:cNvPr id="7" name="TextBox 6"/>
          <p:cNvSpPr txBox="1"/>
          <p:nvPr/>
        </p:nvSpPr>
        <p:spPr>
          <a:xfrm>
            <a:off x="640080" y="1737360"/>
            <a:ext cx="5120640" cy="4114800"/>
          </a:xfrm>
          <a:prstGeom prst="rect">
            <a:avLst/>
          </a:prstGeom>
          <a:noFill/>
        </p:spPr>
        <p:txBody>
          <a:bodyPr wrap="square" anchor="t" lIns="0" rIns="0" tIns="0" bIns="0">
            <a:spAutoFit/>
          </a:bodyPr>
          <a:lstStyle/>
          <a:p>
            <a:pPr algn="l">
              <a:spcAft>
                <a:spcPts val="800"/>
              </a:spcAft>
            </a:pPr>
            <a:r>
              <a:rPr sz="1400" b="0">
                <a:solidFill>
                  <a:srgbClr val="171A33"/>
                </a:solidFill>
                <a:latin typeface="Calibri"/>
              </a:rPr>
              <a:t>Avarai is a collaborative robotic packing cell for post-harvest fresh produce, sized to replace one human station on a packing line, with a dexterous hand covered in a patented food-safe electronic skin and a vision system that detects stems and snips vine produce to a target punnet weight. Buyers are packhouse operators and growers who pay against labour cost per line, with claims of 30% cost saving and 40-50% productivity increase. Economic buyer is likely the CTO or founder, since the team appears small and no ML job ads are visible.</a:t>
            </a:r>
          </a:p>
        </p:txBody>
      </p:sp>
      <p:sp>
        <p:nvSpPr>
          <p:cNvPr id="8" name="TextBox 7"/>
          <p:cNvSpPr txBox="1"/>
          <p:nvPr/>
        </p:nvSpPr>
        <p:spPr>
          <a:xfrm>
            <a:off x="6217920" y="1737360"/>
            <a:ext cx="530352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INFERRED PIPELINE (guesses marked)</a:t>
            </a:r>
          </a:p>
        </p:txBody>
      </p:sp>
      <p:sp>
        <p:nvSpPr>
          <p:cNvPr id="9" name="Oval 8"/>
          <p:cNvSpPr/>
          <p:nvPr/>
        </p:nvSpPr>
        <p:spPr>
          <a:xfrm>
            <a:off x="6217920" y="2103120"/>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103120"/>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1" name="TextBox 10"/>
          <p:cNvSpPr txBox="1"/>
          <p:nvPr/>
        </p:nvSpPr>
        <p:spPr>
          <a:xfrm>
            <a:off x="6766560" y="208483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Cameras (likely RGB plus depth, Intel RealSense given the stated Intel partnership) capture top-down and side views of vine trusses and punnets on the conveyor; GUESS, no hardware detail published.</a:t>
            </a:r>
          </a:p>
        </p:txBody>
      </p:sp>
      <p:sp>
        <p:nvSpPr>
          <p:cNvPr id="12" name="Oval 11"/>
          <p:cNvSpPr/>
          <p:nvPr/>
        </p:nvSpPr>
        <p:spPr>
          <a:xfrm>
            <a:off x="6217920" y="2761487"/>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761487"/>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766560" y="2743199"/>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Frames are recorded per cell and per site, probably to local NVRs or an industrial PC, then shipped or synced to a central store for training; GUESS on whether anything is centralised today.</a:t>
            </a:r>
          </a:p>
        </p:txBody>
      </p:sp>
      <p:sp>
        <p:nvSpPr>
          <p:cNvPr id="15" name="Oval 14"/>
          <p:cNvSpPr/>
          <p:nvPr/>
        </p:nvSpPr>
        <p:spPr>
          <a:xfrm>
            <a:off x="6217920" y="3419855"/>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19855"/>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7" name="TextBox 16"/>
          <p:cNvSpPr txBox="1"/>
          <p:nvPr/>
        </p:nvSpPr>
        <p:spPr>
          <a:xfrm>
            <a:off x="6766560" y="3401567"/>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Engineers hand pick interesting clips, mostly ones from failed snips, bruised fruit or missed stems reported by the site; GUESS, but typical for a small robotics team without curation tooling.</a:t>
            </a:r>
          </a:p>
        </p:txBody>
      </p:sp>
      <p:sp>
        <p:nvSpPr>
          <p:cNvPr id="18" name="Oval 17"/>
          <p:cNvSpPr/>
          <p:nvPr/>
        </p:nvSpPr>
        <p:spPr>
          <a:xfrm>
            <a:off x="6217920" y="4078223"/>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078223"/>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0" name="TextBox 19"/>
          <p:cNvSpPr txBox="1"/>
          <p:nvPr/>
        </p:nvSpPr>
        <p:spPr>
          <a:xfrm>
            <a:off x="6766560" y="4059935"/>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Labelling is done in-house or with a small outsourced crew using an open source tool (CVAT or similar) for stems, fruit instances and snip points; GUESS.</a:t>
            </a:r>
          </a:p>
        </p:txBody>
      </p:sp>
      <p:sp>
        <p:nvSpPr>
          <p:cNvPr id="21" name="Oval 20"/>
          <p:cNvSpPr/>
          <p:nvPr/>
        </p:nvSpPr>
        <p:spPr>
          <a:xfrm>
            <a:off x="6217920" y="4736591"/>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4736591"/>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3" name="TextBox 22"/>
          <p:cNvSpPr txBox="1"/>
          <p:nvPr/>
        </p:nvSpPr>
        <p:spPr>
          <a:xfrm>
            <a:off x="6766560" y="4718303"/>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Detection and segmentation models are retrained and validated on a held out set, then deployed to the cell; weight estimation and grasp force likely combine vision output with electronic skin readings, tuned rather than learned end to end.</a:t>
            </a:r>
          </a:p>
        </p:txBody>
      </p:sp>
      <p:sp>
        <p:nvSpPr>
          <p:cNvPr id="24" name="Oval 23"/>
          <p:cNvSpPr/>
          <p:nvPr/>
        </p:nvSpPr>
        <p:spPr>
          <a:xfrm>
            <a:off x="6217920" y="5394959"/>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5394959"/>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26" name="TextBox 25"/>
          <p:cNvSpPr txBox="1"/>
          <p:nvPr/>
        </p:nvSpPr>
        <p:spPr>
          <a:xfrm>
            <a:off x="6766560" y="537667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Field performance is judged by line metrics (punnets per minute, reject rate, bruising complaints) rather than by model metrics tied back to specific data slices; GUESS.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WE THINK IT HURTS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Three hypotheses, ranked by how sure we are</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3</a:t>
            </a:r>
          </a:p>
        </p:txBody>
      </p:sp>
      <p:sp>
        <p:nvSpPr>
          <p:cNvPr id="7" name="Rectangle 6"/>
          <p:cNvSpPr/>
          <p:nvPr/>
        </p:nvSpPr>
        <p:spPr>
          <a:xfrm>
            <a:off x="64008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1</a:t>
            </a:r>
          </a:p>
        </p:txBody>
      </p:sp>
      <p:sp>
        <p:nvSpPr>
          <p:cNvPr id="10" name="TextBox 9"/>
          <p:cNvSpPr txBox="1"/>
          <p:nvPr/>
        </p:nvSpPr>
        <p:spPr>
          <a:xfrm>
            <a:off x="86868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Every new site, cultivar or season shifts lighting, trusses and punnet types, so the vision model needs re-labelling and retraining before a cell can be commissioned at the promised day two.</a:t>
            </a:r>
          </a:p>
        </p:txBody>
      </p:sp>
      <p:sp>
        <p:nvSpPr>
          <p:cNvPr id="11" name="TextBox 10"/>
          <p:cNvSpPr txBox="1"/>
          <p:nvPr/>
        </p:nvSpPr>
        <p:spPr>
          <a:xfrm>
            <a:off x="86868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12" name="TextBox 11"/>
          <p:cNvSpPr txBox="1"/>
          <p:nvPr/>
        </p:nvSpPr>
        <p:spPr>
          <a:xfrm>
            <a:off x="86868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Site promises Day 1 install, Day 2 ready to use, and adaptability across produce; that only holds if new produce data turns round in days, not weeks.</a:t>
            </a:r>
          </a:p>
        </p:txBody>
      </p:sp>
      <p:sp>
        <p:nvSpPr>
          <p:cNvPr id="13" name="TextBox 12"/>
          <p:cNvSpPr txBox="1"/>
          <p:nvPr/>
        </p:nvSpPr>
        <p:spPr>
          <a:xfrm>
            <a:off x="86868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14" name="TextBox 13"/>
          <p:cNvSpPr txBox="1"/>
          <p:nvPr/>
        </p:nvSpPr>
        <p:spPr>
          <a:xfrm>
            <a:off x="86868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Annotate with SAM 3 auto-segmentation, object tracking and interpolation on native video to label a new cultivar fast, plus a managed labelling workforce for peaks. Ontology reuse means one stem and fruit schema applies across sites without rebuilding the project.</a:t>
            </a:r>
          </a:p>
        </p:txBody>
      </p:sp>
      <p:sp>
        <p:nvSpPr>
          <p:cNvPr id="15" name="Rectangle 14"/>
          <p:cNvSpPr/>
          <p:nvPr/>
        </p:nvSpPr>
        <p:spPr>
          <a:xfrm>
            <a:off x="438912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2</a:t>
            </a:r>
          </a:p>
        </p:txBody>
      </p:sp>
      <p:sp>
        <p:nvSpPr>
          <p:cNvPr id="18" name="TextBox 17"/>
          <p:cNvSpPr txBox="1"/>
          <p:nvPr/>
        </p:nvSpPr>
        <p:spPr>
          <a:xfrm>
            <a:off x="461772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Conveyor footage is highly repetitive, so engineers label near identical frames and still miss the rare failures (hidden stems, overlapping trusses, damaged fruit) that cause bad snips.</a:t>
            </a:r>
          </a:p>
        </p:txBody>
      </p:sp>
      <p:sp>
        <p:nvSpPr>
          <p:cNvPr id="19" name="TextBox 18"/>
          <p:cNvSpPr txBox="1"/>
          <p:nvPr/>
        </p:nvSpPr>
        <p:spPr>
          <a:xfrm>
            <a:off x="461772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0" name="TextBox 19"/>
          <p:cNvSpPr txBox="1"/>
          <p:nvPr/>
        </p:nvSpPr>
        <p:spPr>
          <a:xfrm>
            <a:off x="461772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Fixed camera on a moving line plus the marketing emphasis on a clean precise snip every time implies the value sits in rare edge cases, not the average frame.</a:t>
            </a:r>
          </a:p>
        </p:txBody>
      </p:sp>
      <p:sp>
        <p:nvSpPr>
          <p:cNvPr id="21" name="TextBox 20"/>
          <p:cNvSpPr txBox="1"/>
          <p:nvPr/>
        </p:nvSpPr>
        <p:spPr>
          <a:xfrm>
            <a:off x="461772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22" name="TextBox 21"/>
          <p:cNvSpPr txBox="1"/>
          <p:nvPr/>
        </p:nvSpPr>
        <p:spPr>
          <a:xfrm>
            <a:off x="461772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Index registers frames from your own S3 or Azure bucket with no data movement, computes embeddings and quality metrics, and lets you de-duplicate and similarity search for the rare truss geometries. Our own test cut frames to label by 61% while keeping 95% of scenes.</a:t>
            </a:r>
          </a:p>
        </p:txBody>
      </p:sp>
      <p:sp>
        <p:nvSpPr>
          <p:cNvPr id="23" name="Rectangle 22"/>
          <p:cNvSpPr/>
          <p:nvPr/>
        </p:nvSpPr>
        <p:spPr>
          <a:xfrm>
            <a:off x="8138159"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59"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59"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3</a:t>
            </a:r>
          </a:p>
        </p:txBody>
      </p:sp>
      <p:sp>
        <p:nvSpPr>
          <p:cNvPr id="26" name="TextBox 25"/>
          <p:cNvSpPr txBox="1"/>
          <p:nvPr/>
        </p:nvSpPr>
        <p:spPr>
          <a:xfrm>
            <a:off x="8366759"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No clear way to tell which data to label next, so retraining is driven by whichever site complained most recently rather than by measured failure modes.</a:t>
            </a:r>
          </a:p>
        </p:txBody>
      </p:sp>
      <p:sp>
        <p:nvSpPr>
          <p:cNvPr id="27" name="TextBox 26"/>
          <p:cNvSpPr txBox="1"/>
          <p:nvPr/>
        </p:nvSpPr>
        <p:spPr>
          <a:xfrm>
            <a:off x="8366759"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8" name="TextBox 27"/>
          <p:cNvSpPr txBox="1"/>
          <p:nvPr/>
        </p:nvSpPr>
        <p:spPr>
          <a:xfrm>
            <a:off x="8366759"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No ML job ads and no public ML engineering team suggests a thin team with no dedicated evaluation tooling; inferred, not stated.</a:t>
            </a:r>
          </a:p>
        </p:txBody>
      </p:sp>
      <p:sp>
        <p:nvSpPr>
          <p:cNvPr id="29" name="TextBox 28"/>
          <p:cNvSpPr txBox="1"/>
          <p:nvPr/>
        </p:nvSpPr>
        <p:spPr>
          <a:xfrm>
            <a:off x="8366759"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30" name="TextBox 29"/>
          <p:cNvSpPr txBox="1"/>
          <p:nvPr/>
        </p:nvSpPr>
        <p:spPr>
          <a:xfrm>
            <a:off x="8366759"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Active imports your predictions and gives mAP, F1, confusion matrix and PR curves sliced by class, site or any data metric, with metric-to-failure correlation telling you which frames to label next. Also flags label errors in existing stem and fruit annotations.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A STARTING ONTOLOGY</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 would label for Wootzano, and how</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4</a:t>
            </a:r>
          </a:p>
        </p:txBody>
      </p:sp>
      <p:sp>
        <p:nvSpPr>
          <p:cNvPr id="7" name="TextBox 6"/>
          <p:cNvSpPr txBox="1"/>
          <p:nvPr/>
        </p:nvSpPr>
        <p:spPr>
          <a:xfrm>
            <a:off x="640080" y="1691640"/>
            <a:ext cx="10972800" cy="365760"/>
          </a:xfrm>
          <a:prstGeom prst="rect">
            <a:avLst/>
          </a:prstGeom>
          <a:noFill/>
        </p:spPr>
        <p:txBody>
          <a:bodyPr wrap="square" anchor="t" lIns="0" rIns="0" tIns="0" bIns="0">
            <a:spAutoFit/>
          </a:bodyPr>
          <a:lstStyle/>
          <a:p>
            <a:pPr algn="l">
              <a:spcAft>
                <a:spcPts val="400"/>
              </a:spcAft>
            </a:pPr>
            <a:r>
              <a:rPr sz="1200" b="0">
                <a:solidFill>
                  <a:srgbClr val="5D6180"/>
                </a:solidFill>
                <a:latin typeface="Calibri"/>
              </a:rPr>
              <a:t>A proposal to argue with. The shapes matter: they decide what the model can learn and what the labellers spend time on.</a:t>
            </a:r>
          </a:p>
        </p:txBody>
      </p:sp>
      <p:graphicFrame>
        <p:nvGraphicFramePr>
          <p:cNvPr id="8" name="Table 7"/>
          <p:cNvGraphicFramePr>
            <a:graphicFrameLocks noGrp="1"/>
          </p:cNvGraphicFramePr>
          <p:nvPr/>
        </p:nvGraphicFramePr>
        <p:xfrm>
          <a:off x="640080" y="2194560"/>
          <a:ext cx="10881360" cy="3291840"/>
        </p:xfrm>
        <a:graphic>
          <a:graphicData uri="http://schemas.openxmlformats.org/drawingml/2006/table">
            <a:tbl>
              <a:tblPr firstRow="1" bandRow="1">
                <a:tableStyleId>{5C22544A-7EE6-4342-B048-85BDC9FD1C3A}</a:tableStyleId>
              </a:tblPr>
              <a:tblGrid>
                <a:gridCol w="2926080"/>
                <a:gridCol w="1828800"/>
                <a:gridCol w="6126480"/>
              </a:tblGrid>
              <a:tr h="365760">
                <a:tc>
                  <a:txBody>
                    <a:bodyPr/>
                    <a:lstStyle/>
                    <a:p>
                      <a:r>
                        <a:rPr sz="1100" b="1">
                          <a:solidFill>
                            <a:srgbClr val="FFFFFF"/>
                          </a:solidFill>
                          <a:latin typeface="Calibri"/>
                        </a:rPr>
                        <a:t>Class</a:t>
                      </a:r>
                    </a:p>
                  </a:txBody>
                  <a:tcPr>
                    <a:solidFill>
                      <a:srgbClr val="4F46E5"/>
                    </a:solidFill>
                  </a:tcPr>
                </a:tc>
                <a:tc>
                  <a:txBody>
                    <a:bodyPr/>
                    <a:lstStyle/>
                    <a:p>
                      <a:r>
                        <a:rPr sz="1100" b="1">
                          <a:solidFill>
                            <a:srgbClr val="FFFFFF"/>
                          </a:solidFill>
                          <a:latin typeface="Calibri"/>
                        </a:rPr>
                        <a:t>Shape</a:t>
                      </a:r>
                    </a:p>
                  </a:txBody>
                  <a:tcPr>
                    <a:solidFill>
                      <a:srgbClr val="4F46E5"/>
                    </a:solidFill>
                  </a:tcPr>
                </a:tc>
                <a:tc>
                  <a:txBody>
                    <a:bodyPr/>
                    <a:lstStyle/>
                    <a:p>
                      <a:r>
                        <a:rPr sz="1100" b="1">
                          <a:solidFill>
                            <a:srgbClr val="FFFFFF"/>
                          </a:solidFill>
                          <a:latin typeface="Calibri"/>
                        </a:rPr>
                        <a:t>Why this shape</a:t>
                      </a:r>
                    </a:p>
                  </a:txBody>
                  <a:tcPr>
                    <a:solidFill>
                      <a:srgbClr val="4F46E5"/>
                    </a:solidFill>
                  </a:tcPr>
                </a:tc>
              </a:tr>
              <a:tr h="365760">
                <a:tc>
                  <a:txBody>
                    <a:bodyPr/>
                    <a:lstStyle/>
                    <a:p>
                      <a:r>
                        <a:rPr sz="1050" b="1">
                          <a:solidFill>
                            <a:srgbClr val="171A33"/>
                          </a:solidFill>
                          <a:latin typeface="Calibri"/>
                        </a:rPr>
                        <a:t>Vine stem / truss backbone</a:t>
                      </a:r>
                    </a:p>
                  </a:txBody>
                  <a:tcPr>
                    <a:solidFill>
                      <a:srgbClr val="FFFFFF"/>
                    </a:solidFill>
                  </a:tcPr>
                </a:tc>
                <a:tc>
                  <a:txBody>
                    <a:bodyPr/>
                    <a:lstStyle/>
                    <a:p>
                      <a:r>
                        <a:rPr sz="1050" b="0">
                          <a:solidFill>
                            <a:srgbClr val="171A33"/>
                          </a:solidFill>
                          <a:latin typeface="Calibri"/>
                        </a:rPr>
                        <a:t>polyline</a:t>
                      </a:r>
                    </a:p>
                  </a:txBody>
                  <a:tcPr>
                    <a:solidFill>
                      <a:srgbClr val="FFFFFF"/>
                    </a:solidFill>
                  </a:tcPr>
                </a:tc>
                <a:tc>
                  <a:txBody>
                    <a:bodyPr/>
                    <a:lstStyle/>
                    <a:p>
                      <a:r>
                        <a:rPr sz="1050" b="0">
                          <a:solidFill>
                            <a:srgbClr val="171A33"/>
                          </a:solidFill>
                          <a:latin typeface="Calibri"/>
                        </a:rPr>
                        <a:t>Snip location depends on stem path, not a box; polyline captures branching geometry</a:t>
                      </a:r>
                    </a:p>
                  </a:txBody>
                  <a:tcPr>
                    <a:solidFill>
                      <a:srgbClr val="FFFFFF"/>
                    </a:solidFill>
                  </a:tcPr>
                </a:tc>
              </a:tr>
              <a:tr h="365760">
                <a:tc>
                  <a:txBody>
                    <a:bodyPr/>
                    <a:lstStyle/>
                    <a:p>
                      <a:r>
                        <a:rPr sz="1050" b="1">
                          <a:solidFill>
                            <a:srgbClr val="171A33"/>
                          </a:solidFill>
                          <a:latin typeface="Calibri"/>
                        </a:rPr>
                        <a:t>Snip point</a:t>
                      </a:r>
                    </a:p>
                  </a:txBody>
                  <a:tcPr>
                    <a:solidFill>
                      <a:srgbClr val="EEEDFB"/>
                    </a:solidFill>
                  </a:tcPr>
                </a:tc>
                <a:tc>
                  <a:txBody>
                    <a:bodyPr/>
                    <a:lstStyle/>
                    <a:p>
                      <a:r>
                        <a:rPr sz="1050" b="0">
                          <a:solidFill>
                            <a:srgbClr val="171A33"/>
                          </a:solidFill>
                          <a:latin typeface="Calibri"/>
                        </a:rPr>
                        <a:t>keypoint</a:t>
                      </a:r>
                    </a:p>
                  </a:txBody>
                  <a:tcPr>
                    <a:solidFill>
                      <a:srgbClr val="EEEDFB"/>
                    </a:solidFill>
                  </a:tcPr>
                </a:tc>
                <a:tc>
                  <a:txBody>
                    <a:bodyPr/>
                    <a:lstStyle/>
                    <a:p>
                      <a:r>
                        <a:rPr sz="1050" b="0">
                          <a:solidFill>
                            <a:srgbClr val="171A33"/>
                          </a:solidFill>
                          <a:latin typeface="Calibri"/>
                        </a:rPr>
                        <a:t>The single actionable output of the vision system, needs pixel level supervision</a:t>
                      </a:r>
                    </a:p>
                  </a:txBody>
                  <a:tcPr>
                    <a:solidFill>
                      <a:srgbClr val="EEEDFB"/>
                    </a:solidFill>
                  </a:tcPr>
                </a:tc>
              </a:tr>
              <a:tr h="365760">
                <a:tc>
                  <a:txBody>
                    <a:bodyPr/>
                    <a:lstStyle/>
                    <a:p>
                      <a:r>
                        <a:rPr sz="1050" b="1">
                          <a:solidFill>
                            <a:srgbClr val="171A33"/>
                          </a:solidFill>
                          <a:latin typeface="Calibri"/>
                        </a:rPr>
                        <a:t>Individual fruit instance</a:t>
                      </a:r>
                    </a:p>
                  </a:txBody>
                  <a:tcPr>
                    <a:solidFill>
                      <a:srgbClr val="FFFFFF"/>
                    </a:solidFill>
                  </a:tcPr>
                </a:tc>
                <a:tc>
                  <a:txBody>
                    <a:bodyPr/>
                    <a:lstStyle/>
                    <a:p>
                      <a:r>
                        <a:rPr sz="1050" b="0">
                          <a:solidFill>
                            <a:srgbClr val="171A33"/>
                          </a:solidFill>
                          <a:latin typeface="Calibri"/>
                        </a:rPr>
                        <a:t>bitmask</a:t>
                      </a:r>
                    </a:p>
                  </a:txBody>
                  <a:tcPr>
                    <a:solidFill>
                      <a:srgbClr val="FFFFFF"/>
                    </a:solidFill>
                  </a:tcPr>
                </a:tc>
                <a:tc>
                  <a:txBody>
                    <a:bodyPr/>
                    <a:lstStyle/>
                    <a:p>
                      <a:r>
                        <a:rPr sz="1050" b="0">
                          <a:solidFill>
                            <a:srgbClr val="171A33"/>
                          </a:solidFill>
                          <a:latin typeface="Calibri"/>
                        </a:rPr>
                        <a:t>Overlapping tomatoes on a truss need instance masks for weight estimation</a:t>
                      </a:r>
                    </a:p>
                  </a:txBody>
                  <a:tcPr>
                    <a:solidFill>
                      <a:srgbClr val="FFFFFF"/>
                    </a:solidFill>
                  </a:tcPr>
                </a:tc>
              </a:tr>
              <a:tr h="365760">
                <a:tc>
                  <a:txBody>
                    <a:bodyPr/>
                    <a:lstStyle/>
                    <a:p>
                      <a:r>
                        <a:rPr sz="1050" b="1">
                          <a:solidFill>
                            <a:srgbClr val="171A33"/>
                          </a:solidFill>
                          <a:latin typeface="Calibri"/>
                        </a:rPr>
                        <a:t>Calyx / stem-fruit junction</a:t>
                      </a:r>
                    </a:p>
                  </a:txBody>
                  <a:tcPr>
                    <a:solidFill>
                      <a:srgbClr val="EEEDFB"/>
                    </a:solidFill>
                  </a:tcPr>
                </a:tc>
                <a:tc>
                  <a:txBody>
                    <a:bodyPr/>
                    <a:lstStyle/>
                    <a:p>
                      <a:r>
                        <a:rPr sz="1050" b="0">
                          <a:solidFill>
                            <a:srgbClr val="171A33"/>
                          </a:solidFill>
                          <a:latin typeface="Calibri"/>
                        </a:rPr>
                        <a:t>keypoint</a:t>
                      </a:r>
                    </a:p>
                  </a:txBody>
                  <a:tcPr>
                    <a:solidFill>
                      <a:srgbClr val="EEEDFB"/>
                    </a:solidFill>
                  </a:tcPr>
                </a:tc>
                <a:tc>
                  <a:txBody>
                    <a:bodyPr/>
                    <a:lstStyle/>
                    <a:p>
                      <a:r>
                        <a:rPr sz="1050" b="0">
                          <a:solidFill>
                            <a:srgbClr val="171A33"/>
                          </a:solidFill>
                          <a:latin typeface="Calibri"/>
                        </a:rPr>
                        <a:t>Anchors grasp planning and separates fruit from stem for clean cuts</a:t>
                      </a:r>
                    </a:p>
                  </a:txBody>
                  <a:tcPr>
                    <a:solidFill>
                      <a:srgbClr val="EEEDFB"/>
                    </a:solidFill>
                  </a:tcPr>
                </a:tc>
              </a:tr>
              <a:tr h="365760">
                <a:tc>
                  <a:txBody>
                    <a:bodyPr/>
                    <a:lstStyle/>
                    <a:p>
                      <a:r>
                        <a:rPr sz="1050" b="1">
                          <a:solidFill>
                            <a:srgbClr val="171A33"/>
                          </a:solidFill>
                          <a:latin typeface="Calibri"/>
                        </a:rPr>
                        <a:t>Punnet / tray</a:t>
                      </a:r>
                    </a:p>
                  </a:txBody>
                  <a:tcPr>
                    <a:solidFill>
                      <a:srgbClr val="FFFFFF"/>
                    </a:solidFill>
                  </a:tcPr>
                </a:tc>
                <a:tc>
                  <a:txBody>
                    <a:bodyPr/>
                    <a:lstStyle/>
                    <a:p>
                      <a:r>
                        <a:rPr sz="1050" b="0">
                          <a:solidFill>
                            <a:srgbClr val="171A33"/>
                          </a:solidFill>
                          <a:latin typeface="Calibri"/>
                        </a:rPr>
                        <a:t>bounding box</a:t>
                      </a:r>
                    </a:p>
                  </a:txBody>
                  <a:tcPr>
                    <a:solidFill>
                      <a:srgbClr val="FFFFFF"/>
                    </a:solidFill>
                  </a:tcPr>
                </a:tc>
                <a:tc>
                  <a:txBody>
                    <a:bodyPr/>
                    <a:lstStyle/>
                    <a:p>
                      <a:r>
                        <a:rPr sz="1050" b="0">
                          <a:solidFill>
                            <a:srgbClr val="171A33"/>
                          </a:solidFill>
                          <a:latin typeface="Calibri"/>
                        </a:rPr>
                        <a:t>Target container detection for placement and fill-level checks</a:t>
                      </a:r>
                    </a:p>
                  </a:txBody>
                  <a:tcPr>
                    <a:solidFill>
                      <a:srgbClr val="FFFFFF"/>
                    </a:solidFill>
                  </a:tcPr>
                </a:tc>
              </a:tr>
              <a:tr h="365760">
                <a:tc>
                  <a:txBody>
                    <a:bodyPr/>
                    <a:lstStyle/>
                    <a:p>
                      <a:r>
                        <a:rPr sz="1050" b="1">
                          <a:solidFill>
                            <a:srgbClr val="171A33"/>
                          </a:solidFill>
                          <a:latin typeface="Calibri"/>
                        </a:rPr>
                        <a:t>Surface defect or bruise</a:t>
                      </a:r>
                    </a:p>
                  </a:txBody>
                  <a:tcPr>
                    <a:solidFill>
                      <a:srgbClr val="EEEDFB"/>
                    </a:solidFill>
                  </a:tcPr>
                </a:tc>
                <a:tc>
                  <a:txBody>
                    <a:bodyPr/>
                    <a:lstStyle/>
                    <a:p>
                      <a:r>
                        <a:rPr sz="1050" b="0">
                          <a:solidFill>
                            <a:srgbClr val="171A33"/>
                          </a:solidFill>
                          <a:latin typeface="Calibri"/>
                        </a:rPr>
                        <a:t>polygon</a:t>
                      </a:r>
                    </a:p>
                  </a:txBody>
                  <a:tcPr>
                    <a:solidFill>
                      <a:srgbClr val="EEEDFB"/>
                    </a:solidFill>
                  </a:tcPr>
                </a:tc>
                <a:tc>
                  <a:txBody>
                    <a:bodyPr/>
                    <a:lstStyle/>
                    <a:p>
                      <a:r>
                        <a:rPr sz="1050" b="0">
                          <a:solidFill>
                            <a:srgbClr val="171A33"/>
                          </a:solidFill>
                          <a:latin typeface="Calibri"/>
                        </a:rPr>
                        <a:t>Grade and reject decisions; polygon handles irregular blemish shapes</a:t>
                      </a:r>
                    </a:p>
                  </a:txBody>
                  <a:tcPr>
                    <a:solidFill>
                      <a:srgbClr val="EEEDFB"/>
                    </a:solidFill>
                  </a:tcPr>
                </a:tc>
              </a:tr>
              <a:tr h="365760">
                <a:tc>
                  <a:txBody>
                    <a:bodyPr/>
                    <a:lstStyle/>
                    <a:p>
                      <a:r>
                        <a:rPr sz="1050" b="1">
                          <a:solidFill>
                            <a:srgbClr val="171A33"/>
                          </a:solidFill>
                          <a:latin typeface="Calibri"/>
                        </a:rPr>
                        <a:t>Grasp region on produce</a:t>
                      </a:r>
                    </a:p>
                  </a:txBody>
                  <a:tcPr>
                    <a:solidFill>
                      <a:srgbClr val="FFFFFF"/>
                    </a:solidFill>
                  </a:tcPr>
                </a:tc>
                <a:tc>
                  <a:txBody>
                    <a:bodyPr/>
                    <a:lstStyle/>
                    <a:p>
                      <a:r>
                        <a:rPr sz="1050" b="0">
                          <a:solidFill>
                            <a:srgbClr val="171A33"/>
                          </a:solidFill>
                          <a:latin typeface="Calibri"/>
                        </a:rPr>
                        <a:t>polygon</a:t>
                      </a:r>
                    </a:p>
                  </a:txBody>
                  <a:tcPr>
                    <a:solidFill>
                      <a:srgbClr val="FFFFFF"/>
                    </a:solidFill>
                  </a:tcPr>
                </a:tc>
                <a:tc>
                  <a:txBody>
                    <a:bodyPr/>
                    <a:lstStyle/>
                    <a:p>
                      <a:r>
                        <a:rPr sz="1050" b="0">
                          <a:solidFill>
                            <a:srgbClr val="171A33"/>
                          </a:solidFill>
                          <a:latin typeface="Calibri"/>
                        </a:rPr>
                        <a:t>Links vision to the electronic skin force policy and bruise avoidance</a:t>
                      </a:r>
                    </a:p>
                  </a:txBody>
                  <a:tcPr>
                    <a:solidFill>
                      <a:srgbClr val="FFFFFF"/>
                    </a:solidFill>
                  </a:tcPr>
                </a:tc>
              </a:tr>
              <a:tr h="365760">
                <a:tc>
                  <a:txBody>
                    <a:bodyPr/>
                    <a:lstStyle/>
                    <a:p>
                      <a:r>
                        <a:rPr sz="1050" b="1">
                          <a:solidFill>
                            <a:srgbClr val="171A33"/>
                          </a:solidFill>
                          <a:latin typeface="Calibri"/>
                        </a:rPr>
                        <a:t>Frame condition (cultivar, site, lighting, occlusion level)</a:t>
                      </a:r>
                    </a:p>
                  </a:txBody>
                  <a:tcPr>
                    <a:solidFill>
                      <a:srgbClr val="EEEDFB"/>
                    </a:solidFill>
                  </a:tcPr>
                </a:tc>
                <a:tc>
                  <a:txBody>
                    <a:bodyPr/>
                    <a:lstStyle/>
                    <a:p>
                      <a:r>
                        <a:rPr sz="1050" b="0">
                          <a:solidFill>
                            <a:srgbClr val="171A33"/>
                          </a:solidFill>
                          <a:latin typeface="Calibri"/>
                        </a:rPr>
                        <a:t>frame classification</a:t>
                      </a:r>
                    </a:p>
                  </a:txBody>
                  <a:tcPr>
                    <a:solidFill>
                      <a:srgbClr val="EEEDFB"/>
                    </a:solidFill>
                  </a:tcPr>
                </a:tc>
                <a:tc>
                  <a:txBody>
                    <a:bodyPr/>
                    <a:lstStyle/>
                    <a:p>
                      <a:r>
                        <a:rPr sz="1050" b="0">
                          <a:solidFill>
                            <a:srgbClr val="171A33"/>
                          </a:solidFill>
                          <a:latin typeface="Calibri"/>
                        </a:rPr>
                        <a:t>Lets you slice model performance by site and season in Active</a:t>
                      </a:r>
                    </a:p>
                  </a:txBody>
                  <a:tcPr>
                    <a:solidFill>
                      <a:srgbClr val="EEED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ENCORD FITS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Lead with Annotate then Index, the rest follows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5</a:t>
            </a:r>
          </a:p>
        </p:txBody>
      </p:sp>
      <p:sp>
        <p:nvSpPr>
          <p:cNvPr id="7" name="Rectangle 6"/>
          <p:cNvSpPr/>
          <p:nvPr/>
        </p:nvSpPr>
        <p:spPr>
          <a:xfrm>
            <a:off x="640080" y="173736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Annotate</a:t>
            </a:r>
          </a:p>
        </p:txBody>
      </p:sp>
      <p:sp>
        <p:nvSpPr>
          <p:cNvPr id="9" name="TextBox 8"/>
          <p:cNvSpPr txBox="1"/>
          <p:nvPr/>
        </p:nvSpPr>
        <p:spPr>
          <a:xfrm>
            <a:off x="868680" y="2029967"/>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Label video, 3D and images with SAM auto-segmentation and tracking. Ontology, review workflow, managed workforce if needed.</a:t>
            </a:r>
          </a:p>
        </p:txBody>
      </p:sp>
      <p:sp>
        <p:nvSpPr>
          <p:cNvPr id="10" name="Rectangle 9"/>
          <p:cNvSpPr/>
          <p:nvPr/>
        </p:nvSpPr>
        <p:spPr>
          <a:xfrm>
            <a:off x="640080" y="274320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Index</a:t>
            </a:r>
          </a:p>
        </p:txBody>
      </p:sp>
      <p:sp>
        <p:nvSpPr>
          <p:cNvPr id="12" name="TextBox 11"/>
          <p:cNvSpPr txBox="1"/>
          <p:nvPr/>
        </p:nvSpPr>
        <p:spPr>
          <a:xfrm>
            <a:off x="868680" y="303580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Register the data where it already lives. Embeddings and quality metrics on every frame. Find the frames worth labelling; drop the repeats.</a:t>
            </a:r>
          </a:p>
        </p:txBody>
      </p:sp>
      <p:sp>
        <p:nvSpPr>
          <p:cNvPr id="13" name="Rectangle 12"/>
          <p:cNvSpPr/>
          <p:nvPr/>
        </p:nvSpPr>
        <p:spPr>
          <a:xfrm>
            <a:off x="640080" y="374903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Active</a:t>
            </a:r>
          </a:p>
        </p:txBody>
      </p:sp>
      <p:sp>
        <p:nvSpPr>
          <p:cNvPr id="15" name="TextBox 14"/>
          <p:cNvSpPr txBox="1"/>
          <p:nvPr/>
        </p:nvSpPr>
        <p:spPr>
          <a:xfrm>
            <a:off x="868680" y="404164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Import predictions. Accuracy by class, site and condition. Find label errors. Know exactly what to label next.</a:t>
            </a:r>
          </a:p>
        </p:txBody>
      </p:sp>
      <p:sp>
        <p:nvSpPr>
          <p:cNvPr id="16" name="Rectangle 15"/>
          <p:cNvSpPr/>
          <p:nvPr/>
        </p:nvSpPr>
        <p:spPr>
          <a:xfrm>
            <a:off x="640080" y="475487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Agents</a:t>
            </a:r>
          </a:p>
        </p:txBody>
      </p:sp>
      <p:sp>
        <p:nvSpPr>
          <p:cNvPr id="18" name="TextBox 17"/>
          <p:cNvSpPr txBox="1"/>
          <p:nvPr/>
        </p:nvSpPr>
        <p:spPr>
          <a:xfrm>
            <a:off x="868680" y="504748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Run your own model as a workflow stage to pre-label and QA, so people adjudicate rather than draw.</a:t>
            </a:r>
          </a:p>
        </p:txBody>
      </p:sp>
      <p:sp>
        <p:nvSpPr>
          <p:cNvPr id="19" name="Rectangle 18"/>
          <p:cNvSpPr/>
          <p:nvPr/>
        </p:nvSpPr>
        <p:spPr>
          <a:xfrm>
            <a:off x="6583680" y="1737360"/>
            <a:ext cx="4937760" cy="402336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0" y="1737360"/>
            <a:ext cx="493776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1965960"/>
            <a:ext cx="45720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CLOSEST CASE STUDY</a:t>
            </a:r>
          </a:p>
        </p:txBody>
      </p:sp>
      <p:sp>
        <p:nvSpPr>
          <p:cNvPr id="22" name="TextBox 21"/>
          <p:cNvSpPr txBox="1"/>
          <p:nvPr/>
        </p:nvSpPr>
        <p:spPr>
          <a:xfrm>
            <a:off x="6812280" y="2240280"/>
            <a:ext cx="4572000" cy="457200"/>
          </a:xfrm>
          <a:prstGeom prst="rect">
            <a:avLst/>
          </a:prstGeom>
          <a:noFill/>
        </p:spPr>
        <p:txBody>
          <a:bodyPr wrap="square" anchor="t" lIns="0" rIns="0" tIns="0" bIns="0">
            <a:spAutoFit/>
          </a:bodyPr>
          <a:lstStyle/>
          <a:p>
            <a:pPr algn="l">
              <a:spcAft>
                <a:spcPts val="400"/>
              </a:spcAft>
            </a:pPr>
            <a:r>
              <a:rPr sz="2000" b="1">
                <a:solidFill>
                  <a:srgbClr val="171A33"/>
                </a:solidFill>
                <a:latin typeface="Calibri"/>
              </a:rPr>
              <a:t>Automotus</a:t>
            </a:r>
          </a:p>
        </p:txBody>
      </p:sp>
      <p:sp>
        <p:nvSpPr>
          <p:cNvPr id="23" name="TextBox 22"/>
          <p:cNvSpPr txBox="1"/>
          <p:nvPr/>
        </p:nvSpPr>
        <p:spPr>
          <a:xfrm>
            <a:off x="6812280" y="2743200"/>
            <a:ext cx="4572000" cy="822960"/>
          </a:xfrm>
          <a:prstGeom prst="rect">
            <a:avLst/>
          </a:prstGeom>
          <a:noFill/>
        </p:spPr>
        <p:txBody>
          <a:bodyPr wrap="square" anchor="t" lIns="0" rIns="0" tIns="0" bIns="0">
            <a:spAutoFit/>
          </a:bodyPr>
          <a:lstStyle/>
          <a:p>
            <a:pPr algn="l">
              <a:spcAft>
                <a:spcPts val="400"/>
              </a:spcAft>
            </a:pPr>
            <a:r>
              <a:rPr sz="1400" b="1">
                <a:solidFill>
                  <a:srgbClr val="4F46E5"/>
                </a:solidFill>
                <a:latin typeface="Calibri"/>
              </a:rPr>
              <a:t>+20% mAP, 35% smaller dataset, 33% lower labelling cost after curating with Encord.</a:t>
            </a:r>
          </a:p>
        </p:txBody>
      </p:sp>
      <p:sp>
        <p:nvSpPr>
          <p:cNvPr id="24" name="TextBox 23"/>
          <p:cNvSpPr txBox="1"/>
          <p:nvPr/>
        </p:nvSpPr>
        <p:spPr>
          <a:xfrm>
            <a:off x="6812280" y="3566160"/>
            <a:ext cx="4572000" cy="2103120"/>
          </a:xfrm>
          <a:prstGeom prst="rect">
            <a:avLst/>
          </a:prstGeom>
          <a:noFill/>
        </p:spPr>
        <p:txBody>
          <a:bodyPr wrap="square" anchor="t" lIns="0" rIns="0" tIns="0" bIns="0">
            <a:spAutoFit/>
          </a:bodyPr>
          <a:lstStyle/>
          <a:p>
            <a:pPr algn="l">
              <a:spcAft>
                <a:spcPts val="400"/>
              </a:spcAft>
            </a:pPr>
            <a:r>
              <a:rPr sz="1100" b="0">
                <a:solidFill>
                  <a:srgbClr val="171A33"/>
                </a:solidFill>
                <a:latin typeface="Calibri"/>
              </a:rPr>
              <a:t>Fixed cameras watching a repetitive scene with huge frame volume and rare events that matter, exactly like a packing line conveyor. They cut dataset size through curation rather than labelling more.</a:t>
            </a:r>
          </a:p>
        </p:txBody>
      </p:sp>
      <p:sp>
        <p:nvSpPr>
          <p:cNvPr id="25" name="TextBox 24"/>
          <p:cNvSpPr txBox="1"/>
          <p:nvPr/>
        </p:nvSpPr>
        <p:spPr>
          <a:xfrm>
            <a:off x="640080" y="5943600"/>
            <a:ext cx="10972800" cy="36576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Data stays in your bucket. SOC2 Type II, HIPAA, GDPR. Everything the UI does, the SDK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PROPOSED NEXT STEP</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A two-week proof of value on one site's data</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6</a:t>
            </a:r>
          </a:p>
        </p:txBody>
      </p:sp>
      <p:sp>
        <p:nvSpPr>
          <p:cNvPr id="7" name="Rounded Rectangle 6"/>
          <p:cNvSpPr/>
          <p:nvPr/>
        </p:nvSpPr>
        <p:spPr>
          <a:xfrm>
            <a:off x="640080" y="182880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1</a:t>
            </a:r>
          </a:p>
        </p:txBody>
      </p:sp>
      <p:sp>
        <p:nvSpPr>
          <p:cNvPr id="9" name="TextBox 8"/>
          <p:cNvSpPr txBox="1"/>
          <p:nvPr/>
        </p:nvSpPr>
        <p:spPr>
          <a:xfrm>
            <a:off x="1280160" y="178308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1-2: register one site's recorded footage from your existing bucket into Index (data stays in your storage), generate embeddings and quality metrics, and report how many frames are near duplicates versus genuinely distinct trusses.</a:t>
            </a:r>
          </a:p>
        </p:txBody>
      </p:sp>
      <p:sp>
        <p:nvSpPr>
          <p:cNvPr id="10" name="Rounded Rectangle 9"/>
          <p:cNvSpPr/>
          <p:nvPr/>
        </p:nvSpPr>
        <p:spPr>
          <a:xfrm>
            <a:off x="640080" y="265176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5176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2</a:t>
            </a:r>
          </a:p>
        </p:txBody>
      </p:sp>
      <p:sp>
        <p:nvSpPr>
          <p:cNvPr id="12" name="TextBox 11"/>
          <p:cNvSpPr txBox="1"/>
          <p:nvPr/>
        </p:nvSpPr>
        <p:spPr>
          <a:xfrm>
            <a:off x="1280160" y="260604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3-5: build the stem, fruit, calyx, snip point and defect ontology in Annotate, label 300-500 curated frames using SAM 3 and video tracking, and measure minutes per frame against your current tool.</a:t>
            </a:r>
          </a:p>
        </p:txBody>
      </p:sp>
      <p:sp>
        <p:nvSpPr>
          <p:cNvPr id="13" name="Rounded Rectangle 12"/>
          <p:cNvSpPr/>
          <p:nvPr/>
        </p:nvSpPr>
        <p:spPr>
          <a:xfrm>
            <a:off x="640080" y="347472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47472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3</a:t>
            </a:r>
          </a:p>
        </p:txBody>
      </p:sp>
      <p:sp>
        <p:nvSpPr>
          <p:cNvPr id="15" name="TextBox 14"/>
          <p:cNvSpPr txBox="1"/>
          <p:nvPr/>
        </p:nvSpPr>
        <p:spPr>
          <a:xfrm>
            <a:off x="1280160" y="342900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1-2: run your current detector as an Agents pre-labelling stage so annotators correct rather than draw; target 50% or better reduction in hand drawn objects.</a:t>
            </a:r>
          </a:p>
        </p:txBody>
      </p:sp>
      <p:sp>
        <p:nvSpPr>
          <p:cNvPr id="16" name="Rounded Rectangle 15"/>
          <p:cNvSpPr/>
          <p:nvPr/>
        </p:nvSpPr>
        <p:spPr>
          <a:xfrm>
            <a:off x="640080" y="429768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9768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4</a:t>
            </a:r>
          </a:p>
        </p:txBody>
      </p:sp>
      <p:sp>
        <p:nvSpPr>
          <p:cNvPr id="18" name="TextBox 17"/>
          <p:cNvSpPr txBox="1"/>
          <p:nvPr/>
        </p:nvSpPr>
        <p:spPr>
          <a:xfrm>
            <a:off x="1280160" y="425196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3-4: import your model predictions into Active, produce mAP and F1 sliced by cultivar, occlusion and lighting, and rank which failure slice to label next.</a:t>
            </a:r>
          </a:p>
        </p:txBody>
      </p:sp>
      <p:sp>
        <p:nvSpPr>
          <p:cNvPr id="19" name="Rounded Rectangle 18"/>
          <p:cNvSpPr/>
          <p:nvPr/>
        </p:nvSpPr>
        <p:spPr>
          <a:xfrm>
            <a:off x="640080" y="512064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12064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5</a:t>
            </a:r>
          </a:p>
        </p:txBody>
      </p:sp>
      <p:sp>
        <p:nvSpPr>
          <p:cNvPr id="21" name="TextBox 20"/>
          <p:cNvSpPr txBox="1"/>
          <p:nvPr/>
        </p:nvSpPr>
        <p:spPr>
          <a:xfrm>
            <a:off x="1280160" y="507492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5: train on the curated pick versus a random pick of equal size and compare snip point error and stem detection mAP. Success = equal or better accuracy from 40-60% fewer labelled frames, plus a documented minutes-per-frame reduction.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LET'S TEST IT</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we'd like to learn from you</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7</a:t>
            </a:r>
          </a:p>
        </p:txBody>
      </p:sp>
      <p:sp>
        <p:nvSpPr>
          <p:cNvPr id="7" name="TextBox 6"/>
          <p:cNvSpPr txBox="1"/>
          <p:nvPr/>
        </p:nvSpPr>
        <p:spPr>
          <a:xfrm>
            <a:off x="640080" y="1737360"/>
            <a:ext cx="6583680" cy="4114800"/>
          </a:xfrm>
          <a:prstGeom prst="rect">
            <a:avLst/>
          </a:prstGeom>
          <a:noFill/>
        </p:spPr>
        <p:txBody>
          <a:bodyPr wrap="square" anchor="t" lIns="0" rIns="0" tIns="0" bIns="0">
            <a:spAutoFit/>
          </a:bodyPr>
          <a:lstStyle/>
          <a:p>
            <a:pPr algn="l">
              <a:spcAft>
                <a:spcPts val="1000"/>
              </a:spcAft>
            </a:pPr>
            <a:r>
              <a:rPr sz="1400" b="0">
                <a:solidFill>
                  <a:srgbClr val="171A33"/>
                </a:solidFill>
                <a:latin typeface="Calibri"/>
              </a:rPr>
              <a:t>•  When you commission a new packhouse or a new cultivar, how many frames do you label and how long does it take before Avarai hits the required snip accuracy?</a:t>
            </a:r>
          </a:p>
          <a:p>
            <a:pPr algn="l">
              <a:spcAft>
                <a:spcPts val="1000"/>
              </a:spcAft>
            </a:pPr>
            <a:r>
              <a:rPr sz="1400" b="0">
                <a:solidFill>
                  <a:srgbClr val="171A33"/>
                </a:solidFill>
                <a:latin typeface="Calibri"/>
              </a:rPr>
              <a:t>•  Where does the footage from deployed cells actually live today, and is it centralised or still on the industrial PC at each site?</a:t>
            </a:r>
          </a:p>
          <a:p>
            <a:pPr algn="l">
              <a:spcAft>
                <a:spcPts val="1000"/>
              </a:spcAft>
            </a:pPr>
            <a:r>
              <a:rPr sz="1400" b="0">
                <a:solidFill>
                  <a:srgbClr val="171A33"/>
                </a:solidFill>
                <a:latin typeface="Calibri"/>
              </a:rPr>
              <a:t>•  Who draws the stem polylines and snip points right now, your engineers, a contracted crew, or packhouse staff, and in what tool?</a:t>
            </a:r>
          </a:p>
          <a:p>
            <a:pPr algn="l">
              <a:spcAft>
                <a:spcPts val="1000"/>
              </a:spcAft>
            </a:pPr>
            <a:r>
              <a:rPr sz="1400" b="0">
                <a:solidFill>
                  <a:srgbClr val="171A33"/>
                </a:solidFill>
                <a:latin typeface="Calibri"/>
              </a:rPr>
              <a:t>•  When a site reports bad snips or bruised fruit, how do you find the matching frames and decide what to label next?</a:t>
            </a:r>
          </a:p>
          <a:p>
            <a:pPr algn="l">
              <a:spcAft>
                <a:spcPts val="1000"/>
              </a:spcAft>
            </a:pPr>
            <a:r>
              <a:rPr sz="1400" b="0">
                <a:solidFill>
                  <a:srgbClr val="171A33"/>
                </a:solidFill>
                <a:latin typeface="Calibri"/>
              </a:rPr>
              <a:t>•  Are the electronic skin readings time-synced with the camera frames, and do you ever want to review them alongside the video in one place?</a:t>
            </a:r>
          </a:p>
        </p:txBody>
      </p:sp>
      <p:sp>
        <p:nvSpPr>
          <p:cNvPr id="8" name="Rectangle 7"/>
          <p:cNvSpPr/>
          <p:nvPr/>
        </p:nvSpPr>
        <p:spPr>
          <a:xfrm>
            <a:off x="7680960" y="1737360"/>
            <a:ext cx="3840480" cy="237744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965960"/>
            <a:ext cx="3383280" cy="274320"/>
          </a:xfrm>
          <a:prstGeom prst="rect">
            <a:avLst/>
          </a:prstGeom>
          <a:noFill/>
        </p:spPr>
        <p:txBody>
          <a:bodyPr wrap="square" anchor="t" lIns="0" rIns="0" tIns="0" bIns="0">
            <a:spAutoFit/>
          </a:bodyPr>
          <a:lstStyle/>
          <a:p>
            <a:pPr algn="l">
              <a:spcAft>
                <a:spcPts val="400"/>
              </a:spcAft>
            </a:pPr>
            <a:r>
              <a:rPr sz="1000" b="1">
                <a:solidFill>
                  <a:srgbClr val="B9BCDC"/>
                </a:solidFill>
                <a:latin typeface="Calibri"/>
              </a:rPr>
              <a:t>CONTACT</a:t>
            </a:r>
          </a:p>
        </p:txBody>
      </p:sp>
      <p:sp>
        <p:nvSpPr>
          <p:cNvPr id="10" name="TextBox 9"/>
          <p:cNvSpPr txBox="1"/>
          <p:nvPr/>
        </p:nvSpPr>
        <p:spPr>
          <a:xfrm>
            <a:off x="7955279" y="2286000"/>
            <a:ext cx="3383280" cy="1645920"/>
          </a:xfrm>
          <a:prstGeom prst="rect">
            <a:avLst/>
          </a:prstGeom>
          <a:noFill/>
        </p:spPr>
        <p:txBody>
          <a:bodyPr wrap="square" anchor="t" lIns="0" rIns="0" tIns="0" bIns="0">
            <a:spAutoFit/>
          </a:bodyPr>
          <a:lstStyle/>
          <a:p>
            <a:pPr algn="l">
              <a:spcAft>
                <a:spcPts val="600"/>
              </a:spcAft>
            </a:pPr>
            <a:r>
              <a:rPr sz="1300" b="0">
                <a:solidFill>
                  <a:srgbClr val="FFFFFF"/>
                </a:solidFill>
                <a:latin typeface="Calibri"/>
              </a:rPr>
              <a:t>Qais Al-Azkawi</a:t>
            </a:r>
          </a:p>
          <a:p>
            <a:pPr algn="l">
              <a:spcAft>
                <a:spcPts val="600"/>
              </a:spcAft>
            </a:pPr>
            <a:r>
              <a:rPr sz="1300" b="0">
                <a:solidFill>
                  <a:srgbClr val="FFFFFF"/>
                </a:solidFill>
                <a:latin typeface="Calibri"/>
              </a:rPr>
              <a:t>Commercial Associate, Encord</a:t>
            </a:r>
          </a:p>
          <a:p>
            <a:pPr algn="l">
              <a:spcAft>
                <a:spcPts val="600"/>
              </a:spcAft>
            </a:pPr>
            <a:r>
              <a:rPr sz="1300" b="0">
                <a:solidFill>
                  <a:srgbClr val="FFFFFF"/>
                </a:solidFill>
                <a:latin typeface="Calibri"/>
              </a:rPr>
              <a:t>qaisqas@gmail.com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